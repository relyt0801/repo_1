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jp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image" Target="../media/image-1-18.png"/><Relationship Id="rId19" Type="http://schemas.openxmlformats.org/officeDocument/2006/relationships/image" Target="../media/image-1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jp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image" Target="../media/image-2-18.png"/><Relationship Id="rId19" Type="http://schemas.openxmlformats.org/officeDocument/2006/relationships/image" Target="../media/image-2-19.svg"/><Relationship Id="rId20" Type="http://schemas.openxmlformats.org/officeDocument/2006/relationships/image" Target="../media/image-2-20.png"/><Relationship Id="rId21" Type="http://schemas.openxmlformats.org/officeDocument/2006/relationships/image" Target="../media/image-2-21.svg"/><Relationship Id="rId22" Type="http://schemas.openxmlformats.org/officeDocument/2006/relationships/image" Target="../media/image-2-22.png"/><Relationship Id="rId23" Type="http://schemas.openxmlformats.org/officeDocument/2006/relationships/image" Target="../media/image-2-23.svg"/><Relationship Id="rId24" Type="http://schemas.openxmlformats.org/officeDocument/2006/relationships/image" Target="../media/image-2-24.png"/><Relationship Id="rId25" Type="http://schemas.openxmlformats.org/officeDocument/2006/relationships/image" Target="../media/image-2-25.svg"/><Relationship Id="rId26" Type="http://schemas.openxmlformats.org/officeDocument/2006/relationships/image" Target="../media/image-2-26.png"/><Relationship Id="rId27" Type="http://schemas.openxmlformats.org/officeDocument/2006/relationships/image" Target="../media/image-2-27.svg"/><Relationship Id="rId28" Type="http://schemas.openxmlformats.org/officeDocument/2006/relationships/image" Target="../media/image-2-28.png"/><Relationship Id="rId29" Type="http://schemas.openxmlformats.org/officeDocument/2006/relationships/image" Target="../media/image-2-29.svg"/><Relationship Id="rId30" Type="http://schemas.openxmlformats.org/officeDocument/2006/relationships/image" Target="../media/image-2-30.png"/><Relationship Id="rId31" Type="http://schemas.openxmlformats.org/officeDocument/2006/relationships/image" Target="../media/image-2-31.svg"/><Relationship Id="rId32" Type="http://schemas.openxmlformats.org/officeDocument/2006/relationships/image" Target="../media/image-2-32.png"/><Relationship Id="rId33" Type="http://schemas.openxmlformats.org/officeDocument/2006/relationships/image" Target="../media/image-2-33.svg"/><Relationship Id="rId34" Type="http://schemas.openxmlformats.org/officeDocument/2006/relationships/image" Target="../media/image-2-34.png"/><Relationship Id="rId35" Type="http://schemas.openxmlformats.org/officeDocument/2006/relationships/image" Target="../media/image-2-35.svg"/><Relationship Id="rId36" Type="http://schemas.openxmlformats.org/officeDocument/2006/relationships/image" Target="../media/image-2-36.png"/><Relationship Id="rId37" Type="http://schemas.openxmlformats.org/officeDocument/2006/relationships/image" Target="../media/image-2-37.svg"/><Relationship Id="rId38" Type="http://schemas.openxmlformats.org/officeDocument/2006/relationships/image" Target="../media/image-2-38.png"/><Relationship Id="rId39" Type="http://schemas.openxmlformats.org/officeDocument/2006/relationships/image" Target="../media/image-2-39.svg"/><Relationship Id="rId40" Type="http://schemas.openxmlformats.org/officeDocument/2006/relationships/image" Target="../media/image-2-40.png"/><Relationship Id="rId41" Type="http://schemas.openxmlformats.org/officeDocument/2006/relationships/image" Target="../media/image-2-41.svg"/><Relationship Id="rId42" Type="http://schemas.openxmlformats.org/officeDocument/2006/relationships/image" Target="../media/image-2-42.png"/><Relationship Id="rId43" Type="http://schemas.openxmlformats.org/officeDocument/2006/relationships/image" Target="../media/image-2-43.sv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jp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image" Target="../media/image-3-18.png"/><Relationship Id="rId19" Type="http://schemas.openxmlformats.org/officeDocument/2006/relationships/image" Target="../media/image-3-19.svg"/><Relationship Id="rId20" Type="http://schemas.openxmlformats.org/officeDocument/2006/relationships/image" Target="../media/image-3-20.png"/><Relationship Id="rId21" Type="http://schemas.openxmlformats.org/officeDocument/2006/relationships/image" Target="../media/image-3-21.svg"/><Relationship Id="rId22" Type="http://schemas.openxmlformats.org/officeDocument/2006/relationships/image" Target="../media/image-3-22.png"/><Relationship Id="rId23" Type="http://schemas.openxmlformats.org/officeDocument/2006/relationships/image" Target="../media/image-3-23.svg"/><Relationship Id="rId24" Type="http://schemas.openxmlformats.org/officeDocument/2006/relationships/image" Target="../media/image-3-24.png"/><Relationship Id="rId25" Type="http://schemas.openxmlformats.org/officeDocument/2006/relationships/image" Target="../media/image-3-25.svg"/><Relationship Id="rId26" Type="http://schemas.openxmlformats.org/officeDocument/2006/relationships/image" Target="../media/image-3-26.png"/><Relationship Id="rId27" Type="http://schemas.openxmlformats.org/officeDocument/2006/relationships/image" Target="../media/image-3-27.svg"/><Relationship Id="rId28" Type="http://schemas.openxmlformats.org/officeDocument/2006/relationships/image" Target="../media/image-3-28.png"/><Relationship Id="rId29" Type="http://schemas.openxmlformats.org/officeDocument/2006/relationships/image" Target="../media/image-3-29.svg"/><Relationship Id="rId30" Type="http://schemas.openxmlformats.org/officeDocument/2006/relationships/image" Target="../media/image-3-30.png"/><Relationship Id="rId31" Type="http://schemas.openxmlformats.org/officeDocument/2006/relationships/image" Target="../media/image-3-31.svg"/><Relationship Id="rId32" Type="http://schemas.openxmlformats.org/officeDocument/2006/relationships/image" Target="../media/image-3-32.png"/><Relationship Id="rId33" Type="http://schemas.openxmlformats.org/officeDocument/2006/relationships/image" Target="../media/image-3-33.svg"/><Relationship Id="rId34" Type="http://schemas.openxmlformats.org/officeDocument/2006/relationships/image" Target="../media/image-3-34.png"/><Relationship Id="rId35" Type="http://schemas.openxmlformats.org/officeDocument/2006/relationships/image" Target="../media/image-3-35.svg"/><Relationship Id="rId36" Type="http://schemas.openxmlformats.org/officeDocument/2006/relationships/image" Target="../media/image-3-36.png"/><Relationship Id="rId37" Type="http://schemas.openxmlformats.org/officeDocument/2006/relationships/image" Target="../media/image-3-37.svg"/><Relationship Id="rId38" Type="http://schemas.openxmlformats.org/officeDocument/2006/relationships/image" Target="../media/image-3-38.png"/><Relationship Id="rId39" Type="http://schemas.openxmlformats.org/officeDocument/2006/relationships/image" Target="../media/image-3-39.svg"/><Relationship Id="rId40" Type="http://schemas.openxmlformats.org/officeDocument/2006/relationships/image" Target="../media/image-3-40.png"/><Relationship Id="rId41" Type="http://schemas.openxmlformats.org/officeDocument/2006/relationships/image" Target="../media/image-3-41.sv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jp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image" Target="../media/image-4-22.png"/><Relationship Id="rId23" Type="http://schemas.openxmlformats.org/officeDocument/2006/relationships/image" Target="../media/image-4-23.svg"/><Relationship Id="rId24" Type="http://schemas.openxmlformats.org/officeDocument/2006/relationships/image" Target="../media/image-4-24.png"/><Relationship Id="rId25" Type="http://schemas.openxmlformats.org/officeDocument/2006/relationships/image" Target="../media/image-4-25.svg"/><Relationship Id="rId26" Type="http://schemas.openxmlformats.org/officeDocument/2006/relationships/image" Target="../media/image-4-26.png"/><Relationship Id="rId27" Type="http://schemas.openxmlformats.org/officeDocument/2006/relationships/image" Target="../media/image-4-27.svg"/><Relationship Id="rId28" Type="http://schemas.openxmlformats.org/officeDocument/2006/relationships/image" Target="../media/image-4-28.png"/><Relationship Id="rId29" Type="http://schemas.openxmlformats.org/officeDocument/2006/relationships/image" Target="../media/image-4-29.svg"/><Relationship Id="rId30" Type="http://schemas.openxmlformats.org/officeDocument/2006/relationships/image" Target="../media/image-4-30.png"/><Relationship Id="rId31" Type="http://schemas.openxmlformats.org/officeDocument/2006/relationships/image" Target="../media/image-4-31.svg"/><Relationship Id="rId32" Type="http://schemas.openxmlformats.org/officeDocument/2006/relationships/image" Target="../media/image-4-32.png"/><Relationship Id="rId33" Type="http://schemas.openxmlformats.org/officeDocument/2006/relationships/image" Target="../media/image-4-33.svg"/><Relationship Id="rId34" Type="http://schemas.openxmlformats.org/officeDocument/2006/relationships/image" Target="../media/image-4-34.png"/><Relationship Id="rId35" Type="http://schemas.openxmlformats.org/officeDocument/2006/relationships/image" Target="../media/image-4-35.svg"/><Relationship Id="rId36" Type="http://schemas.openxmlformats.org/officeDocument/2006/relationships/image" Target="../media/image-4-36.png"/><Relationship Id="rId37" Type="http://schemas.openxmlformats.org/officeDocument/2006/relationships/image" Target="../media/image-4-37.sv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jp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image" Target="../media/image-5-18.png"/><Relationship Id="rId19" Type="http://schemas.openxmlformats.org/officeDocument/2006/relationships/image" Target="../media/image-5-19.svg"/><Relationship Id="rId20" Type="http://schemas.openxmlformats.org/officeDocument/2006/relationships/image" Target="../media/image-5-20.png"/><Relationship Id="rId21" Type="http://schemas.openxmlformats.org/officeDocument/2006/relationships/image" Target="../media/image-5-21.svg"/><Relationship Id="rId22" Type="http://schemas.openxmlformats.org/officeDocument/2006/relationships/image" Target="../media/image-5-22.png"/><Relationship Id="rId23" Type="http://schemas.openxmlformats.org/officeDocument/2006/relationships/image" Target="../media/image-5-23.svg"/><Relationship Id="rId24" Type="http://schemas.openxmlformats.org/officeDocument/2006/relationships/image" Target="../media/image-5-24.png"/><Relationship Id="rId25" Type="http://schemas.openxmlformats.org/officeDocument/2006/relationships/image" Target="../media/image-5-25.svg"/><Relationship Id="rId26" Type="http://schemas.openxmlformats.org/officeDocument/2006/relationships/image" Target="../media/image-5-26.png"/><Relationship Id="rId27" Type="http://schemas.openxmlformats.org/officeDocument/2006/relationships/image" Target="../media/image-5-27.svg"/><Relationship Id="rId28" Type="http://schemas.openxmlformats.org/officeDocument/2006/relationships/image" Target="../media/image-5-28.png"/><Relationship Id="rId29" Type="http://schemas.openxmlformats.org/officeDocument/2006/relationships/image" Target="../media/image-5-29.svg"/><Relationship Id="rId30" Type="http://schemas.openxmlformats.org/officeDocument/2006/relationships/image" Target="../media/image-5-30.png"/><Relationship Id="rId31" Type="http://schemas.openxmlformats.org/officeDocument/2006/relationships/image" Target="../media/image-5-31.sv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jp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svg"/><Relationship Id="rId18" Type="http://schemas.openxmlformats.org/officeDocument/2006/relationships/image" Target="../media/image-6-18.png"/><Relationship Id="rId19" Type="http://schemas.openxmlformats.org/officeDocument/2006/relationships/image" Target="../media/image-6-19.svg"/><Relationship Id="rId20" Type="http://schemas.openxmlformats.org/officeDocument/2006/relationships/image" Target="../media/image-6-20.png"/><Relationship Id="rId21" Type="http://schemas.openxmlformats.org/officeDocument/2006/relationships/image" Target="../media/image-6-21.svg"/><Relationship Id="rId22" Type="http://schemas.openxmlformats.org/officeDocument/2006/relationships/image" Target="../media/image-6-22.png"/><Relationship Id="rId23" Type="http://schemas.openxmlformats.org/officeDocument/2006/relationships/image" Target="../media/image-6-23.svg"/><Relationship Id="rId24" Type="http://schemas.openxmlformats.org/officeDocument/2006/relationships/image" Target="../media/image-6-24.png"/><Relationship Id="rId25" Type="http://schemas.openxmlformats.org/officeDocument/2006/relationships/image" Target="../media/image-6-25.svg"/><Relationship Id="rId26" Type="http://schemas.openxmlformats.org/officeDocument/2006/relationships/image" Target="../media/image-6-26.png"/><Relationship Id="rId27" Type="http://schemas.openxmlformats.org/officeDocument/2006/relationships/image" Target="../media/image-6-27.svg"/><Relationship Id="rId28" Type="http://schemas.openxmlformats.org/officeDocument/2006/relationships/image" Target="../media/image-6-28.png"/><Relationship Id="rId29" Type="http://schemas.openxmlformats.org/officeDocument/2006/relationships/image" Target="../media/image-6-29.svg"/><Relationship Id="rId30" Type="http://schemas.openxmlformats.org/officeDocument/2006/relationships/image" Target="../media/image-6-30.png"/><Relationship Id="rId31" Type="http://schemas.openxmlformats.org/officeDocument/2006/relationships/image" Target="../media/image-6-31.svg"/><Relationship Id="rId32" Type="http://schemas.openxmlformats.org/officeDocument/2006/relationships/image" Target="../media/image-6-32.png"/><Relationship Id="rId33" Type="http://schemas.openxmlformats.org/officeDocument/2006/relationships/image" Target="../media/image-6-33.svg"/><Relationship Id="rId34" Type="http://schemas.openxmlformats.org/officeDocument/2006/relationships/image" Target="../media/image-6-34.png"/><Relationship Id="rId35" Type="http://schemas.openxmlformats.org/officeDocument/2006/relationships/image" Target="../media/image-6-35.svg"/><Relationship Id="rId36" Type="http://schemas.openxmlformats.org/officeDocument/2006/relationships/image" Target="../media/image-6-36.png"/><Relationship Id="rId37" Type="http://schemas.openxmlformats.org/officeDocument/2006/relationships/image" Target="../media/image-6-37.sv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jp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svg"/><Relationship Id="rId18" Type="http://schemas.openxmlformats.org/officeDocument/2006/relationships/image" Target="../media/image-7-18.png"/><Relationship Id="rId19" Type="http://schemas.openxmlformats.org/officeDocument/2006/relationships/image" Target="../media/image-7-19.svg"/><Relationship Id="rId20" Type="http://schemas.openxmlformats.org/officeDocument/2006/relationships/image" Target="../media/image-7-20.png"/><Relationship Id="rId21" Type="http://schemas.openxmlformats.org/officeDocument/2006/relationships/image" Target="../media/image-7-21.svg"/><Relationship Id="rId22" Type="http://schemas.openxmlformats.org/officeDocument/2006/relationships/image" Target="../media/image-7-22.png"/><Relationship Id="rId23" Type="http://schemas.openxmlformats.org/officeDocument/2006/relationships/image" Target="../media/image-7-23.svg"/><Relationship Id="rId24" Type="http://schemas.openxmlformats.org/officeDocument/2006/relationships/image" Target="../media/image-7-24.png"/><Relationship Id="rId25" Type="http://schemas.openxmlformats.org/officeDocument/2006/relationships/image" Target="../media/image-7-25.svg"/><Relationship Id="rId26" Type="http://schemas.openxmlformats.org/officeDocument/2006/relationships/image" Target="../media/image-7-26.png"/><Relationship Id="rId27" Type="http://schemas.openxmlformats.org/officeDocument/2006/relationships/image" Target="../media/image-7-27.svg"/><Relationship Id="rId28" Type="http://schemas.openxmlformats.org/officeDocument/2006/relationships/image" Target="../media/image-7-28.png"/><Relationship Id="rId29" Type="http://schemas.openxmlformats.org/officeDocument/2006/relationships/image" Target="../media/image-7-29.svg"/><Relationship Id="rId30" Type="http://schemas.openxmlformats.org/officeDocument/2006/relationships/image" Target="../media/image-7-30.png"/><Relationship Id="rId31" Type="http://schemas.openxmlformats.org/officeDocument/2006/relationships/image" Target="../media/image-7-31.sv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jp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image" Target="../media/image-8-18.png"/><Relationship Id="rId19" Type="http://schemas.openxmlformats.org/officeDocument/2006/relationships/image" Target="../media/image-8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jp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14.png"/><Relationship Id="rId15" Type="http://schemas.openxmlformats.org/officeDocument/2006/relationships/image" Target="../media/image-9-15.svg"/><Relationship Id="rId16" Type="http://schemas.openxmlformats.org/officeDocument/2006/relationships/image" Target="../media/image-9-16.png"/><Relationship Id="rId17" Type="http://schemas.openxmlformats.org/officeDocument/2006/relationships/image" Target="../media/image-9-17.svg"/><Relationship Id="rId18" Type="http://schemas.openxmlformats.org/officeDocument/2006/relationships/image" Target="../media/image-9-18.png"/><Relationship Id="rId19" Type="http://schemas.openxmlformats.org/officeDocument/2006/relationships/image" Target="../media/image-9-19.svg"/><Relationship Id="rId20" Type="http://schemas.openxmlformats.org/officeDocument/2006/relationships/image" Target="../media/image-9-20.png"/><Relationship Id="rId21" Type="http://schemas.openxmlformats.org/officeDocument/2006/relationships/image" Target="../media/image-9-21.svg"/><Relationship Id="rId22" Type="http://schemas.openxmlformats.org/officeDocument/2006/relationships/image" Target="../media/image-9-22.png"/><Relationship Id="rId23" Type="http://schemas.openxmlformats.org/officeDocument/2006/relationships/image" Target="../media/image-9-23.svg"/><Relationship Id="rId24" Type="http://schemas.openxmlformats.org/officeDocument/2006/relationships/image" Target="../media/image-9-24.png"/><Relationship Id="rId25" Type="http://schemas.openxmlformats.org/officeDocument/2006/relationships/image" Target="../media/image-9-25.svg"/><Relationship Id="rId26" Type="http://schemas.openxmlformats.org/officeDocument/2006/relationships/image" Target="../media/image-9-26.png"/><Relationship Id="rId27" Type="http://schemas.openxmlformats.org/officeDocument/2006/relationships/image" Target="../media/image-9-27.svg"/><Relationship Id="rId28" Type="http://schemas.openxmlformats.org/officeDocument/2006/relationships/image" Target="../media/image-9-28.png"/><Relationship Id="rId29" Type="http://schemas.openxmlformats.org/officeDocument/2006/relationships/image" Target="../media/image-9-29.svg"/><Relationship Id="rId30" Type="http://schemas.openxmlformats.org/officeDocument/2006/relationships/image" Target="../media/image-9-30.png"/><Relationship Id="rId31" Type="http://schemas.openxmlformats.org/officeDocument/2006/relationships/image" Target="../media/image-9-31.svg"/><Relationship Id="rId32" Type="http://schemas.openxmlformats.org/officeDocument/2006/relationships/image" Target="../media/image-9-32.png"/><Relationship Id="rId33" Type="http://schemas.openxmlformats.org/officeDocument/2006/relationships/image" Target="../media/image-9-33.svg"/><Relationship Id="rId34" Type="http://schemas.openxmlformats.org/officeDocument/2006/relationships/image" Target="../media/image-9-34.png"/><Relationship Id="rId35" Type="http://schemas.openxmlformats.org/officeDocument/2006/relationships/image" Target="../media/image-9-35.svg"/><Relationship Id="rId36" Type="http://schemas.openxmlformats.org/officeDocument/2006/relationships/image" Target="../media/image-9-36.png"/><Relationship Id="rId37" Type="http://schemas.openxmlformats.org/officeDocument/2006/relationships/image" Target="../media/image-9-37.svg"/><Relationship Id="rId38" Type="http://schemas.openxmlformats.org/officeDocument/2006/relationships/image" Target="../media/image-9-38.png"/><Relationship Id="rId39" Type="http://schemas.openxmlformats.org/officeDocument/2006/relationships/image" Target="../media/image-9-39.svg"/><Relationship Id="rId40" Type="http://schemas.openxmlformats.org/officeDocument/2006/relationships/image" Target="../media/image-9-40.png"/><Relationship Id="rId41" Type="http://schemas.openxmlformats.org/officeDocument/2006/relationships/image" Target="../media/image-9-41.svg"/><Relationship Id="rId42" Type="http://schemas.openxmlformats.org/officeDocument/2006/relationships/image" Target="../media/image-9-42.png"/><Relationship Id="rId43" Type="http://schemas.openxmlformats.org/officeDocument/2006/relationships/image" Target="../media/image-9-43.svg"/><Relationship Id="rId44" Type="http://schemas.openxmlformats.org/officeDocument/2006/relationships/image" Target="../media/image-9-44.png"/><Relationship Id="rId45" Type="http://schemas.openxmlformats.org/officeDocument/2006/relationships/image" Target="../media/image-9-45.svg"/><Relationship Id="rId46" Type="http://schemas.openxmlformats.org/officeDocument/2006/relationships/image" Target="../media/image-9-46.png"/><Relationship Id="rId47" Type="http://schemas.openxmlformats.org/officeDocument/2006/relationships/image" Target="../media/image-9-47.svg"/><Relationship Id="rId48" Type="http://schemas.openxmlformats.org/officeDocument/2006/relationships/image" Target="../media/image-9-48.png"/><Relationship Id="rId49" Type="http://schemas.openxmlformats.org/officeDocument/2006/relationships/image" Target="../media/image-9-49.svg"/><Relationship Id="rId50" Type="http://schemas.openxmlformats.org/officeDocument/2006/relationships/image" Target="../media/image-9-50.png"/><Relationship Id="rId51" Type="http://schemas.openxmlformats.org/officeDocument/2006/relationships/image" Target="../media/image-9-51.svg"/><Relationship Id="rId52" Type="http://schemas.openxmlformats.org/officeDocument/2006/relationships/image" Target="../media/image-9-52.png"/><Relationship Id="rId53" Type="http://schemas.openxmlformats.org/officeDocument/2006/relationships/image" Target="../media/image-9-53.svg"/><Relationship Id="rId54" Type="http://schemas.openxmlformats.org/officeDocument/2006/relationships/slideLayout" Target="../slideLayouts/slideLayout1.xml"/><Relationship Id="rId5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pantheo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A06">
              <a:alpha val="88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85800" cy="6858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14455" y="91440"/>
            <a:ext cx="685800" cy="68580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080760"/>
            <a:ext cx="685800" cy="68580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14455" y="6080760"/>
            <a:ext cx="685800" cy="68580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67048" y="658368"/>
            <a:ext cx="3657600" cy="310896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94505" y="1115568"/>
            <a:ext cx="7802685" cy="3200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0" y="1261872"/>
            <a:ext cx="12191695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63500" dir="27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5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ANFÄNGE</a:t>
            </a:r>
            <a:endParaRPr lang="en-US" sz="6000" dirty="0"/>
          </a:p>
        </p:txBody>
      </p:sp>
      <p:sp>
        <p:nvSpPr>
          <p:cNvPr id="13" name="Text 2"/>
          <p:cNvSpPr/>
          <p:nvPr/>
        </p:nvSpPr>
        <p:spPr>
          <a:xfrm>
            <a:off x="0" y="2176272"/>
            <a:ext cx="12191695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63500" dir="27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5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KIRCHE</a:t>
            </a:r>
            <a:endParaRPr lang="en-US" sz="6000" dirty="0"/>
          </a:p>
        </p:txBody>
      </p:sp>
      <p:sp>
        <p:nvSpPr>
          <p:cNvPr id="14" name="Text 3"/>
          <p:cNvSpPr/>
          <p:nvPr/>
        </p:nvSpPr>
        <p:spPr>
          <a:xfrm>
            <a:off x="0" y="3154680"/>
            <a:ext cx="12191695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1200" kern="0" dirty="0">
                <a:solidFill>
                  <a:srgbClr val="BF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DER ANTIKE</a:t>
            </a:r>
            <a:endParaRPr lang="en-US" sz="2800" dirty="0"/>
          </a:p>
        </p:txBody>
      </p:sp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82173" y="3822192"/>
            <a:ext cx="6827349" cy="32004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0" y="3977640"/>
            <a:ext cx="12191695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87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12 Männern wurde die größte Religion der Welt.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0" y="4425696"/>
            <a:ext cx="12191695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spc="6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Wie?</a:t>
            </a:r>
            <a:endParaRPr lang="en-US" sz="2200" dirty="0"/>
          </a:p>
        </p:txBody>
      </p:sp>
      <p:sp>
        <p:nvSpPr>
          <p:cNvPr id="1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8720A">
              <a:alpha val="1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" y="91440"/>
            <a:ext cx="640080" cy="64008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60175" y="91440"/>
            <a:ext cx="640080" cy="6400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" y="6126480"/>
            <a:ext cx="640080" cy="6400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60175" y="6126480"/>
            <a:ext cx="640080" cy="640080"/>
          </a:xfrm>
          <a:prstGeom prst="rect">
            <a:avLst/>
          </a:prstGeom>
        </p:spPr>
      </p:pic>
      <p:pic>
        <p:nvPicPr>
          <p:cNvPr id="8" name="Image 6" descr="/home/user/uwg_raesfeld_erle_website_repo/images/forum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0" y="0"/>
            <a:ext cx="4632844" cy="6858000"/>
          </a:xfrm>
          <a:prstGeom prst="rect">
            <a:avLst/>
          </a:prstGeom>
        </p:spPr>
      </p:pic>
      <p:sp>
        <p:nvSpPr>
          <p:cNvPr id="9" name="Shape 0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0E0A06">
              <a:alpha val="80000"/>
            </a:srgbClr>
          </a:solidFill>
          <a:ln/>
        </p:spPr>
      </p:sp>
      <p:sp>
        <p:nvSpPr>
          <p:cNvPr id="10" name="Text 1"/>
          <p:cNvSpPr/>
          <p:nvPr/>
        </p:nvSpPr>
        <p:spPr>
          <a:xfrm>
            <a:off x="256032" y="960120"/>
            <a:ext cx="39013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spc="100" kern="0" dirty="0">
                <a:solidFill>
                  <a:srgbClr val="BF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"Stell dir vor:</a:t>
            </a:r>
            <a:endParaRPr lang="en-US" sz="1900" dirty="0"/>
          </a:p>
        </p:txBody>
      </p:sp>
      <p:sp>
        <p:nvSpPr>
          <p:cNvPr id="11" name="Text 2"/>
          <p:cNvSpPr/>
          <p:nvPr/>
        </p:nvSpPr>
        <p:spPr>
          <a:xfrm>
            <a:off x="256032" y="1389888"/>
            <a:ext cx="3901342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i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10.000 Götter."</a:t>
            </a:r>
            <a:endParaRPr lang="en-US" sz="2800" dirty="0"/>
          </a:p>
        </p:txBody>
      </p:sp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6032" y="2121408"/>
            <a:ext cx="3535592" cy="27432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256032" y="2267712"/>
            <a:ext cx="390134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jeden Bach. Jedes Tor.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Beruf. Jede Krankheit.</a:t>
            </a:r>
            <a:endParaRPr lang="en-US" sz="1300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20512" y="256032"/>
            <a:ext cx="2560320" cy="292608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81470" y="658368"/>
            <a:ext cx="6522557" cy="160020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46062" y="1220724"/>
            <a:ext cx="475488" cy="475488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5949566" y="786384"/>
            <a:ext cx="54252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POLYTHEISMUS</a:t>
            </a:r>
            <a:endParaRPr lang="en-US" sz="1400" dirty="0"/>
          </a:p>
        </p:txBody>
      </p:sp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58107" y="786384"/>
            <a:ext cx="1463040" cy="256032"/>
          </a:xfrm>
          <a:prstGeom prst="rect">
            <a:avLst/>
          </a:prstGeom>
        </p:spPr>
      </p:pic>
      <p:pic>
        <p:nvPicPr>
          <p:cNvPr id="19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49566" y="1188720"/>
            <a:ext cx="5608157" cy="22860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5949566" y="1298448"/>
            <a:ext cx="560815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jeden Aspekt des Lebens gab es eine Gottheit. Religion war überall — und nirgendwo persönlich.</a:t>
            </a:r>
            <a:endParaRPr lang="en-US" sz="1300" dirty="0"/>
          </a:p>
        </p:txBody>
      </p:sp>
      <p:pic>
        <p:nvPicPr>
          <p:cNvPr id="21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181470" y="2468880"/>
            <a:ext cx="6522557" cy="160020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2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46062" y="3031236"/>
            <a:ext cx="475488" cy="475488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5949566" y="2596896"/>
            <a:ext cx="54252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STAATSKULT</a:t>
            </a:r>
            <a:endParaRPr lang="en-US" sz="1400" dirty="0"/>
          </a:p>
        </p:txBody>
      </p:sp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058107" y="2596896"/>
            <a:ext cx="1463040" cy="256032"/>
          </a:xfrm>
          <a:prstGeom prst="rect">
            <a:avLst/>
          </a:prstGeom>
        </p:spPr>
      </p:pic>
      <p:pic>
        <p:nvPicPr>
          <p:cNvPr id="25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949566" y="2999232"/>
            <a:ext cx="5608157" cy="22860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5949566" y="3108960"/>
            <a:ext cx="560815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Kaiser anzubeten war Bürgerpflicht. Religion und Politik waren untrennbar verbunden.</a:t>
            </a:r>
            <a:endParaRPr lang="en-US" sz="1300" dirty="0"/>
          </a:p>
        </p:txBody>
      </p:sp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181470" y="4279392"/>
            <a:ext cx="6522557" cy="160020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8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346062" y="4841748"/>
            <a:ext cx="475488" cy="475488"/>
          </a:xfrm>
          <a:prstGeom prst="rect">
            <a:avLst/>
          </a:prstGeom>
        </p:spPr>
      </p:pic>
      <p:sp>
        <p:nvSpPr>
          <p:cNvPr id="29" name="Text 8"/>
          <p:cNvSpPr/>
          <p:nvPr/>
        </p:nvSpPr>
        <p:spPr>
          <a:xfrm>
            <a:off x="5949566" y="4407408"/>
            <a:ext cx="54252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MYSTERIENKULTE</a:t>
            </a:r>
            <a:endParaRPr lang="en-US" sz="1400" dirty="0"/>
          </a:p>
        </p:txBody>
      </p:sp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058107" y="4407408"/>
            <a:ext cx="1463040" cy="256032"/>
          </a:xfrm>
          <a:prstGeom prst="rect">
            <a:avLst/>
          </a:prstGeom>
        </p:spPr>
      </p:pic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949566" y="4809744"/>
            <a:ext cx="5608157" cy="22860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5949566" y="4919472"/>
            <a:ext cx="560815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Geheimreligionen wie Mithras und Isis versprachen persönliche Erlösung — eine neue Idee.</a:t>
            </a:r>
            <a:endParaRPr lang="en-US" sz="1300" dirty="0"/>
          </a:p>
        </p:txBody>
      </p:sp>
      <p:sp>
        <p:nvSpPr>
          <p:cNvPr id="33" name="Shape 10"/>
          <p:cNvSpPr/>
          <p:nvPr/>
        </p:nvSpPr>
        <p:spPr>
          <a:xfrm>
            <a:off x="0" y="6199632"/>
            <a:ext cx="12191695" cy="457200"/>
          </a:xfrm>
          <a:prstGeom prst="rect">
            <a:avLst/>
          </a:prstGeom>
          <a:solidFill>
            <a:srgbClr val="7A2C0C">
              <a:alpha val="25000"/>
            </a:srgbClr>
          </a:solidFill>
          <a:ln/>
        </p:spPr>
      </p:sp>
      <p:pic>
        <p:nvPicPr>
          <p:cNvPr id="34" name="Image 21" descr="preencoded.png">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0" y="6199632"/>
            <a:ext cx="12191695" cy="22860"/>
          </a:xfrm>
          <a:prstGeom prst="rect">
            <a:avLst/>
          </a:prstGeom>
        </p:spPr>
      </p:pic>
      <p:sp>
        <p:nvSpPr>
          <p:cNvPr id="35" name="Text 11"/>
          <p:cNvSpPr/>
          <p:nvPr/>
        </p:nvSpPr>
        <p:spPr>
          <a:xfrm>
            <a:off x="457200" y="6217920"/>
            <a:ext cx="112772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spc="1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"Glaube als persönliche Beziehung — diese Idee gab es nicht."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partheno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A06">
              <a:alpha val="92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40080" cy="64008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60175" y="91440"/>
            <a:ext cx="640080" cy="64008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126480"/>
            <a:ext cx="640080" cy="64008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60175" y="6126480"/>
            <a:ext cx="640080" cy="64008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49928" y="201168"/>
            <a:ext cx="3291840" cy="292608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457200" y="603504"/>
            <a:ext cx="11277295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spc="1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"Ohne Alexander den Großen kein Paulus in Athen."</a:t>
            </a:r>
            <a:endParaRPr lang="en-US" sz="2200" dirty="0"/>
          </a:p>
        </p:txBody>
      </p:sp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63003" y="1316736"/>
            <a:ext cx="9265688" cy="32004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4320" y="1481328"/>
            <a:ext cx="2709596" cy="498348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82230" y="1645920"/>
            <a:ext cx="493776" cy="493776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347472" y="2249424"/>
            <a:ext cx="25632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SPRACHE</a:t>
            </a:r>
            <a:endParaRPr lang="en-US" sz="1200" dirty="0"/>
          </a:p>
        </p:txBody>
      </p:sp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2336" y="2688336"/>
            <a:ext cx="2453564" cy="22860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384048" y="2834640"/>
            <a:ext cx="24901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Koine-Griechisch: Sprache des halben Imperiums. Das Neue Testament wird komplett auf Griechisch geschrieben.</a:t>
            </a:r>
            <a:endParaRPr lang="en-US" sz="1300" dirty="0"/>
          </a:p>
        </p:txBody>
      </p:sp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116504" y="1481328"/>
            <a:ext cx="2709596" cy="498348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24414" y="1645920"/>
            <a:ext cx="493776" cy="493776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3189656" y="2249424"/>
            <a:ext cx="25632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BIBEL</a:t>
            </a:r>
            <a:endParaRPr lang="en-US" sz="1200" dirty="0"/>
          </a:p>
        </p:txBody>
      </p:sp>
      <p:pic>
        <p:nvPicPr>
          <p:cNvPr id="21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244520" y="2688336"/>
            <a:ext cx="2453564" cy="22860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3226232" y="2834640"/>
            <a:ext cx="24901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Septuaginta (~250 v. Chr.) — Juden lesen ihre eigene Schrift bereits griechisch, lange vor Jesus.</a:t>
            </a:r>
            <a:endParaRPr lang="en-US" sz="1300" dirty="0"/>
          </a:p>
        </p:txBody>
      </p:sp>
      <p:pic>
        <p:nvPicPr>
          <p:cNvPr id="23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58688" y="1481328"/>
            <a:ext cx="2709596" cy="498348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066598" y="1645920"/>
            <a:ext cx="493776" cy="493776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6031840" y="2249424"/>
            <a:ext cx="25632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PHILOSOPHIE</a:t>
            </a:r>
            <a:endParaRPr lang="en-US" sz="1200" dirty="0"/>
          </a:p>
        </p:txBody>
      </p:sp>
      <p:pic>
        <p:nvPicPr>
          <p:cNvPr id="26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86704" y="2688336"/>
            <a:ext cx="2453564" cy="22860"/>
          </a:xfrm>
          <a:prstGeom prst="rect">
            <a:avLst/>
          </a:prstGeom>
        </p:spPr>
      </p:pic>
      <p:sp>
        <p:nvSpPr>
          <p:cNvPr id="27" name="Text 7"/>
          <p:cNvSpPr/>
          <p:nvPr/>
        </p:nvSpPr>
        <p:spPr>
          <a:xfrm>
            <a:off x="6068416" y="2834640"/>
            <a:ext cx="24901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 Anfang war der Logos" — Johannes 1:1 entlehnt direkt aus der stoischen und platonischen Philosophie.</a:t>
            </a:r>
            <a:endParaRPr lang="en-US" sz="1300" dirty="0"/>
          </a:p>
        </p:txBody>
      </p:sp>
      <p:pic>
        <p:nvPicPr>
          <p:cNvPr id="28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00871" y="1481328"/>
            <a:ext cx="2709596" cy="498348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9" name="Image 19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908781" y="1645920"/>
            <a:ext cx="493776" cy="493776"/>
          </a:xfrm>
          <a:prstGeom prst="rect">
            <a:avLst/>
          </a:prstGeom>
        </p:spPr>
      </p:pic>
      <p:sp>
        <p:nvSpPr>
          <p:cNvPr id="30" name="Text 8"/>
          <p:cNvSpPr/>
          <p:nvPr/>
        </p:nvSpPr>
        <p:spPr>
          <a:xfrm>
            <a:off x="8874023" y="2249424"/>
            <a:ext cx="25632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STÄDTE</a:t>
            </a:r>
            <a:endParaRPr lang="en-US" sz="1200" dirty="0"/>
          </a:p>
        </p:txBody>
      </p:sp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928887" y="2688336"/>
            <a:ext cx="2453564" cy="22860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8910599" y="2834640"/>
            <a:ext cx="24901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hinterlässt ein Netz von Poleis. Paulus' Missionsrouten existieren bereits als Infrastruktur.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catacomb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4632844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0E0A06">
              <a:alpha val="78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21792" cy="62179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8463" y="91440"/>
            <a:ext cx="621792" cy="62179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144768"/>
            <a:ext cx="621792" cy="62179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78463" y="6144768"/>
            <a:ext cx="621792" cy="62179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1168" y="256032"/>
            <a:ext cx="2011680" cy="27432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20512" y="201168"/>
            <a:ext cx="2926080" cy="27432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64592" y="685800"/>
            <a:ext cx="4145176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27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1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Wanderprediger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spc="1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wird hingerichtet.</a:t>
            </a:r>
            <a:endParaRPr lang="en-US" sz="2000" dirty="0"/>
          </a:p>
        </p:txBody>
      </p:sp>
      <p:sp>
        <p:nvSpPr>
          <p:cNvPr id="13" name="Text 2"/>
          <p:cNvSpPr/>
          <p:nvPr/>
        </p:nvSpPr>
        <p:spPr>
          <a:xfrm>
            <a:off x="164592" y="2057400"/>
            <a:ext cx="41451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87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Tage später: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C87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Seine Anhänger behaupten,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C87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sei zurückgekehrt.</a:t>
            </a:r>
            <a:endParaRPr lang="en-US" sz="1400" dirty="0"/>
          </a:p>
        </p:txBody>
      </p:sp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20512" y="566928"/>
            <a:ext cx="6583515" cy="27432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20512" y="749808"/>
            <a:ext cx="6583515" cy="1170432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48528" y="859536"/>
            <a:ext cx="1828800" cy="237744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7150480" y="841248"/>
            <a:ext cx="44072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 &amp; AUFERSTEHUNG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5248528" y="1188720"/>
            <a:ext cx="63274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von Nazareth gekreuzigt unter Pontius Pilatus. 500 Zeugen der Erscheinungen laut Paulus.</a:t>
            </a:r>
            <a:endParaRPr lang="en-US" sz="1300" dirty="0"/>
          </a:p>
        </p:txBody>
      </p:sp>
      <p:pic>
        <p:nvPicPr>
          <p:cNvPr id="19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20512" y="2103120"/>
            <a:ext cx="6583515" cy="1170432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0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48528" y="2212848"/>
            <a:ext cx="1828800" cy="237744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7150480" y="2194560"/>
            <a:ext cx="44072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PFINGSTERFAHRUNG</a:t>
            </a:r>
            <a:endParaRPr lang="en-US" sz="1000" dirty="0"/>
          </a:p>
        </p:txBody>
      </p:sp>
      <p:sp>
        <p:nvSpPr>
          <p:cNvPr id="22" name="Text 6"/>
          <p:cNvSpPr/>
          <p:nvPr/>
        </p:nvSpPr>
        <p:spPr>
          <a:xfrm>
            <a:off x="5248528" y="2542032"/>
            <a:ext cx="63274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Anhänger in Jerusalem. Eine kollektive Erfahrung, die die Bewegung entfacht.</a:t>
            </a:r>
            <a:endParaRPr lang="en-US" sz="1300" dirty="0"/>
          </a:p>
        </p:txBody>
      </p:sp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120512" y="3456432"/>
            <a:ext cx="6583515" cy="1170432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48528" y="3566160"/>
            <a:ext cx="1828800" cy="237744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7150480" y="3547872"/>
            <a:ext cx="44072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 GEMEINDEN</a:t>
            </a:r>
            <a:endParaRPr lang="en-US" sz="1000" dirty="0"/>
          </a:p>
        </p:txBody>
      </p:sp>
      <p:sp>
        <p:nvSpPr>
          <p:cNvPr id="26" name="Text 8"/>
          <p:cNvSpPr/>
          <p:nvPr/>
        </p:nvSpPr>
        <p:spPr>
          <a:xfrm>
            <a:off x="5248528" y="3895344"/>
            <a:ext cx="63274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 in Gütergemeinschaft. Mahlgemeinschaft als Zentrum. Noch vollständig als Juden identifiziert.</a:t>
            </a:r>
            <a:endParaRPr lang="en-US" sz="1300" dirty="0"/>
          </a:p>
        </p:txBody>
      </p:sp>
      <p:pic>
        <p:nvPicPr>
          <p:cNvPr id="27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120512" y="4809744"/>
            <a:ext cx="6583515" cy="1170432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8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248528" y="4919472"/>
            <a:ext cx="1828800" cy="237744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7150480" y="4901184"/>
            <a:ext cx="44072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 SCHRIFTEN</a:t>
            </a:r>
            <a:endParaRPr lang="en-US" sz="1000" dirty="0"/>
          </a:p>
        </p:txBody>
      </p:sp>
      <p:sp>
        <p:nvSpPr>
          <p:cNvPr id="30" name="Text 10"/>
          <p:cNvSpPr/>
          <p:nvPr/>
        </p:nvSpPr>
        <p:spPr>
          <a:xfrm>
            <a:off x="5248528" y="5248656"/>
            <a:ext cx="632748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Paulus schreibt seine Briefe — 20 Jahre vor den Evangelien. Das älteste NT-Zeugnis.</a:t>
            </a:r>
            <a:endParaRPr lang="en-US" sz="1300" dirty="0"/>
          </a:p>
        </p:txBody>
      </p:sp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9728" y="5989320"/>
            <a:ext cx="1234440" cy="566928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1417320" y="6035040"/>
            <a:ext cx="34136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spc="100" kern="0" dirty="0">
                <a:solidFill>
                  <a:srgbClr val="7D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ΙΧΘΥΣ — Iesous Christos Theou Yios Soter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ostia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05432" y="0"/>
            <a:ext cx="5486263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0E0A06">
              <a:alpha val="80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21792" cy="62179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8463" y="91440"/>
            <a:ext cx="621792" cy="62179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144768"/>
            <a:ext cx="621792" cy="62179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78463" y="6144768"/>
            <a:ext cx="621792" cy="62179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6032" y="201168"/>
            <a:ext cx="2560320" cy="27432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256032" y="594360"/>
            <a:ext cx="6095848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i="1" spc="1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"Der Mann, der Christen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i="1" spc="1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jagte, wurde ihr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i="1" spc="1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wichtigster Missionar."</a:t>
            </a:r>
            <a:endParaRPr lang="en-US" sz="2200" dirty="0"/>
          </a:p>
        </p:txBody>
      </p:sp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6032" y="2514600"/>
            <a:ext cx="5852014" cy="27432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274320" y="2816352"/>
            <a:ext cx="237744" cy="237744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76200" dist="50800" dir="16200000">
              <a:srgbClr val="C8720A">
                <a:alpha val="80000"/>
              </a:srgbClr>
            </a:outerShdw>
          </a:effectLst>
        </p:spPr>
      </p:sp>
      <p:sp>
        <p:nvSpPr>
          <p:cNvPr id="14" name="Shape 3"/>
          <p:cNvSpPr/>
          <p:nvPr/>
        </p:nvSpPr>
        <p:spPr>
          <a:xfrm>
            <a:off x="384048" y="3054096"/>
            <a:ext cx="0" cy="512064"/>
          </a:xfrm>
          <a:prstGeom prst="line">
            <a:avLst/>
          </a:prstGeom>
          <a:noFill/>
          <a:ln w="15240">
            <a:solidFill>
              <a:srgbClr val="C8720A"/>
            </a:solidFill>
            <a:prstDash val="dash"/>
          </a:ln>
        </p:spPr>
      </p:sp>
      <p:sp>
        <p:nvSpPr>
          <p:cNvPr id="15" name="Text 4"/>
          <p:cNvSpPr/>
          <p:nvPr/>
        </p:nvSpPr>
        <p:spPr>
          <a:xfrm>
            <a:off x="676656" y="2743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ANTIOCHIA</a:t>
            </a:r>
            <a:endParaRPr lang="en-US" sz="1300" dirty="0"/>
          </a:p>
        </p:txBody>
      </p:sp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68296" y="2752344"/>
            <a:ext cx="1280160" cy="237744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676656" y="3035808"/>
            <a:ext cx="5608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nennt man sie zum ersten Mal "Christen"</a:t>
            </a:r>
            <a:endParaRPr lang="en-US" sz="1200" dirty="0"/>
          </a:p>
        </p:txBody>
      </p:sp>
      <p:sp>
        <p:nvSpPr>
          <p:cNvPr id="18" name="Shape 6"/>
          <p:cNvSpPr/>
          <p:nvPr/>
        </p:nvSpPr>
        <p:spPr>
          <a:xfrm>
            <a:off x="274320" y="3566160"/>
            <a:ext cx="237744" cy="237744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76200" dist="50800" dir="16200000">
              <a:srgbClr val="C8720A">
                <a:alpha val="80000"/>
              </a:srgbClr>
            </a:outerShdw>
          </a:effectLst>
        </p:spPr>
      </p:sp>
      <p:sp>
        <p:nvSpPr>
          <p:cNvPr id="19" name="Shape 7"/>
          <p:cNvSpPr/>
          <p:nvPr/>
        </p:nvSpPr>
        <p:spPr>
          <a:xfrm>
            <a:off x="384048" y="3803904"/>
            <a:ext cx="0" cy="512064"/>
          </a:xfrm>
          <a:prstGeom prst="line">
            <a:avLst/>
          </a:prstGeom>
          <a:noFill/>
          <a:ln w="15240">
            <a:solidFill>
              <a:srgbClr val="C8720A"/>
            </a:solidFill>
            <a:prstDash val="dash"/>
          </a:ln>
        </p:spPr>
      </p:sp>
      <p:sp>
        <p:nvSpPr>
          <p:cNvPr id="20" name="Text 8"/>
          <p:cNvSpPr/>
          <p:nvPr/>
        </p:nvSpPr>
        <p:spPr>
          <a:xfrm>
            <a:off x="676656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KORINTH</a:t>
            </a:r>
            <a:endParaRPr lang="en-US" sz="130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68296" y="3502152"/>
            <a:ext cx="1280160" cy="237744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676656" y="3785616"/>
            <a:ext cx="5608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Monate. Wichtigste Handelsstadt des Ostens.</a:t>
            </a:r>
            <a:endParaRPr lang="en-US" sz="1200" dirty="0"/>
          </a:p>
        </p:txBody>
      </p:sp>
      <p:sp>
        <p:nvSpPr>
          <p:cNvPr id="23" name="Shape 10"/>
          <p:cNvSpPr/>
          <p:nvPr/>
        </p:nvSpPr>
        <p:spPr>
          <a:xfrm>
            <a:off x="274320" y="4315968"/>
            <a:ext cx="237744" cy="237744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76200" dist="50800" dir="16200000">
              <a:srgbClr val="C8720A">
                <a:alpha val="80000"/>
              </a:srgbClr>
            </a:outerShdw>
          </a:effectLst>
        </p:spPr>
      </p:sp>
      <p:sp>
        <p:nvSpPr>
          <p:cNvPr id="24" name="Shape 11"/>
          <p:cNvSpPr/>
          <p:nvPr/>
        </p:nvSpPr>
        <p:spPr>
          <a:xfrm>
            <a:off x="384048" y="4553712"/>
            <a:ext cx="0" cy="512064"/>
          </a:xfrm>
          <a:prstGeom prst="line">
            <a:avLst/>
          </a:prstGeom>
          <a:noFill/>
          <a:ln w="15240">
            <a:solidFill>
              <a:srgbClr val="C8720A"/>
            </a:solidFill>
            <a:prstDash val="dash"/>
          </a:ln>
        </p:spPr>
      </p:sp>
      <p:sp>
        <p:nvSpPr>
          <p:cNvPr id="25" name="Text 12"/>
          <p:cNvSpPr/>
          <p:nvPr/>
        </p:nvSpPr>
        <p:spPr>
          <a:xfrm>
            <a:off x="676656" y="4242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ATHEN</a:t>
            </a:r>
            <a:endParaRPr lang="en-US" sz="13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68296" y="4251960"/>
            <a:ext cx="1280160" cy="237744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76656" y="4535424"/>
            <a:ext cx="5608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Areopag-Rede. Paulus zitiert griechische Dichter.</a:t>
            </a:r>
            <a:endParaRPr lang="en-US" sz="1200" dirty="0"/>
          </a:p>
        </p:txBody>
      </p:sp>
      <p:sp>
        <p:nvSpPr>
          <p:cNvPr id="28" name="Shape 14"/>
          <p:cNvSpPr/>
          <p:nvPr/>
        </p:nvSpPr>
        <p:spPr>
          <a:xfrm>
            <a:off x="274320" y="5065776"/>
            <a:ext cx="237744" cy="237744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76200" dist="50800" dir="16200000">
              <a:srgbClr val="C8720A">
                <a:alpha val="80000"/>
              </a:srgbClr>
            </a:outerShdw>
          </a:effectLst>
        </p:spPr>
      </p:sp>
      <p:sp>
        <p:nvSpPr>
          <p:cNvPr id="29" name="Shape 15"/>
          <p:cNvSpPr/>
          <p:nvPr/>
        </p:nvSpPr>
        <p:spPr>
          <a:xfrm>
            <a:off x="384048" y="5303520"/>
            <a:ext cx="0" cy="512064"/>
          </a:xfrm>
          <a:prstGeom prst="line">
            <a:avLst/>
          </a:prstGeom>
          <a:noFill/>
          <a:ln w="15240">
            <a:solidFill>
              <a:srgbClr val="C8720A"/>
            </a:solidFill>
            <a:prstDash val="dash"/>
          </a:ln>
        </p:spPr>
      </p:sp>
      <p:sp>
        <p:nvSpPr>
          <p:cNvPr id="30" name="Text 16"/>
          <p:cNvSpPr/>
          <p:nvPr/>
        </p:nvSpPr>
        <p:spPr>
          <a:xfrm>
            <a:off x="676656" y="49926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EPHESUS</a:t>
            </a:r>
            <a:endParaRPr lang="en-US" sz="130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68296" y="5001768"/>
            <a:ext cx="1280160" cy="237744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76656" y="5285232"/>
            <a:ext cx="5608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Kampf gegen Artemis-Kult. Beinahe ein Aufstand.</a:t>
            </a:r>
            <a:endParaRPr lang="en-US" sz="1200" dirty="0"/>
          </a:p>
        </p:txBody>
      </p:sp>
      <p:sp>
        <p:nvSpPr>
          <p:cNvPr id="33" name="Shape 18"/>
          <p:cNvSpPr/>
          <p:nvPr/>
        </p:nvSpPr>
        <p:spPr>
          <a:xfrm>
            <a:off x="274320" y="5815584"/>
            <a:ext cx="237744" cy="237744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76200" dist="50800" dir="16200000">
              <a:srgbClr val="C8720A">
                <a:alpha val="80000"/>
              </a:srgbClr>
            </a:outerShdw>
          </a:effectLst>
        </p:spPr>
      </p:sp>
      <p:sp>
        <p:nvSpPr>
          <p:cNvPr id="34" name="Text 19"/>
          <p:cNvSpPr/>
          <p:nvPr/>
        </p:nvSpPr>
        <p:spPr>
          <a:xfrm>
            <a:off x="676656" y="5742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</a:t>
            </a:r>
            <a:endParaRPr lang="en-US" sz="13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68296" y="5751576"/>
            <a:ext cx="1280160" cy="237744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76656" y="6035040"/>
            <a:ext cx="5608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 unter Nero, ~64 n. Chr. Mission abgeschlossen.</a:t>
            </a:r>
            <a:endParaRPr lang="en-US" sz="12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49266" y="5285232"/>
            <a:ext cx="4876678" cy="1325880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sp>
        <p:nvSpPr>
          <p:cNvPr id="38" name="Text 21"/>
          <p:cNvSpPr/>
          <p:nvPr/>
        </p:nvSpPr>
        <p:spPr>
          <a:xfrm>
            <a:off x="7193100" y="5340096"/>
            <a:ext cx="451092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Missionsreisen  ·  13 Briefe im NT</a:t>
            </a:r>
            <a:endParaRPr lang="en-US" sz="13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193100" y="5705856"/>
            <a:ext cx="4267093" cy="22860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7193100" y="5760720"/>
            <a:ext cx="451092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 nie Jesus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 getroffen.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colosseum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A06">
              <a:alpha val="76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21792" cy="62179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8463" y="91440"/>
            <a:ext cx="621792" cy="62179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144768"/>
            <a:ext cx="621792" cy="62179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78463" y="6144768"/>
            <a:ext cx="621792" cy="62179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32808" y="201168"/>
            <a:ext cx="2926080" cy="27432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0" y="621792"/>
            <a:ext cx="12191695" cy="621792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27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spc="2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"Wie tötet man eine Religion?</a:t>
            </a:r>
            <a:endParaRPr lang="en-US" sz="2800" dirty="0"/>
          </a:p>
        </p:txBody>
      </p:sp>
      <p:sp>
        <p:nvSpPr>
          <p:cNvPr id="12" name="Text 2"/>
          <p:cNvSpPr/>
          <p:nvPr/>
        </p:nvSpPr>
        <p:spPr>
          <a:xfrm>
            <a:off x="0" y="1188720"/>
            <a:ext cx="12191695" cy="621792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27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Antwort: Man kann nicht."</a:t>
            </a:r>
            <a:endParaRPr lang="en-US" sz="2800" dirty="0"/>
          </a:p>
        </p:txBody>
      </p:sp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63003" y="1901952"/>
            <a:ext cx="9265688" cy="27432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6032" y="2084832"/>
            <a:ext cx="3743858" cy="239572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sp>
        <p:nvSpPr>
          <p:cNvPr id="15" name="Text 3"/>
          <p:cNvSpPr/>
          <p:nvPr/>
        </p:nvSpPr>
        <p:spPr>
          <a:xfrm>
            <a:off x="365760" y="2212848"/>
            <a:ext cx="352440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 n. Chr.</a:t>
            </a:r>
            <a:endParaRPr lang="en-US" sz="2200" dirty="0"/>
          </a:p>
        </p:txBody>
      </p:sp>
      <p:sp>
        <p:nvSpPr>
          <p:cNvPr id="16" name="Text 4"/>
          <p:cNvSpPr/>
          <p:nvPr/>
        </p:nvSpPr>
        <p:spPr>
          <a:xfrm>
            <a:off x="365760" y="2743200"/>
            <a:ext cx="187192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NERO</a:t>
            </a:r>
            <a:endParaRPr lang="en-US" sz="1300" dirty="0"/>
          </a:p>
        </p:txBody>
      </p:sp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202838" y="2743200"/>
            <a:ext cx="1572421" cy="256032"/>
          </a:xfrm>
          <a:prstGeom prst="rect">
            <a:avLst/>
          </a:prstGeom>
        </p:spPr>
      </p:pic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5760" y="3127248"/>
            <a:ext cx="3524402" cy="2286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365760" y="3236976"/>
            <a:ext cx="352440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Sündenbock nach dem Brand Roms. Petrus und Paulus sterben. Christen als "Feinde des Menschengeschlechts".</a:t>
            </a:r>
            <a:endParaRPr lang="en-US" sz="1300" dirty="0"/>
          </a:p>
        </p:txBody>
      </p:sp>
      <p:pic>
        <p:nvPicPr>
          <p:cNvPr id="20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32478" y="2084832"/>
            <a:ext cx="3743858" cy="239572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sp>
        <p:nvSpPr>
          <p:cNvPr id="21" name="Text 6"/>
          <p:cNvSpPr/>
          <p:nvPr/>
        </p:nvSpPr>
        <p:spPr>
          <a:xfrm>
            <a:off x="4242206" y="2212848"/>
            <a:ext cx="352440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n. Chr.</a:t>
            </a:r>
            <a:endParaRPr lang="en-US" sz="2200" dirty="0"/>
          </a:p>
        </p:txBody>
      </p:sp>
      <p:sp>
        <p:nvSpPr>
          <p:cNvPr id="22" name="Text 7"/>
          <p:cNvSpPr/>
          <p:nvPr/>
        </p:nvSpPr>
        <p:spPr>
          <a:xfrm>
            <a:off x="4242206" y="2743200"/>
            <a:ext cx="187192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DECIUS</a:t>
            </a:r>
            <a:endParaRPr lang="en-US" sz="1300" dirty="0"/>
          </a:p>
        </p:txBody>
      </p:sp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079285" y="2743200"/>
            <a:ext cx="1572421" cy="256032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42206" y="3127248"/>
            <a:ext cx="3524402" cy="2286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4242206" y="3236976"/>
            <a:ext cx="352440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reichsweite, systematische Verfolgung. Jeder Bürger muss ein Opferzertifikat vorlegen.</a:t>
            </a:r>
            <a:endParaRPr lang="en-US" sz="1300" dirty="0"/>
          </a:p>
        </p:txBody>
      </p:sp>
      <p:pic>
        <p:nvPicPr>
          <p:cNvPr id="26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08925" y="2084832"/>
            <a:ext cx="3743858" cy="239572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sp>
        <p:nvSpPr>
          <p:cNvPr id="27" name="Text 9"/>
          <p:cNvSpPr/>
          <p:nvPr/>
        </p:nvSpPr>
        <p:spPr>
          <a:xfrm>
            <a:off x="8118653" y="2212848"/>
            <a:ext cx="352440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303 n. Chr.</a:t>
            </a:r>
            <a:endParaRPr lang="en-US" sz="2200" dirty="0"/>
          </a:p>
        </p:txBody>
      </p:sp>
      <p:sp>
        <p:nvSpPr>
          <p:cNvPr id="28" name="Text 10"/>
          <p:cNvSpPr/>
          <p:nvPr/>
        </p:nvSpPr>
        <p:spPr>
          <a:xfrm>
            <a:off x="8118653" y="2743200"/>
            <a:ext cx="187192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DIOKLETIAN</a:t>
            </a:r>
            <a:endParaRPr lang="en-US" sz="1300" dirty="0"/>
          </a:p>
        </p:txBody>
      </p:sp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955731" y="2743200"/>
            <a:ext cx="1572421" cy="256032"/>
          </a:xfrm>
          <a:prstGeom prst="rect">
            <a:avLst/>
          </a:prstGeom>
        </p:spPr>
      </p:pic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118653" y="3127248"/>
            <a:ext cx="3524402" cy="22860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8118653" y="3236976"/>
            <a:ext cx="352440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schwerste Welle: Schriften verbrannt, Kirchen zerstört, tausende Märtyrer. Dauert 10 Jahre.</a:t>
            </a:r>
            <a:endParaRPr lang="en-US" sz="1300" dirty="0"/>
          </a:p>
        </p:txBody>
      </p:sp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19170" y="6053328"/>
            <a:ext cx="9753356" cy="22860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0" y="6144768"/>
            <a:ext cx="12191695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"Das Blut der Märtyrer ist Same der Kirche."  — Tertullian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constantine_arch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39682" y="0"/>
            <a:ext cx="5852014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339682" y="0"/>
            <a:ext cx="5852014" cy="6858000"/>
          </a:xfrm>
          <a:prstGeom prst="rect">
            <a:avLst/>
          </a:prstGeom>
          <a:solidFill>
            <a:srgbClr val="0E0A06">
              <a:alpha val="82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21792" cy="62179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8463" y="91440"/>
            <a:ext cx="621792" cy="62179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144768"/>
            <a:ext cx="621792" cy="62179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78463" y="6144768"/>
            <a:ext cx="621792" cy="62179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6032" y="201168"/>
            <a:ext cx="2743200" cy="27432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4592" y="1508760"/>
            <a:ext cx="2926080" cy="292608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256032" y="594360"/>
            <a:ext cx="560818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27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312. Ein Kaiser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 einen Traum.</a:t>
            </a:r>
            <a:endParaRPr lang="en-US" sz="2800" dirty="0"/>
          </a:p>
        </p:txBody>
      </p:sp>
      <p:sp>
        <p:nvSpPr>
          <p:cNvPr id="13" name="Text 2"/>
          <p:cNvSpPr/>
          <p:nvPr/>
        </p:nvSpPr>
        <p:spPr>
          <a:xfrm>
            <a:off x="256032" y="1874520"/>
            <a:ext cx="4145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das ganze Reich wechselt die Religion.</a:t>
            </a:r>
            <a:endParaRPr lang="en-US" sz="1400" dirty="0"/>
          </a:p>
        </p:txBody>
      </p:sp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6032" y="6199632"/>
            <a:ext cx="5608180" cy="27432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256032" y="6272784"/>
            <a:ext cx="5608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7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Verfolgten sitzen jetzt am Tisch des Kaisers.</a:t>
            </a:r>
            <a:endParaRPr lang="en-US" sz="1300" dirty="0"/>
          </a:p>
        </p:txBody>
      </p:sp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22557" y="182880"/>
            <a:ext cx="5425304" cy="15727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sp>
        <p:nvSpPr>
          <p:cNvPr id="17" name="Text 4"/>
          <p:cNvSpPr/>
          <p:nvPr/>
        </p:nvSpPr>
        <p:spPr>
          <a:xfrm>
            <a:off x="6650573" y="274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</a:t>
            </a:r>
            <a:endParaRPr lang="en-US" sz="2800" dirty="0"/>
          </a:p>
        </p:txBody>
      </p:sp>
      <p:sp>
        <p:nvSpPr>
          <p:cNvPr id="18" name="Text 5"/>
          <p:cNvSpPr/>
          <p:nvPr/>
        </p:nvSpPr>
        <p:spPr>
          <a:xfrm>
            <a:off x="7692989" y="347472"/>
            <a:ext cx="4126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MILVISCHE BRÜCKE</a:t>
            </a:r>
            <a:endParaRPr lang="en-US" sz="11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50573" y="841248"/>
            <a:ext cx="5169272" cy="2286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6650573" y="950976"/>
            <a:ext cx="516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Konstantin besiegt Maxentius unter dem Chi-Rho-Zeichen. Er schreibt den Sieg dem Christengott zu.</a:t>
            </a:r>
            <a:endParaRPr lang="en-US" sz="13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22557" y="1865376"/>
            <a:ext cx="5425304" cy="15727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sp>
        <p:nvSpPr>
          <p:cNvPr id="22" name="Text 7"/>
          <p:cNvSpPr/>
          <p:nvPr/>
        </p:nvSpPr>
        <p:spPr>
          <a:xfrm>
            <a:off x="6650573" y="19568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</a:t>
            </a:r>
            <a:endParaRPr lang="en-US" sz="2800" dirty="0"/>
          </a:p>
        </p:txBody>
      </p:sp>
      <p:sp>
        <p:nvSpPr>
          <p:cNvPr id="23" name="Text 8"/>
          <p:cNvSpPr/>
          <p:nvPr/>
        </p:nvSpPr>
        <p:spPr>
          <a:xfrm>
            <a:off x="7692989" y="2029968"/>
            <a:ext cx="4126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MAILÄNDER EDIKT</a:t>
            </a:r>
            <a:endParaRPr lang="en-US" sz="1100" dirty="0"/>
          </a:p>
        </p:txBody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50573" y="2523744"/>
            <a:ext cx="5169272" cy="2286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6650573" y="2633472"/>
            <a:ext cx="516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Religionsfreiheit im ganzen Reich. Konfisziertes Kircheneigentum wird zurückgegeben. Kirche erhält Rechtsstatus.</a:t>
            </a:r>
            <a:endParaRPr lang="en-US" sz="1300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22557" y="3547872"/>
            <a:ext cx="5425304" cy="15727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sp>
        <p:nvSpPr>
          <p:cNvPr id="27" name="Text 10"/>
          <p:cNvSpPr/>
          <p:nvPr/>
        </p:nvSpPr>
        <p:spPr>
          <a:xfrm>
            <a:off x="6650573" y="36393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325</a:t>
            </a:r>
            <a:endParaRPr lang="en-US" sz="2800" dirty="0"/>
          </a:p>
        </p:txBody>
      </p:sp>
      <p:sp>
        <p:nvSpPr>
          <p:cNvPr id="28" name="Text 11"/>
          <p:cNvSpPr/>
          <p:nvPr/>
        </p:nvSpPr>
        <p:spPr>
          <a:xfrm>
            <a:off x="7692989" y="3712464"/>
            <a:ext cx="4126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KONZIL VON NICÄA</a:t>
            </a:r>
            <a:endParaRPr lang="en-US" sz="1100" dirty="0"/>
          </a:p>
        </p:txBody>
      </p:sp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50573" y="4206240"/>
            <a:ext cx="5169272" cy="2286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650573" y="4315968"/>
            <a:ext cx="516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reichsweite Bischofssynode. Das Nicänische Glaubensbekenntnis entsteht. Kaiser moderiert die Theologie.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hagia_sophia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E0A06">
              <a:alpha val="76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21792" cy="62179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8463" y="91440"/>
            <a:ext cx="621792" cy="62179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144768"/>
            <a:ext cx="621792" cy="62179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78463" y="6144768"/>
            <a:ext cx="621792" cy="62179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64346" y="201168"/>
            <a:ext cx="3108960" cy="27432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5120512" y="603504"/>
            <a:ext cx="6705432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27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i="1" spc="1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"Plötzlich ist es umgekehrt."</a:t>
            </a:r>
            <a:endParaRPr lang="en-US" sz="2200" dirty="0"/>
          </a:p>
        </p:txBody>
      </p:sp>
      <p:sp>
        <p:nvSpPr>
          <p:cNvPr id="12" name="Text 2"/>
          <p:cNvSpPr/>
          <p:nvPr/>
        </p:nvSpPr>
        <p:spPr>
          <a:xfrm>
            <a:off x="5120512" y="1170432"/>
            <a:ext cx="6705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200" kern="0" dirty="0">
                <a:solidFill>
                  <a:srgbClr val="E8A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NICHT Christ ist, wird verfolgt.</a:t>
            </a:r>
            <a:endParaRPr lang="en-US" sz="1700" dirty="0"/>
          </a:p>
        </p:txBody>
      </p:sp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20512" y="1719072"/>
            <a:ext cx="6583515" cy="27432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5129656" y="1975104"/>
            <a:ext cx="228600" cy="228600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63500" dist="50800" dir="16200000">
              <a:srgbClr val="C8720A">
                <a:alpha val="70000"/>
              </a:srgbClr>
            </a:outerShdw>
          </a:effectLst>
        </p:spPr>
      </p:sp>
      <p:sp>
        <p:nvSpPr>
          <p:cNvPr id="15" name="Shape 4"/>
          <p:cNvSpPr/>
          <p:nvPr/>
        </p:nvSpPr>
        <p:spPr>
          <a:xfrm>
            <a:off x="5234812" y="2203704"/>
            <a:ext cx="0" cy="649224"/>
          </a:xfrm>
          <a:prstGeom prst="line">
            <a:avLst/>
          </a:prstGeom>
          <a:noFill/>
          <a:ln w="12700">
            <a:solidFill>
              <a:srgbClr val="C8720A"/>
            </a:solidFill>
            <a:prstDash val="dash"/>
          </a:ln>
        </p:spPr>
      </p:sp>
      <p:sp>
        <p:nvSpPr>
          <p:cNvPr id="16" name="Text 5"/>
          <p:cNvSpPr/>
          <p:nvPr/>
        </p:nvSpPr>
        <p:spPr>
          <a:xfrm>
            <a:off x="5522848" y="190195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</a:t>
            </a:r>
            <a:endParaRPr lang="en-US" sz="1300" dirty="0"/>
          </a:p>
        </p:txBody>
      </p:sp>
      <p:sp>
        <p:nvSpPr>
          <p:cNvPr id="17" name="Text 6"/>
          <p:cNvSpPr/>
          <p:nvPr/>
        </p:nvSpPr>
        <p:spPr>
          <a:xfrm>
            <a:off x="6217792" y="1865376"/>
            <a:ext cx="5973931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Theodosius macht Christentum zur Staatsreligion.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Kulte werden illegal.</a:t>
            </a:r>
            <a:endParaRPr lang="en-US" sz="1200" dirty="0"/>
          </a:p>
        </p:txBody>
      </p:sp>
      <p:sp>
        <p:nvSpPr>
          <p:cNvPr id="18" name="Shape 7"/>
          <p:cNvSpPr/>
          <p:nvPr/>
        </p:nvSpPr>
        <p:spPr>
          <a:xfrm>
            <a:off x="5129656" y="2852928"/>
            <a:ext cx="228600" cy="228600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63500" dist="50800" dir="16200000">
              <a:srgbClr val="C8720A">
                <a:alpha val="70000"/>
              </a:srgbClr>
            </a:outerShdw>
          </a:effectLst>
        </p:spPr>
      </p:sp>
      <p:sp>
        <p:nvSpPr>
          <p:cNvPr id="19" name="Shape 8"/>
          <p:cNvSpPr/>
          <p:nvPr/>
        </p:nvSpPr>
        <p:spPr>
          <a:xfrm>
            <a:off x="5234812" y="3081528"/>
            <a:ext cx="0" cy="649224"/>
          </a:xfrm>
          <a:prstGeom prst="line">
            <a:avLst/>
          </a:prstGeom>
          <a:noFill/>
          <a:ln w="12700">
            <a:solidFill>
              <a:srgbClr val="C8720A"/>
            </a:solidFill>
            <a:prstDash val="dash"/>
          </a:ln>
        </p:spPr>
      </p:sp>
      <p:sp>
        <p:nvSpPr>
          <p:cNvPr id="20" name="Text 9"/>
          <p:cNvSpPr/>
          <p:nvPr/>
        </p:nvSpPr>
        <p:spPr>
          <a:xfrm>
            <a:off x="5522848" y="27797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391</a:t>
            </a:r>
            <a:endParaRPr lang="en-US" sz="1300" dirty="0"/>
          </a:p>
        </p:txBody>
      </p:sp>
      <p:sp>
        <p:nvSpPr>
          <p:cNvPr id="21" name="Text 10"/>
          <p:cNvSpPr/>
          <p:nvPr/>
        </p:nvSpPr>
        <p:spPr>
          <a:xfrm>
            <a:off x="6217792" y="2743200"/>
            <a:ext cx="5973931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Heidnische Opfer = Hochverrat. Tempel werden geschlossen und verwüstet.</a:t>
            </a:r>
            <a:endParaRPr lang="en-US" sz="1200" dirty="0"/>
          </a:p>
        </p:txBody>
      </p:sp>
      <p:sp>
        <p:nvSpPr>
          <p:cNvPr id="22" name="Shape 11"/>
          <p:cNvSpPr/>
          <p:nvPr/>
        </p:nvSpPr>
        <p:spPr>
          <a:xfrm>
            <a:off x="5129656" y="3730752"/>
            <a:ext cx="228600" cy="228600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63500" dist="50800" dir="16200000">
              <a:srgbClr val="C8720A">
                <a:alpha val="70000"/>
              </a:srgbClr>
            </a:outerShdw>
          </a:effectLst>
        </p:spPr>
      </p:sp>
      <p:sp>
        <p:nvSpPr>
          <p:cNvPr id="23" name="Shape 12"/>
          <p:cNvSpPr/>
          <p:nvPr/>
        </p:nvSpPr>
        <p:spPr>
          <a:xfrm>
            <a:off x="5234812" y="3959352"/>
            <a:ext cx="0" cy="649224"/>
          </a:xfrm>
          <a:prstGeom prst="line">
            <a:avLst/>
          </a:prstGeom>
          <a:noFill/>
          <a:ln w="12700">
            <a:solidFill>
              <a:srgbClr val="C8720A"/>
            </a:solidFill>
            <a:prstDash val="dash"/>
          </a:ln>
        </p:spPr>
      </p:sp>
      <p:sp>
        <p:nvSpPr>
          <p:cNvPr id="24" name="Text 13"/>
          <p:cNvSpPr/>
          <p:nvPr/>
        </p:nvSpPr>
        <p:spPr>
          <a:xfrm>
            <a:off x="5522848" y="365760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393</a:t>
            </a:r>
            <a:endParaRPr lang="en-US" sz="1300" dirty="0"/>
          </a:p>
        </p:txBody>
      </p:sp>
      <p:sp>
        <p:nvSpPr>
          <p:cNvPr id="25" name="Text 14"/>
          <p:cNvSpPr/>
          <p:nvPr/>
        </p:nvSpPr>
        <p:spPr>
          <a:xfrm>
            <a:off x="6217792" y="3621024"/>
            <a:ext cx="5973931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Olympische Spiele der Antike. Sie waren Zeus geweiht. Ende nach 1168 Jahren.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5129656" y="4608576"/>
            <a:ext cx="228600" cy="228600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63500" dist="50800" dir="16200000">
              <a:srgbClr val="C8720A">
                <a:alpha val="70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5234812" y="4837176"/>
            <a:ext cx="0" cy="649224"/>
          </a:xfrm>
          <a:prstGeom prst="line">
            <a:avLst/>
          </a:prstGeom>
          <a:noFill/>
          <a:ln w="12700">
            <a:solidFill>
              <a:srgbClr val="C8720A"/>
            </a:solidFill>
            <a:prstDash val="dash"/>
          </a:ln>
        </p:spPr>
      </p:sp>
      <p:sp>
        <p:nvSpPr>
          <p:cNvPr id="28" name="Text 17"/>
          <p:cNvSpPr/>
          <p:nvPr/>
        </p:nvSpPr>
        <p:spPr>
          <a:xfrm>
            <a:off x="5522848" y="453542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415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6217792" y="4498848"/>
            <a:ext cx="5973931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Hypatia von Alexandria, Philosophin und Mathematikerin, wird von einer christlichen Menge gelyncht.</a:t>
            </a:r>
            <a:endParaRPr lang="en-US" sz="1200" dirty="0"/>
          </a:p>
        </p:txBody>
      </p:sp>
      <p:sp>
        <p:nvSpPr>
          <p:cNvPr id="30" name="Shape 19"/>
          <p:cNvSpPr/>
          <p:nvPr/>
        </p:nvSpPr>
        <p:spPr>
          <a:xfrm>
            <a:off x="5129656" y="5486400"/>
            <a:ext cx="228600" cy="228600"/>
          </a:xfrm>
          <a:prstGeom prst="ellipse">
            <a:avLst/>
          </a:prstGeom>
          <a:solidFill>
            <a:srgbClr val="E8A034"/>
          </a:solidFill>
          <a:ln/>
          <a:effectLst>
            <a:outerShdw sx="100000" sy="100000" kx="0" ky="0" algn="bl" rotWithShape="0" blurRad="63500" dist="50800" dir="16200000">
              <a:srgbClr val="C8720A">
                <a:alpha val="70000"/>
              </a:srgbClr>
            </a:outerShdw>
          </a:effectLst>
        </p:spPr>
      </p:sp>
      <p:sp>
        <p:nvSpPr>
          <p:cNvPr id="31" name="Text 20"/>
          <p:cNvSpPr/>
          <p:nvPr/>
        </p:nvSpPr>
        <p:spPr>
          <a:xfrm>
            <a:off x="5522848" y="54132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529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6217792" y="5376672"/>
            <a:ext cx="5973931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 schließt die Platonische Akademie in Athen. Nach über 900 Jahren.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0" y="6291072"/>
            <a:ext cx="12191695" cy="384048"/>
          </a:xfrm>
          <a:prstGeom prst="rect">
            <a:avLst/>
          </a:prstGeom>
          <a:solidFill>
            <a:srgbClr val="7A2C0C">
              <a:alpha val="28000"/>
            </a:srgbClr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0" y="6291072"/>
            <a:ext cx="12191695" cy="2286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spc="2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einst Verfolgten wurden zu Verfolgern.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uwg_raesfeld_erle_website_repo/images/basilica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A06">
              <a:alpha val="90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" y="91440"/>
            <a:ext cx="621792" cy="62179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8463" y="91440"/>
            <a:ext cx="621792" cy="62179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" y="6144768"/>
            <a:ext cx="621792" cy="621792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78463" y="6144768"/>
            <a:ext cx="621792" cy="62179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49928" y="182880"/>
            <a:ext cx="3291840" cy="27432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spc="1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"Warum ist Sonntag frei? Warum schreiben wir 2026? Warum gibt es Krankenhäuser?"</a:t>
            </a:r>
            <a:endParaRPr lang="en-US" sz="1700" dirty="0"/>
          </a:p>
        </p:txBody>
      </p:sp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9170" y="1353312"/>
            <a:ext cx="9753356" cy="27432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6032" y="1536192"/>
            <a:ext cx="3716426" cy="24871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4048" y="1664208"/>
            <a:ext cx="420624" cy="420624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877824" y="1700784"/>
            <a:ext cx="29849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</a:t>
            </a:r>
            <a:endParaRPr lang="en-US" sz="1200" dirty="0"/>
          </a:p>
        </p:txBody>
      </p:sp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4048" y="2157984"/>
            <a:ext cx="3460394" cy="22860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384048" y="2267712"/>
            <a:ext cx="346039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 als gesetzlicher Ruhetag. Unser Kalender (vor/nach Chr.) ist christlich geprägt.</a:t>
            </a:r>
            <a:endParaRPr lang="en-US" sz="1100" dirty="0"/>
          </a:p>
        </p:txBody>
      </p:sp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77614" y="1536192"/>
            <a:ext cx="3716426" cy="24871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05630" y="1664208"/>
            <a:ext cx="420624" cy="420624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4699406" y="1700784"/>
            <a:ext cx="29849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SOZIALES</a:t>
            </a:r>
            <a:endParaRPr lang="en-US" sz="1200" dirty="0"/>
          </a:p>
        </p:txBody>
      </p:sp>
      <p:pic>
        <p:nvPicPr>
          <p:cNvPr id="21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05630" y="2157984"/>
            <a:ext cx="3460394" cy="22860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4205630" y="2267712"/>
            <a:ext cx="346039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Hospize, Waisenhäuser, systematische Armenfürsorge als religiöse Pflicht.</a:t>
            </a:r>
            <a:endParaRPr lang="en-US" sz="1100" dirty="0"/>
          </a:p>
        </p:txBody>
      </p:sp>
      <p:pic>
        <p:nvPicPr>
          <p:cNvPr id="23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899197" y="1536192"/>
            <a:ext cx="3716426" cy="24871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027213" y="1664208"/>
            <a:ext cx="420624" cy="420624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8520989" y="1700784"/>
            <a:ext cx="29849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BILDUNG</a:t>
            </a:r>
            <a:endParaRPr lang="en-US" sz="1200" dirty="0"/>
          </a:p>
        </p:txBody>
      </p:sp>
      <p:pic>
        <p:nvPicPr>
          <p:cNvPr id="26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027213" y="2157984"/>
            <a:ext cx="3460394" cy="22860"/>
          </a:xfrm>
          <a:prstGeom prst="rect">
            <a:avLst/>
          </a:prstGeom>
        </p:spPr>
      </p:pic>
      <p:sp>
        <p:nvSpPr>
          <p:cNvPr id="27" name="Text 7"/>
          <p:cNvSpPr/>
          <p:nvPr/>
        </p:nvSpPr>
        <p:spPr>
          <a:xfrm>
            <a:off x="8027213" y="2267712"/>
            <a:ext cx="346039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Klöster retten antikes Wissen durch das Mittelalter. Erste Universitäten sind kirchlich.</a:t>
            </a:r>
            <a:endParaRPr lang="en-US" sz="1100" dirty="0"/>
          </a:p>
        </p:txBody>
      </p:sp>
      <p:pic>
        <p:nvPicPr>
          <p:cNvPr id="28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6032" y="4114800"/>
            <a:ext cx="3716426" cy="24871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29" name="Image 19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4048" y="4242816"/>
            <a:ext cx="420624" cy="420624"/>
          </a:xfrm>
          <a:prstGeom prst="rect">
            <a:avLst/>
          </a:prstGeom>
        </p:spPr>
      </p:pic>
      <p:sp>
        <p:nvSpPr>
          <p:cNvPr id="30" name="Text 8"/>
          <p:cNvSpPr/>
          <p:nvPr/>
        </p:nvSpPr>
        <p:spPr>
          <a:xfrm>
            <a:off x="877824" y="4279392"/>
            <a:ext cx="29849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BAUKUNST</a:t>
            </a:r>
            <a:endParaRPr lang="en-US" sz="1200" dirty="0"/>
          </a:p>
        </p:txBody>
      </p:sp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84048" y="4736592"/>
            <a:ext cx="3460394" cy="22860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384048" y="4846320"/>
            <a:ext cx="346039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Basilika statt Tempel. Kuppelbau, Kirchenfenster, gotische Kathedralen.</a:t>
            </a:r>
            <a:endParaRPr lang="en-US" sz="11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077614" y="4114800"/>
            <a:ext cx="3716426" cy="24871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34" name="Image 22" descr="preencoded.png">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05630" y="4242816"/>
            <a:ext cx="420624" cy="420624"/>
          </a:xfrm>
          <a:prstGeom prst="rect">
            <a:avLst/>
          </a:prstGeom>
        </p:spPr>
      </p:pic>
      <p:sp>
        <p:nvSpPr>
          <p:cNvPr id="35" name="Text 10"/>
          <p:cNvSpPr/>
          <p:nvPr/>
        </p:nvSpPr>
        <p:spPr>
          <a:xfrm>
            <a:off x="4699406" y="4279392"/>
            <a:ext cx="29849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ETHIK</a:t>
            </a:r>
            <a:endParaRPr lang="en-US" sz="1200" dirty="0"/>
          </a:p>
        </p:txBody>
      </p:sp>
      <p:pic>
        <p:nvPicPr>
          <p:cNvPr id="36" name="Image 23" descr="preencoded.png">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205630" y="4736592"/>
            <a:ext cx="3460394" cy="22860"/>
          </a:xfrm>
          <a:prstGeom prst="rect">
            <a:avLst/>
          </a:prstGeom>
        </p:spPr>
      </p:pic>
      <p:sp>
        <p:nvSpPr>
          <p:cNvPr id="37" name="Text 11"/>
          <p:cNvSpPr/>
          <p:nvPr/>
        </p:nvSpPr>
        <p:spPr>
          <a:xfrm>
            <a:off x="4205630" y="4846320"/>
            <a:ext cx="346039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Nächstenliebe als Pflicht. Würde aller Menschen — auch Sklaven — als theologisches Prinzip.</a:t>
            </a:r>
            <a:endParaRPr lang="en-US" sz="1100" dirty="0"/>
          </a:p>
        </p:txBody>
      </p:sp>
      <p:pic>
        <p:nvPicPr>
          <p:cNvPr id="38" name="Image 24" descr="preencoded.png">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899197" y="4114800"/>
            <a:ext cx="3716426" cy="2487168"/>
          </a:xfrm>
          <a:prstGeom prst="rect">
            <a:avLst/>
          </a:prstGeom>
          <a:effectLst>
            <a:outerShdw sx="100000" sy="100000" kx="0" ky="0" algn="bl" rotWithShape="0" blurRad="177800" dist="50800" dir="2700000">
              <a:srgbClr val="000000">
                <a:alpha val="70000"/>
              </a:srgbClr>
            </a:outerShdw>
          </a:effectLst>
        </p:spPr>
      </p:pic>
      <p:pic>
        <p:nvPicPr>
          <p:cNvPr id="39" name="Image 25" descr="preencoded.png">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027213" y="4242816"/>
            <a:ext cx="420624" cy="420624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8520989" y="4279392"/>
            <a:ext cx="29849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FRAUEN</a:t>
            </a:r>
            <a:endParaRPr lang="en-US" sz="1200" dirty="0"/>
          </a:p>
        </p:txBody>
      </p:sp>
      <p:pic>
        <p:nvPicPr>
          <p:cNvPr id="41" name="Image 26" descr="preencoded.png">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027213" y="4736592"/>
            <a:ext cx="3460394" cy="22860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>
            <a:off x="8027213" y="4846320"/>
            <a:ext cx="346039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F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Rollen: Witwen, Diakoninnen, Märtyrerinnen. Früher als in der paganen Gesellschaft.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" y="91440"/>
            <a:ext cx="658368" cy="65836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41887" y="91440"/>
            <a:ext cx="658368" cy="65836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" y="6108192"/>
            <a:ext cx="658368" cy="65836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41887" y="6108192"/>
            <a:ext cx="658368" cy="65836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4248" y="201168"/>
            <a:ext cx="2743200" cy="29260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19170" y="658368"/>
            <a:ext cx="9753356" cy="2286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0" y="841248"/>
            <a:ext cx="12191695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76200" dir="2700000">
              <a:srgbClr val="000000">
                <a:alpha val="9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spc="3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Wofür würdet</a:t>
            </a:r>
            <a:endParaRPr lang="en-US" sz="5600" dirty="0"/>
          </a:p>
        </p:txBody>
      </p:sp>
      <p:sp>
        <p:nvSpPr>
          <p:cNvPr id="11" name="Text 1"/>
          <p:cNvSpPr/>
          <p:nvPr/>
        </p:nvSpPr>
        <p:spPr>
          <a:xfrm>
            <a:off x="0" y="1847088"/>
            <a:ext cx="12191695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76200" dir="2700000">
              <a:srgbClr val="000000">
                <a:alpha val="9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spc="300" kern="0" dirty="0">
                <a:solidFill>
                  <a:srgbClr val="F2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ihr heute sterben?</a:t>
            </a:r>
            <a:endParaRPr lang="en-US" sz="5600" dirty="0"/>
          </a:p>
        </p:txBody>
      </p:sp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19170" y="3035808"/>
            <a:ext cx="9753356" cy="34747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457200" y="32461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spc="100" kern="0" dirty="0">
                <a:solidFill>
                  <a:srgbClr val="F2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ersten Christen taten es — ohne Aussicht auf Belohnung in diesem Leben.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457200" y="3858768"/>
            <a:ext cx="112772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 Idee, welcher Mensch, welcher Glaube wäre es euch wert?</a:t>
            </a:r>
            <a:endParaRPr lang="en-US" sz="1500" dirty="0"/>
          </a:p>
        </p:txBody>
      </p:sp>
      <p:sp>
        <p:nvSpPr>
          <p:cNvPr id="15" name="Text 4"/>
          <p:cNvSpPr/>
          <p:nvPr/>
        </p:nvSpPr>
        <p:spPr>
          <a:xfrm>
            <a:off x="457200" y="4407408"/>
            <a:ext cx="112772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100" kern="0" dirty="0">
                <a:solidFill>
                  <a:srgbClr val="C87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wenn nichts — was sagt das über unsere Zeit?</a:t>
            </a:r>
            <a:endParaRPr lang="en-US" sz="1400" dirty="0"/>
          </a:p>
        </p:txBody>
      </p:sp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82173" y="4983480"/>
            <a:ext cx="6827349" cy="2286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7D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· II · III · IV · V · VI · VII · VIII · IX · X</a:t>
            </a:r>
            <a:endParaRPr lang="en-US" sz="1300" dirty="0"/>
          </a:p>
        </p:txBody>
      </p:sp>
      <p:sp>
        <p:nvSpPr>
          <p:cNvPr id="18" name="Text 6"/>
          <p:cNvSpPr/>
          <p:nvPr/>
        </p:nvSpPr>
        <p:spPr>
          <a:xfrm>
            <a:off x="0" y="5559552"/>
            <a:ext cx="12191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spc="200" kern="0" dirty="0">
                <a:solidFill>
                  <a:srgbClr val="7D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Kapitel. Eine Geschichte. Eure Frage.</a:t>
            </a:r>
            <a:endParaRPr lang="en-US" sz="1200" dirty="0"/>
          </a:p>
        </p:txBody>
      </p:sp>
      <p:sp>
        <p:nvSpPr>
          <p:cNvPr id="1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A2C0C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Anfänge der Kirche in der Antike</dc:title>
  <dc:subject>Geschichte der frühen Christenheit</dc:subject>
  <dc:creator>Schulpräsentation Oberstufe</dc:creator>
  <cp:lastModifiedBy>Schulpräsentation Oberstufe</cp:lastModifiedBy>
  <cp:revision>1</cp:revision>
  <dcterms:created xsi:type="dcterms:W3CDTF">2026-05-27T23:45:14Z</dcterms:created>
  <dcterms:modified xsi:type="dcterms:W3CDTF">2026-05-27T23:45:14Z</dcterms:modified>
</cp:coreProperties>
</file>