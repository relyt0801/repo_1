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image" Target="../media/image-1-4.png"/><Relationship Id="rId5" Type="http://schemas.openxmlformats.org/officeDocument/2006/relationships/image" Target="../media/image-1-5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svg"/><Relationship Id="rId4" Type="http://schemas.openxmlformats.org/officeDocument/2006/relationships/image" Target="../media/image-2-4.png"/><Relationship Id="rId5" Type="http://schemas.openxmlformats.org/officeDocument/2006/relationships/image" Target="../media/image-2-5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svg"/><Relationship Id="rId4" Type="http://schemas.openxmlformats.org/officeDocument/2006/relationships/image" Target="../media/image-3-4.png"/><Relationship Id="rId5" Type="http://schemas.openxmlformats.org/officeDocument/2006/relationships/image" Target="../media/image-3-5.svg"/><Relationship Id="rId6" Type="http://schemas.openxmlformats.org/officeDocument/2006/relationships/image" Target="../media/image-3-6.png"/><Relationship Id="rId7" Type="http://schemas.openxmlformats.org/officeDocument/2006/relationships/image" Target="../media/image-3-7.svg"/><Relationship Id="rId8" Type="http://schemas.openxmlformats.org/officeDocument/2006/relationships/image" Target="../media/image-3-8.png"/><Relationship Id="rId9" Type="http://schemas.openxmlformats.org/officeDocument/2006/relationships/image" Target="../media/image-3-9.svg"/><Relationship Id="rId10" Type="http://schemas.openxmlformats.org/officeDocument/2006/relationships/image" Target="../media/image-3-10.png"/><Relationship Id="rId11" Type="http://schemas.openxmlformats.org/officeDocument/2006/relationships/image" Target="../media/image-3-11.svg"/><Relationship Id="rId12" Type="http://schemas.openxmlformats.org/officeDocument/2006/relationships/image" Target="../media/image-3-12.png"/><Relationship Id="rId13" Type="http://schemas.openxmlformats.org/officeDocument/2006/relationships/image" Target="../media/image-3-13.svg"/><Relationship Id="rId14" Type="http://schemas.openxmlformats.org/officeDocument/2006/relationships/image" Target="../media/image-3-14.png"/><Relationship Id="rId15" Type="http://schemas.openxmlformats.org/officeDocument/2006/relationships/image" Target="../media/image-3-15.svg"/><Relationship Id="rId16" Type="http://schemas.openxmlformats.org/officeDocument/2006/relationships/image" Target="../media/image-3-16.png"/><Relationship Id="rId17" Type="http://schemas.openxmlformats.org/officeDocument/2006/relationships/image" Target="../media/image-3-17.svg"/><Relationship Id="rId18" Type="http://schemas.openxmlformats.org/officeDocument/2006/relationships/image" Target="../media/image-3-18.png"/><Relationship Id="rId19" Type="http://schemas.openxmlformats.org/officeDocument/2006/relationships/image" Target="../media/image-3-19.svg"/><Relationship Id="rId20" Type="http://schemas.openxmlformats.org/officeDocument/2006/relationships/image" Target="../media/image-3-20.png"/><Relationship Id="rId21" Type="http://schemas.openxmlformats.org/officeDocument/2006/relationships/image" Target="../media/image-3-21.svg"/><Relationship Id="rId22" Type="http://schemas.openxmlformats.org/officeDocument/2006/relationships/image" Target="../media/image-3-22.png"/><Relationship Id="rId23" Type="http://schemas.openxmlformats.org/officeDocument/2006/relationships/image" Target="../media/image-3-23.svg"/><Relationship Id="rId24" Type="http://schemas.openxmlformats.org/officeDocument/2006/relationships/slideLayout" Target="../slideLayouts/slideLayout1.xml"/><Relationship Id="rId2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svg"/><Relationship Id="rId4" Type="http://schemas.openxmlformats.org/officeDocument/2006/relationships/image" Target="../media/image-4-4.png"/><Relationship Id="rId5" Type="http://schemas.openxmlformats.org/officeDocument/2006/relationships/image" Target="../media/image-4-5.svg"/><Relationship Id="rId6" Type="http://schemas.openxmlformats.org/officeDocument/2006/relationships/image" Target="../media/image-4-6.png"/><Relationship Id="rId7" Type="http://schemas.openxmlformats.org/officeDocument/2006/relationships/image" Target="../media/image-4-7.svg"/><Relationship Id="rId8" Type="http://schemas.openxmlformats.org/officeDocument/2006/relationships/image" Target="../media/image-4-8.png"/><Relationship Id="rId9" Type="http://schemas.openxmlformats.org/officeDocument/2006/relationships/image" Target="../media/image-4-9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svg"/><Relationship Id="rId4" Type="http://schemas.openxmlformats.org/officeDocument/2006/relationships/image" Target="../media/image-5-4.png"/><Relationship Id="rId5" Type="http://schemas.openxmlformats.org/officeDocument/2006/relationships/image" Target="../media/image-5-5.svg"/><Relationship Id="rId6" Type="http://schemas.openxmlformats.org/officeDocument/2006/relationships/image" Target="../media/image-5-6.png"/><Relationship Id="rId7" Type="http://schemas.openxmlformats.org/officeDocument/2006/relationships/image" Target="../media/image-5-7.sv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svg"/><Relationship Id="rId4" Type="http://schemas.openxmlformats.org/officeDocument/2006/relationships/image" Target="../media/image-6-4.png"/><Relationship Id="rId5" Type="http://schemas.openxmlformats.org/officeDocument/2006/relationships/image" Target="../media/image-6-5.svg"/><Relationship Id="rId6" Type="http://schemas.openxmlformats.org/officeDocument/2006/relationships/image" Target="../media/image-6-6.png"/><Relationship Id="rId7" Type="http://schemas.openxmlformats.org/officeDocument/2006/relationships/image" Target="../media/image-6-7.svg"/><Relationship Id="rId8" Type="http://schemas.openxmlformats.org/officeDocument/2006/relationships/image" Target="../media/image-6-8.png"/><Relationship Id="rId9" Type="http://schemas.openxmlformats.org/officeDocument/2006/relationships/image" Target="../media/image-6-9.svg"/><Relationship Id="rId10" Type="http://schemas.openxmlformats.org/officeDocument/2006/relationships/image" Target="../media/image-6-10.png"/><Relationship Id="rId11" Type="http://schemas.openxmlformats.org/officeDocument/2006/relationships/image" Target="../media/image-6-11.svg"/><Relationship Id="rId12" Type="http://schemas.openxmlformats.org/officeDocument/2006/relationships/image" Target="../media/image-6-12.png"/><Relationship Id="rId13" Type="http://schemas.openxmlformats.org/officeDocument/2006/relationships/image" Target="../media/image-6-13.svg"/><Relationship Id="rId14" Type="http://schemas.openxmlformats.org/officeDocument/2006/relationships/image" Target="../media/image-6-14.png"/><Relationship Id="rId15" Type="http://schemas.openxmlformats.org/officeDocument/2006/relationships/image" Target="../media/image-6-15.sv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svg"/><Relationship Id="rId4" Type="http://schemas.openxmlformats.org/officeDocument/2006/relationships/image" Target="../media/image-7-4.png"/><Relationship Id="rId5" Type="http://schemas.openxmlformats.org/officeDocument/2006/relationships/image" Target="../media/image-7-5.svg"/><Relationship Id="rId6" Type="http://schemas.openxmlformats.org/officeDocument/2006/relationships/image" Target="../media/image-7-6.png"/><Relationship Id="rId7" Type="http://schemas.openxmlformats.org/officeDocument/2006/relationships/image" Target="../media/image-7-7.svg"/><Relationship Id="rId8" Type="http://schemas.openxmlformats.org/officeDocument/2006/relationships/image" Target="../media/image-7-8.png"/><Relationship Id="rId9" Type="http://schemas.openxmlformats.org/officeDocument/2006/relationships/image" Target="../media/image-7-9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svg"/><Relationship Id="rId4" Type="http://schemas.openxmlformats.org/officeDocument/2006/relationships/image" Target="../media/image-8-4.png"/><Relationship Id="rId5" Type="http://schemas.openxmlformats.org/officeDocument/2006/relationships/image" Target="../media/image-8-5.svg"/><Relationship Id="rId6" Type="http://schemas.openxmlformats.org/officeDocument/2006/relationships/image" Target="../media/image-8-6.png"/><Relationship Id="rId7" Type="http://schemas.openxmlformats.org/officeDocument/2006/relationships/image" Target="../media/image-8-7.sv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svg"/><Relationship Id="rId4" Type="http://schemas.openxmlformats.org/officeDocument/2006/relationships/image" Target="../media/image-9-4.png"/><Relationship Id="rId5" Type="http://schemas.openxmlformats.org/officeDocument/2006/relationships/image" Target="../media/image-9-5.svg"/><Relationship Id="rId6" Type="http://schemas.openxmlformats.org/officeDocument/2006/relationships/image" Target="../media/image-9-6.png"/><Relationship Id="rId7" Type="http://schemas.openxmlformats.org/officeDocument/2006/relationships/image" Target="../media/image-9-7.svg"/><Relationship Id="rId8" Type="http://schemas.openxmlformats.org/officeDocument/2006/relationships/image" Target="../media/image-9-8.png"/><Relationship Id="rId9" Type="http://schemas.openxmlformats.org/officeDocument/2006/relationships/image" Target="../media/image-9-9.svg"/><Relationship Id="rId10" Type="http://schemas.openxmlformats.org/officeDocument/2006/relationships/image" Target="../media/image-9-10.png"/><Relationship Id="rId11" Type="http://schemas.openxmlformats.org/officeDocument/2006/relationships/image" Target="../media/image-9-11.svg"/><Relationship Id="rId12" Type="http://schemas.openxmlformats.org/officeDocument/2006/relationships/image" Target="../media/image-9-12.png"/><Relationship Id="rId13" Type="http://schemas.openxmlformats.org/officeDocument/2006/relationships/image" Target="../media/image-9-13.svg"/><Relationship Id="rId14" Type="http://schemas.openxmlformats.org/officeDocument/2006/relationships/image" Target="../media/image-9-14.png"/><Relationship Id="rId15" Type="http://schemas.openxmlformats.org/officeDocument/2006/relationships/image" Target="../media/image-9-15.svg"/><Relationship Id="rId16" Type="http://schemas.openxmlformats.org/officeDocument/2006/relationships/image" Target="../media/image-9-16.png"/><Relationship Id="rId17" Type="http://schemas.openxmlformats.org/officeDocument/2006/relationships/image" Target="../media/image-9-17.svg"/><Relationship Id="rId18" Type="http://schemas.openxmlformats.org/officeDocument/2006/relationships/image" Target="../media/image-9-18.png"/><Relationship Id="rId19" Type="http://schemas.openxmlformats.org/officeDocument/2006/relationships/image" Target="../media/image-9-19.sv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/panthe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1E16">
              <a:alpha val="3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0" y="82296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spc="600" kern="0" dirty="0">
                <a:solidFill>
                  <a:srgbClr val="B886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EINE GESCHICHTE IN 10 KAPITELN</a:t>
            </a:r>
            <a:endParaRPr lang="en-US" sz="11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8339" y="1207008"/>
            <a:ext cx="7315017" cy="3657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0" y="1371600"/>
            <a:ext cx="12191695" cy="146304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6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spc="5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ANFÄNGE DER KIRCHE</a:t>
            </a:r>
            <a:endParaRPr lang="en-US" sz="5800" dirty="0"/>
          </a:p>
        </p:txBody>
      </p:sp>
      <p:sp>
        <p:nvSpPr>
          <p:cNvPr id="7" name="Text 3"/>
          <p:cNvSpPr/>
          <p:nvPr/>
        </p:nvSpPr>
        <p:spPr>
          <a:xfrm>
            <a:off x="0" y="2788920"/>
            <a:ext cx="12191695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6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spc="80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DER ANTIKE</a:t>
            </a:r>
            <a:endParaRPr lang="en-US" sz="28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28754" y="3520440"/>
            <a:ext cx="8534187" cy="3657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0" y="3749040"/>
            <a:ext cx="12191695" cy="54864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6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 12 Männern wurde die größte Religion der Welt. Wie?</a:t>
            </a:r>
            <a:endParaRPr lang="en-US" sz="1600" dirty="0"/>
          </a:p>
        </p:txBody>
      </p:sp>
      <p:sp>
        <p:nvSpPr>
          <p:cNvPr id="10" name="Shap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B8862B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DFC2"/>
          </a:solidFill>
          <a:ln/>
        </p:spPr>
      </p:sp>
      <p:pic>
        <p:nvPicPr>
          <p:cNvPr id="3" name="Image 0" descr="/home/user/uwg_raesfeld_erle_website_repo/images/foru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120512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5120512" cy="6858000"/>
          </a:xfrm>
          <a:prstGeom prst="rect">
            <a:avLst/>
          </a:prstGeom>
          <a:solidFill>
            <a:srgbClr val="D9C39A">
              <a:alpha val="45000"/>
            </a:srgbClr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256032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6601968"/>
            <a:ext cx="12191695" cy="25603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37160" y="731520"/>
            <a:ext cx="4632844" cy="20116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60000"/>
              </a:srgbClr>
            </a:outerShdw>
          </a:effectLst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"Stell dir vor:</a:t>
            </a:r>
            <a:endParaRPr lang="en-US" sz="2200" dirty="0"/>
          </a:p>
          <a:p>
            <a:pPr algn="l" indent="0" marL="0">
              <a:buNone/>
            </a:pPr>
            <a:r>
              <a:rPr lang="en-US" sz="2200" b="1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10.000 Götter."</a:t>
            </a:r>
            <a:endParaRPr lang="en-US" sz="2200" dirty="0"/>
          </a:p>
        </p:txBody>
      </p:sp>
      <p:sp>
        <p:nvSpPr>
          <p:cNvPr id="8" name="Shape 3"/>
          <p:cNvSpPr/>
          <p:nvPr/>
        </p:nvSpPr>
        <p:spPr>
          <a:xfrm>
            <a:off x="5608180" y="502920"/>
            <a:ext cx="6217765" cy="1417320"/>
          </a:xfrm>
          <a:prstGeom prst="rect">
            <a:avLst/>
          </a:prstGeom>
          <a:solidFill>
            <a:srgbClr val="D9C39A"/>
          </a:solidFill>
          <a:ln w="19050">
            <a:solidFill>
              <a:srgbClr val="B8862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60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5608180" y="502920"/>
            <a:ext cx="6217765" cy="73152"/>
          </a:xfrm>
          <a:prstGeom prst="rect">
            <a:avLst/>
          </a:prstGeom>
          <a:solidFill>
            <a:srgbClr val="B8862B"/>
          </a:solidFill>
          <a:ln/>
        </p:spPr>
      </p:sp>
      <p:sp>
        <p:nvSpPr>
          <p:cNvPr id="10" name="Shape 5"/>
          <p:cNvSpPr/>
          <p:nvPr/>
        </p:nvSpPr>
        <p:spPr>
          <a:xfrm>
            <a:off x="5745340" y="612648"/>
            <a:ext cx="384048" cy="384048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11" name="Text 6"/>
          <p:cNvSpPr/>
          <p:nvPr/>
        </p:nvSpPr>
        <p:spPr>
          <a:xfrm>
            <a:off x="5745340" y="621792"/>
            <a:ext cx="384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6202540" y="612648"/>
            <a:ext cx="548624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5C1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POLYTHEISMUS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5745340" y="1069848"/>
            <a:ext cx="594344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jeden Bach.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Jedes Tor. Jeden Beruf.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5608180" y="2130552"/>
            <a:ext cx="6217765" cy="1417320"/>
          </a:xfrm>
          <a:prstGeom prst="rect">
            <a:avLst/>
          </a:prstGeom>
          <a:solidFill>
            <a:srgbClr val="D9C39A"/>
          </a:solidFill>
          <a:ln w="19050">
            <a:solidFill>
              <a:srgbClr val="B8862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60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5608180" y="2130552"/>
            <a:ext cx="6217765" cy="73152"/>
          </a:xfrm>
          <a:prstGeom prst="rect">
            <a:avLst/>
          </a:prstGeom>
          <a:solidFill>
            <a:srgbClr val="B8862B"/>
          </a:solidFill>
          <a:ln/>
        </p:spPr>
      </p:sp>
      <p:sp>
        <p:nvSpPr>
          <p:cNvPr id="16" name="Shape 11"/>
          <p:cNvSpPr/>
          <p:nvPr/>
        </p:nvSpPr>
        <p:spPr>
          <a:xfrm>
            <a:off x="5745340" y="2240280"/>
            <a:ext cx="384048" cy="384048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17" name="Text 12"/>
          <p:cNvSpPr/>
          <p:nvPr/>
        </p:nvSpPr>
        <p:spPr>
          <a:xfrm>
            <a:off x="5745340" y="2249424"/>
            <a:ext cx="384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6202540" y="2240280"/>
            <a:ext cx="548624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5C1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STAATSKULT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5745340" y="2697480"/>
            <a:ext cx="594344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 Kaiser anzubeten war Pflicht.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Religion = Politik.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5608180" y="3758184"/>
            <a:ext cx="6217765" cy="1417320"/>
          </a:xfrm>
          <a:prstGeom prst="rect">
            <a:avLst/>
          </a:prstGeom>
          <a:solidFill>
            <a:srgbClr val="D9C39A"/>
          </a:solidFill>
          <a:ln w="19050">
            <a:solidFill>
              <a:srgbClr val="B8862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6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5608180" y="3758184"/>
            <a:ext cx="6217765" cy="73152"/>
          </a:xfrm>
          <a:prstGeom prst="rect">
            <a:avLst/>
          </a:prstGeom>
          <a:solidFill>
            <a:srgbClr val="B8862B"/>
          </a:solidFill>
          <a:ln/>
        </p:spPr>
      </p:sp>
      <p:sp>
        <p:nvSpPr>
          <p:cNvPr id="22" name="Shape 17"/>
          <p:cNvSpPr/>
          <p:nvPr/>
        </p:nvSpPr>
        <p:spPr>
          <a:xfrm>
            <a:off x="5745340" y="3867912"/>
            <a:ext cx="384048" cy="384048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23" name="Text 18"/>
          <p:cNvSpPr/>
          <p:nvPr/>
        </p:nvSpPr>
        <p:spPr>
          <a:xfrm>
            <a:off x="5745340" y="3877056"/>
            <a:ext cx="384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6202540" y="3867912"/>
            <a:ext cx="548624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5C1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MYSTERIENKULTE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5745340" y="4325112"/>
            <a:ext cx="594344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Geheimreligionen wie Mithras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versprechen Erlösung.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0" y="6108192"/>
            <a:ext cx="12191695" cy="493776"/>
          </a:xfrm>
          <a:prstGeom prst="rect">
            <a:avLst/>
          </a:prstGeom>
          <a:solidFill>
            <a:srgbClr val="A0421A">
              <a:alpha val="85000"/>
            </a:srgbClr>
          </a:solidFill>
          <a:ln/>
        </p:spPr>
      </p:sp>
      <p:sp>
        <p:nvSpPr>
          <p:cNvPr id="27" name="Text 22"/>
          <p:cNvSpPr/>
          <p:nvPr/>
        </p:nvSpPr>
        <p:spPr>
          <a:xfrm>
            <a:off x="274320" y="6144768"/>
            <a:ext cx="11643055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"Glaube als persönliche Beziehung — diese Idee gab es nicht."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DFC2"/>
          </a:solidFill>
          <a:ln/>
        </p:spPr>
      </p:sp>
      <p:pic>
        <p:nvPicPr>
          <p:cNvPr id="3" name="Image 0" descr="/home/user/uwg_raesfeld_erle_website_repo/images/parthen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DFC2">
              <a:alpha val="30000"/>
            </a:srgbClr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256032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6601968"/>
            <a:ext cx="12191695" cy="25603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11480"/>
            <a:ext cx="11460175" cy="10972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6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5C1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"Ohne Alexander den Großen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i="1" dirty="0">
                <a:solidFill>
                  <a:srgbClr val="5C1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kein Paulus in Athen."</a:t>
            </a:r>
            <a:endParaRPr lang="en-US" sz="2400" dirty="0"/>
          </a:p>
        </p:txBody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7200" y="1554480"/>
            <a:ext cx="11277295" cy="36576"/>
          </a:xfrm>
          <a:prstGeom prst="rect">
            <a:avLst/>
          </a:prstGeom>
        </p:spPr>
      </p:pic>
      <p:pic>
        <p:nvPicPr>
          <p:cNvPr id="9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74320" y="1691640"/>
            <a:ext cx="2842184" cy="4297680"/>
          </a:xfrm>
          <a:prstGeom prst="rect">
            <a:avLst/>
          </a:prstGeom>
        </p:spPr>
      </p:pic>
      <p:sp>
        <p:nvSpPr>
          <p:cNvPr id="10" name="Shape 3"/>
          <p:cNvSpPr/>
          <p:nvPr/>
        </p:nvSpPr>
        <p:spPr>
          <a:xfrm>
            <a:off x="1466812" y="1874520"/>
            <a:ext cx="457200" cy="457200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11" name="Text 4"/>
          <p:cNvSpPr/>
          <p:nvPr/>
        </p:nvSpPr>
        <p:spPr>
          <a:xfrm>
            <a:off x="1466812" y="1883664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1400" dirty="0"/>
          </a:p>
        </p:txBody>
      </p:sp>
      <p:sp>
        <p:nvSpPr>
          <p:cNvPr id="12" name="Text 5"/>
          <p:cNvSpPr/>
          <p:nvPr/>
        </p:nvSpPr>
        <p:spPr>
          <a:xfrm>
            <a:off x="347472" y="2441448"/>
            <a:ext cx="2695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5C1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SPRACHE</a:t>
            </a:r>
            <a:endParaRPr lang="en-US" sz="1200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65760" y="2953512"/>
            <a:ext cx="2659304" cy="2286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365760" y="3081528"/>
            <a:ext cx="2659304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Koine-Griechisch. Sprache des halben Imperiums. Das NT wird auf Griechisch geschrieben.</a:t>
            </a:r>
            <a:endParaRPr lang="en-US" sz="1150" dirty="0"/>
          </a:p>
        </p:txBody>
      </p:sp>
      <p:pic>
        <p:nvPicPr>
          <p:cNvPr id="15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207944" y="1691640"/>
            <a:ext cx="2842184" cy="4297680"/>
          </a:xfrm>
          <a:prstGeom prst="rect">
            <a:avLst/>
          </a:prstGeom>
        </p:spPr>
      </p:pic>
      <p:sp>
        <p:nvSpPr>
          <p:cNvPr id="16" name="Shape 7"/>
          <p:cNvSpPr/>
          <p:nvPr/>
        </p:nvSpPr>
        <p:spPr>
          <a:xfrm>
            <a:off x="4400436" y="1874520"/>
            <a:ext cx="457200" cy="457200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17" name="Text 8"/>
          <p:cNvSpPr/>
          <p:nvPr/>
        </p:nvSpPr>
        <p:spPr>
          <a:xfrm>
            <a:off x="4400436" y="1883664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1400" dirty="0"/>
          </a:p>
        </p:txBody>
      </p:sp>
      <p:sp>
        <p:nvSpPr>
          <p:cNvPr id="18" name="Text 9"/>
          <p:cNvSpPr/>
          <p:nvPr/>
        </p:nvSpPr>
        <p:spPr>
          <a:xfrm>
            <a:off x="3281096" y="2441448"/>
            <a:ext cx="2695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5C1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BIBEL</a:t>
            </a:r>
            <a:endParaRPr lang="en-US" sz="1200" dirty="0"/>
          </a:p>
        </p:txBody>
      </p:sp>
      <p:pic>
        <p:nvPicPr>
          <p:cNvPr id="19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299384" y="2953512"/>
            <a:ext cx="2659304" cy="22860"/>
          </a:xfrm>
          <a:prstGeom prst="rect">
            <a:avLst/>
          </a:prstGeom>
        </p:spPr>
      </p:pic>
      <p:sp>
        <p:nvSpPr>
          <p:cNvPr id="20" name="Text 10"/>
          <p:cNvSpPr/>
          <p:nvPr/>
        </p:nvSpPr>
        <p:spPr>
          <a:xfrm>
            <a:off x="3299384" y="3081528"/>
            <a:ext cx="2659304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Septuaginta (~250 v. Chr.). Juden lesen ihre eigene Schrift bereits griechisch.</a:t>
            </a:r>
            <a:endParaRPr lang="en-US" sz="1150" dirty="0"/>
          </a:p>
        </p:txBody>
      </p:sp>
      <p:pic>
        <p:nvPicPr>
          <p:cNvPr id="21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141568" y="1691640"/>
            <a:ext cx="2842184" cy="4297680"/>
          </a:xfrm>
          <a:prstGeom prst="rect">
            <a:avLst/>
          </a:prstGeom>
        </p:spPr>
      </p:pic>
      <p:sp>
        <p:nvSpPr>
          <p:cNvPr id="22" name="Shape 11"/>
          <p:cNvSpPr/>
          <p:nvPr/>
        </p:nvSpPr>
        <p:spPr>
          <a:xfrm>
            <a:off x="7334059" y="1874520"/>
            <a:ext cx="457200" cy="457200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23" name="Text 12"/>
          <p:cNvSpPr/>
          <p:nvPr/>
        </p:nvSpPr>
        <p:spPr>
          <a:xfrm>
            <a:off x="7334059" y="1883664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1400" dirty="0"/>
          </a:p>
        </p:txBody>
      </p:sp>
      <p:sp>
        <p:nvSpPr>
          <p:cNvPr id="24" name="Text 13"/>
          <p:cNvSpPr/>
          <p:nvPr/>
        </p:nvSpPr>
        <p:spPr>
          <a:xfrm>
            <a:off x="6214720" y="2441448"/>
            <a:ext cx="2695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5C1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PHILOSOPHIE</a:t>
            </a:r>
            <a:endParaRPr lang="en-US" sz="1200" dirty="0"/>
          </a:p>
        </p:txBody>
      </p:sp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233008" y="2953512"/>
            <a:ext cx="2659304" cy="22860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6233008" y="3081528"/>
            <a:ext cx="2659304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"Im Anfang war der Logos" — Johannes klaut Platon.</a:t>
            </a:r>
            <a:endParaRPr lang="en-US" sz="1150" dirty="0"/>
          </a:p>
        </p:txBody>
      </p:sp>
      <p:pic>
        <p:nvPicPr>
          <p:cNvPr id="27" name="Image 10" descr="preencoded.png">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075191" y="1691640"/>
            <a:ext cx="2842184" cy="4297680"/>
          </a:xfrm>
          <a:prstGeom prst="rect">
            <a:avLst/>
          </a:prstGeom>
        </p:spPr>
      </p:pic>
      <p:sp>
        <p:nvSpPr>
          <p:cNvPr id="28" name="Shape 15"/>
          <p:cNvSpPr/>
          <p:nvPr/>
        </p:nvSpPr>
        <p:spPr>
          <a:xfrm>
            <a:off x="10267683" y="1874520"/>
            <a:ext cx="457200" cy="457200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29" name="Text 16"/>
          <p:cNvSpPr/>
          <p:nvPr/>
        </p:nvSpPr>
        <p:spPr>
          <a:xfrm>
            <a:off x="10267683" y="1883664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</a:t>
            </a:r>
            <a:endParaRPr lang="en-US" sz="1400" dirty="0"/>
          </a:p>
        </p:txBody>
      </p:sp>
      <p:sp>
        <p:nvSpPr>
          <p:cNvPr id="30" name="Text 17"/>
          <p:cNvSpPr/>
          <p:nvPr/>
        </p:nvSpPr>
        <p:spPr>
          <a:xfrm>
            <a:off x="9148343" y="2441448"/>
            <a:ext cx="2695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5C1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STÄDTE</a:t>
            </a:r>
            <a:endParaRPr lang="en-US" sz="1200" dirty="0"/>
          </a:p>
        </p:txBody>
      </p:sp>
      <p:pic>
        <p:nvPicPr>
          <p:cNvPr id="31" name="Image 11" descr="preencoded.png">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166631" y="2953512"/>
            <a:ext cx="2659304" cy="22860"/>
          </a:xfrm>
          <a:prstGeom prst="rect">
            <a:avLst/>
          </a:prstGeom>
        </p:spPr>
      </p:pic>
      <p:sp>
        <p:nvSpPr>
          <p:cNvPr id="32" name="Text 18"/>
          <p:cNvSpPr/>
          <p:nvPr/>
        </p:nvSpPr>
        <p:spPr>
          <a:xfrm>
            <a:off x="9166631" y="3081528"/>
            <a:ext cx="2659304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Alexander hinterlässt ein Städte-Netz. Paulus' Missionsrouten existieren bereits.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DFC2"/>
          </a:solidFill>
          <a:ln/>
        </p:spPr>
      </p:sp>
      <p:pic>
        <p:nvPicPr>
          <p:cNvPr id="3" name="Image 0" descr="/home/user/uwg_raesfeld_erle_website_repo/images/catacomb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389010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4389010" cy="6858000"/>
          </a:xfrm>
          <a:prstGeom prst="rect">
            <a:avLst/>
          </a:prstGeom>
          <a:solidFill>
            <a:srgbClr val="2B1810">
              <a:alpha val="30000"/>
            </a:srgbClr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256032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6601968"/>
            <a:ext cx="12191695" cy="25603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632844" y="384048"/>
            <a:ext cx="7193100" cy="164592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60000"/>
              </a:srgbClr>
            </a:outerShdw>
          </a:effectLst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5C1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n. Chr.</a:t>
            </a:r>
            <a:endParaRPr lang="en-US" sz="2200" dirty="0"/>
          </a:p>
          <a:p>
            <a:pPr algn="l" indent="0" marL="0">
              <a:buNone/>
            </a:pPr>
            <a:r>
              <a:rPr lang="en-US" sz="2200" b="1" dirty="0">
                <a:solidFill>
                  <a:srgbClr val="5C1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Wanderprediger</a:t>
            </a:r>
            <a:endParaRPr lang="en-US" sz="2200" dirty="0"/>
          </a:p>
          <a:p>
            <a:pPr algn="l" indent="0" marL="0">
              <a:buNone/>
            </a:pPr>
            <a:r>
              <a:rPr lang="en-US" sz="2200" b="1" dirty="0">
                <a:solidFill>
                  <a:srgbClr val="5C1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wird hingerichtet.</a:t>
            </a:r>
            <a:endParaRPr lang="en-US" sz="2200" dirty="0"/>
          </a:p>
        </p:txBody>
      </p:sp>
      <p:sp>
        <p:nvSpPr>
          <p:cNvPr id="8" name="Text 3"/>
          <p:cNvSpPr/>
          <p:nvPr/>
        </p:nvSpPr>
        <p:spPr>
          <a:xfrm>
            <a:off x="4632844" y="2029968"/>
            <a:ext cx="71931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A04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Tage später behaupten seine Anhänger, er sei zurück.</a:t>
            </a:r>
            <a:endParaRPr lang="en-US" sz="140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2844" y="2761488"/>
            <a:ext cx="7071183" cy="36576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4632844" y="3017520"/>
            <a:ext cx="256032" cy="256032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11" name="Shape 5"/>
          <p:cNvSpPr/>
          <p:nvPr/>
        </p:nvSpPr>
        <p:spPr>
          <a:xfrm>
            <a:off x="4751716" y="3273552"/>
            <a:ext cx="0" cy="640080"/>
          </a:xfrm>
          <a:prstGeom prst="line">
            <a:avLst/>
          </a:prstGeom>
          <a:noFill/>
          <a:ln w="19050">
            <a:solidFill>
              <a:srgbClr val="B8862B"/>
            </a:solidFill>
            <a:prstDash val="solid"/>
          </a:ln>
        </p:spPr>
      </p:sp>
      <p:sp>
        <p:nvSpPr>
          <p:cNvPr id="12" name="Text 6"/>
          <p:cNvSpPr/>
          <p:nvPr/>
        </p:nvSpPr>
        <p:spPr>
          <a:xfrm>
            <a:off x="5016892" y="29718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~30 n. Chr.</a:t>
            </a: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5016892" y="3246120"/>
            <a:ext cx="69492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 Jesu. Gekreuzigt unter Pontius Pilatus.</a:t>
            </a:r>
            <a:endParaRPr lang="en-US" sz="1250" dirty="0"/>
          </a:p>
        </p:txBody>
      </p:sp>
      <p:sp>
        <p:nvSpPr>
          <p:cNvPr id="14" name="Shape 8"/>
          <p:cNvSpPr/>
          <p:nvPr/>
        </p:nvSpPr>
        <p:spPr>
          <a:xfrm>
            <a:off x="4632844" y="3931920"/>
            <a:ext cx="256032" cy="256032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15" name="Shape 9"/>
          <p:cNvSpPr/>
          <p:nvPr/>
        </p:nvSpPr>
        <p:spPr>
          <a:xfrm>
            <a:off x="4751716" y="4187952"/>
            <a:ext cx="0" cy="640080"/>
          </a:xfrm>
          <a:prstGeom prst="line">
            <a:avLst/>
          </a:prstGeom>
          <a:noFill/>
          <a:ln w="19050">
            <a:solidFill>
              <a:srgbClr val="B8862B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5016892" y="38862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Pfingsten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5016892" y="4160520"/>
            <a:ext cx="69492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~120 Anhänger. Eine Erfahrung, die alles ändert.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4632844" y="4846320"/>
            <a:ext cx="256032" cy="256032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19" name="Text 13"/>
          <p:cNvSpPr/>
          <p:nvPr/>
        </p:nvSpPr>
        <p:spPr>
          <a:xfrm>
            <a:off x="5016892" y="48006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30–50 n. Chr.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5016892" y="5074920"/>
            <a:ext cx="694926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 Gemeinden. Leben in Gütergemeinschaft. Noch als Juden.</a:t>
            </a:r>
            <a:endParaRPr lang="en-US" sz="125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1440" y="5852160"/>
            <a:ext cx="1097280" cy="5029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280160" y="5897880"/>
            <a:ext cx="4267093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B886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ΙΧΘΥΣ — "Jesus Christus Gottes Sohn Retter"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DFC2"/>
          </a:solidFill>
          <a:ln/>
        </p:spPr>
      </p:sp>
      <p:pic>
        <p:nvPicPr>
          <p:cNvPr id="3" name="Image 0" descr="/home/user/uwg_raesfeld_erle_website_repo/images/osti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39682" y="0"/>
            <a:ext cx="5852014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39682" y="0"/>
            <a:ext cx="5852014" cy="6858000"/>
          </a:xfrm>
          <a:prstGeom prst="rect">
            <a:avLst/>
          </a:prstGeom>
          <a:solidFill>
            <a:srgbClr val="D9C39A">
              <a:alpha val="35000"/>
            </a:srgbClr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256032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6601968"/>
            <a:ext cx="12191695" cy="25603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20040" y="384048"/>
            <a:ext cx="6095848" cy="137160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60000"/>
              </a:srgbClr>
            </a:outerShdw>
          </a:effectLst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rgbClr val="5C1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"Der Mann, der Christen jagte,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i="1" dirty="0">
                <a:solidFill>
                  <a:srgbClr val="5C1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wurde ihr wichtigster Missionar."</a:t>
            </a:r>
            <a:endParaRPr lang="en-US" sz="2000" dirty="0"/>
          </a:p>
        </p:txBody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0040" y="1828800"/>
            <a:ext cx="6095848" cy="36576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320040" y="2066544"/>
            <a:ext cx="237744" cy="237744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10" name="Shape 4"/>
          <p:cNvSpPr/>
          <p:nvPr/>
        </p:nvSpPr>
        <p:spPr>
          <a:xfrm>
            <a:off x="420624" y="2304288"/>
            <a:ext cx="0" cy="475488"/>
          </a:xfrm>
          <a:prstGeom prst="line">
            <a:avLst/>
          </a:prstGeom>
          <a:noFill/>
          <a:ln w="15240">
            <a:solidFill>
              <a:srgbClr val="B8862B"/>
            </a:solidFill>
            <a:prstDash val="solid"/>
          </a:ln>
        </p:spPr>
      </p:sp>
      <p:sp>
        <p:nvSpPr>
          <p:cNvPr id="11" name="Text 5"/>
          <p:cNvSpPr/>
          <p:nvPr/>
        </p:nvSpPr>
        <p:spPr>
          <a:xfrm>
            <a:off x="685800" y="20116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B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ANTIOCHIA</a:t>
            </a:r>
            <a:endParaRPr lang="en-US" sz="1300" dirty="0"/>
          </a:p>
        </p:txBody>
      </p:sp>
      <p:sp>
        <p:nvSpPr>
          <p:cNvPr id="12" name="Text 6"/>
          <p:cNvSpPr/>
          <p:nvPr/>
        </p:nvSpPr>
        <p:spPr>
          <a:xfrm>
            <a:off x="685800" y="2267712"/>
            <a:ext cx="573009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A04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 nennt man sie zum ersten Mal "Christen"</a:t>
            </a:r>
            <a:endParaRPr lang="en-US" sz="1200" dirty="0"/>
          </a:p>
        </p:txBody>
      </p:sp>
      <p:sp>
        <p:nvSpPr>
          <p:cNvPr id="13" name="Shape 7"/>
          <p:cNvSpPr/>
          <p:nvPr/>
        </p:nvSpPr>
        <p:spPr>
          <a:xfrm>
            <a:off x="320040" y="2816352"/>
            <a:ext cx="237744" cy="237744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14" name="Shape 8"/>
          <p:cNvSpPr/>
          <p:nvPr/>
        </p:nvSpPr>
        <p:spPr>
          <a:xfrm>
            <a:off x="420624" y="3054096"/>
            <a:ext cx="0" cy="475488"/>
          </a:xfrm>
          <a:prstGeom prst="line">
            <a:avLst/>
          </a:prstGeom>
          <a:noFill/>
          <a:ln w="15240">
            <a:solidFill>
              <a:srgbClr val="B8862B"/>
            </a:solidFill>
            <a:prstDash val="solid"/>
          </a:ln>
        </p:spPr>
      </p:sp>
      <p:sp>
        <p:nvSpPr>
          <p:cNvPr id="15" name="Text 9"/>
          <p:cNvSpPr/>
          <p:nvPr/>
        </p:nvSpPr>
        <p:spPr>
          <a:xfrm>
            <a:off x="685800" y="276148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B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KORINTH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685800" y="3017520"/>
            <a:ext cx="573009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A04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Monate. Wichtigste Handelsstadt des Ostens.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320040" y="3566160"/>
            <a:ext cx="237744" cy="237744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18" name="Shape 12"/>
          <p:cNvSpPr/>
          <p:nvPr/>
        </p:nvSpPr>
        <p:spPr>
          <a:xfrm>
            <a:off x="420624" y="3803904"/>
            <a:ext cx="0" cy="475488"/>
          </a:xfrm>
          <a:prstGeom prst="line">
            <a:avLst/>
          </a:prstGeom>
          <a:noFill/>
          <a:ln w="15240">
            <a:solidFill>
              <a:srgbClr val="B8862B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685800" y="3511296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B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ATHEN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685800" y="3767328"/>
            <a:ext cx="573009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A04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Areopag-Rede. Zitiert griechische Dichter.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320040" y="4315968"/>
            <a:ext cx="237744" cy="237744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22" name="Shape 16"/>
          <p:cNvSpPr/>
          <p:nvPr/>
        </p:nvSpPr>
        <p:spPr>
          <a:xfrm>
            <a:off x="420624" y="4553712"/>
            <a:ext cx="0" cy="475488"/>
          </a:xfrm>
          <a:prstGeom prst="line">
            <a:avLst/>
          </a:prstGeom>
          <a:noFill/>
          <a:ln w="15240">
            <a:solidFill>
              <a:srgbClr val="B8862B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685800" y="426110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B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EPHESUS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685800" y="4517136"/>
            <a:ext cx="573009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A04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Gegen den Artemis-Kult. Beinahe-Aufstand.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320040" y="5065776"/>
            <a:ext cx="237744" cy="237744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26" name="Text 20"/>
          <p:cNvSpPr/>
          <p:nvPr/>
        </p:nvSpPr>
        <p:spPr>
          <a:xfrm>
            <a:off x="685800" y="501091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B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ROM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685800" y="5266944"/>
            <a:ext cx="573009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A04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 unter Nero, ~64 n. Chr.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0" y="6053328"/>
            <a:ext cx="12191695" cy="548640"/>
          </a:xfrm>
          <a:prstGeom prst="rect">
            <a:avLst/>
          </a:prstGeom>
          <a:solidFill>
            <a:srgbClr val="A0421A">
              <a:alpha val="80000"/>
            </a:srgbClr>
          </a:solidFill>
          <a:ln/>
        </p:spPr>
      </p:sp>
      <p:sp>
        <p:nvSpPr>
          <p:cNvPr id="29" name="Text 23"/>
          <p:cNvSpPr/>
          <p:nvPr/>
        </p:nvSpPr>
        <p:spPr>
          <a:xfrm>
            <a:off x="274320" y="6071616"/>
            <a:ext cx="11643055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Missionsreisen. 13 Briefe im NT. Wahrscheinlich nie Jesus persönlich getroffen.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/colosseu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5000"/>
            </a:srgbClr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256032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6601968"/>
            <a:ext cx="12191695" cy="256032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0" y="457200"/>
            <a:ext cx="12191695" cy="146304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6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"Wie tötet man eine Religion?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Antwort: Man kann nicht."</a:t>
            </a:r>
            <a:endParaRPr lang="en-US" sz="3000" dirty="0"/>
          </a:p>
        </p:txBody>
      </p:sp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19170" y="2011680"/>
            <a:ext cx="9753356" cy="36576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274320" y="2240280"/>
            <a:ext cx="3789578" cy="2286000"/>
          </a:xfrm>
          <a:prstGeom prst="rect">
            <a:avLst/>
          </a:prstGeom>
          <a:solidFill>
            <a:srgbClr val="5C1E16">
              <a:alpha val="80000"/>
            </a:srgbClr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9" name="Shape 3"/>
          <p:cNvSpPr/>
          <p:nvPr/>
        </p:nvSpPr>
        <p:spPr>
          <a:xfrm>
            <a:off x="274320" y="2240280"/>
            <a:ext cx="3789578" cy="64008"/>
          </a:xfrm>
          <a:prstGeom prst="rect">
            <a:avLst/>
          </a:prstGeom>
          <a:solidFill>
            <a:srgbClr val="B8862B"/>
          </a:solidFill>
          <a:ln/>
        </p:spPr>
      </p:sp>
      <p:sp>
        <p:nvSpPr>
          <p:cNvPr id="10" name="Text 4"/>
          <p:cNvSpPr/>
          <p:nvPr/>
        </p:nvSpPr>
        <p:spPr>
          <a:xfrm>
            <a:off x="365760" y="2377440"/>
            <a:ext cx="360669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64</a:t>
            </a:r>
            <a:endParaRPr lang="en-US" sz="2600" dirty="0"/>
          </a:p>
        </p:txBody>
      </p:sp>
      <p:sp>
        <p:nvSpPr>
          <p:cNvPr id="11" name="Text 5"/>
          <p:cNvSpPr/>
          <p:nvPr/>
        </p:nvSpPr>
        <p:spPr>
          <a:xfrm>
            <a:off x="365760" y="2862072"/>
            <a:ext cx="36066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NERO</a:t>
            </a:r>
            <a:endParaRPr lang="en-US" sz="13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57200" y="3264408"/>
            <a:ext cx="3423818" cy="2286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384048" y="3355848"/>
            <a:ext cx="357012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E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Sündenbock nach dem Brand Roms.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5E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Petrus und Paulus sterben.</a:t>
            </a:r>
            <a:endParaRPr lang="en-US" sz="1200" dirty="0"/>
          </a:p>
        </p:txBody>
      </p:sp>
      <p:sp>
        <p:nvSpPr>
          <p:cNvPr id="14" name="Shape 7"/>
          <p:cNvSpPr/>
          <p:nvPr/>
        </p:nvSpPr>
        <p:spPr>
          <a:xfrm>
            <a:off x="4201058" y="2240280"/>
            <a:ext cx="3789578" cy="2286000"/>
          </a:xfrm>
          <a:prstGeom prst="rect">
            <a:avLst/>
          </a:prstGeom>
          <a:solidFill>
            <a:srgbClr val="5C1E16">
              <a:alpha val="80000"/>
            </a:srgbClr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15" name="Shape 8"/>
          <p:cNvSpPr/>
          <p:nvPr/>
        </p:nvSpPr>
        <p:spPr>
          <a:xfrm>
            <a:off x="4201058" y="2240280"/>
            <a:ext cx="3789578" cy="64008"/>
          </a:xfrm>
          <a:prstGeom prst="rect">
            <a:avLst/>
          </a:prstGeom>
          <a:solidFill>
            <a:srgbClr val="B8862B"/>
          </a:solidFill>
          <a:ln/>
        </p:spPr>
      </p:sp>
      <p:sp>
        <p:nvSpPr>
          <p:cNvPr id="16" name="Text 9"/>
          <p:cNvSpPr/>
          <p:nvPr/>
        </p:nvSpPr>
        <p:spPr>
          <a:xfrm>
            <a:off x="4292498" y="2377440"/>
            <a:ext cx="360669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250</a:t>
            </a:r>
            <a:endParaRPr lang="en-US" sz="2600" dirty="0"/>
          </a:p>
        </p:txBody>
      </p:sp>
      <p:sp>
        <p:nvSpPr>
          <p:cNvPr id="17" name="Text 10"/>
          <p:cNvSpPr/>
          <p:nvPr/>
        </p:nvSpPr>
        <p:spPr>
          <a:xfrm>
            <a:off x="4292498" y="2862072"/>
            <a:ext cx="36066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DECIUS</a:t>
            </a:r>
            <a:endParaRPr lang="en-US" sz="130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383938" y="3264408"/>
            <a:ext cx="3423818" cy="2286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4310786" y="3355848"/>
            <a:ext cx="357012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E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 reichsweite Verfolgung.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5E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Opferzettel für jeden Bürger.</a:t>
            </a:r>
            <a:endParaRPr lang="en-US" sz="1200" dirty="0"/>
          </a:p>
        </p:txBody>
      </p:sp>
      <p:sp>
        <p:nvSpPr>
          <p:cNvPr id="20" name="Shape 12"/>
          <p:cNvSpPr/>
          <p:nvPr/>
        </p:nvSpPr>
        <p:spPr>
          <a:xfrm>
            <a:off x="8127797" y="2240280"/>
            <a:ext cx="3789578" cy="2286000"/>
          </a:xfrm>
          <a:prstGeom prst="rect">
            <a:avLst/>
          </a:prstGeom>
          <a:solidFill>
            <a:srgbClr val="5C1E16">
              <a:alpha val="80000"/>
            </a:srgbClr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21" name="Shape 13"/>
          <p:cNvSpPr/>
          <p:nvPr/>
        </p:nvSpPr>
        <p:spPr>
          <a:xfrm>
            <a:off x="8127797" y="2240280"/>
            <a:ext cx="3789578" cy="64008"/>
          </a:xfrm>
          <a:prstGeom prst="rect">
            <a:avLst/>
          </a:prstGeom>
          <a:solidFill>
            <a:srgbClr val="B8862B"/>
          </a:solidFill>
          <a:ln/>
        </p:spPr>
      </p:sp>
      <p:sp>
        <p:nvSpPr>
          <p:cNvPr id="22" name="Text 14"/>
          <p:cNvSpPr/>
          <p:nvPr/>
        </p:nvSpPr>
        <p:spPr>
          <a:xfrm>
            <a:off x="8219237" y="2377440"/>
            <a:ext cx="360669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303</a:t>
            </a:r>
            <a:endParaRPr lang="en-US" sz="2600" dirty="0"/>
          </a:p>
        </p:txBody>
      </p:sp>
      <p:sp>
        <p:nvSpPr>
          <p:cNvPr id="23" name="Text 15"/>
          <p:cNvSpPr/>
          <p:nvPr/>
        </p:nvSpPr>
        <p:spPr>
          <a:xfrm>
            <a:off x="8219237" y="2862072"/>
            <a:ext cx="36066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DIOKLETIAN</a:t>
            </a:r>
            <a:endParaRPr lang="en-US" sz="1300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310677" y="3264408"/>
            <a:ext cx="3423818" cy="2286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8237525" y="3355848"/>
            <a:ext cx="357012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E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schwerste Welle.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5E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Schriften verbrannt, tausende Tote.</a:t>
            </a:r>
            <a:endParaRPr lang="en-US" sz="1200" dirty="0"/>
          </a:p>
        </p:txBody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219170" y="4681728"/>
            <a:ext cx="9753356" cy="36576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0" y="4773168"/>
            <a:ext cx="12191695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6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"Das Blut der Märtyrer ist Same der Kirche."</a:t>
            </a:r>
            <a:endParaRPr lang="en-US" sz="1700" dirty="0"/>
          </a:p>
        </p:txBody>
      </p:sp>
      <p:sp>
        <p:nvSpPr>
          <p:cNvPr id="28" name="Text 18"/>
          <p:cNvSpPr/>
          <p:nvPr/>
        </p:nvSpPr>
        <p:spPr>
          <a:xfrm>
            <a:off x="0" y="5376672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86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Tertullian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1E16"/>
          </a:solidFill>
          <a:ln/>
        </p:spPr>
      </p:sp>
      <p:pic>
        <p:nvPicPr>
          <p:cNvPr id="3" name="Image 0" descr="/home/user/uwg_raesfeld_erle_website_repo/images/constantine_arch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39682" y="0"/>
            <a:ext cx="5852014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39682" y="0"/>
            <a:ext cx="5852014" cy="6858000"/>
          </a:xfrm>
          <a:prstGeom prst="rect">
            <a:avLst/>
          </a:prstGeom>
          <a:solidFill>
            <a:srgbClr val="5C1E16">
              <a:alpha val="50000"/>
            </a:srgbClr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256032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6601968"/>
            <a:ext cx="12191695" cy="256032"/>
          </a:xfrm>
          <a:prstGeom prst="rect">
            <a:avLst/>
          </a:prstGeom>
        </p:spPr>
      </p:pic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4320" y="1645920"/>
            <a:ext cx="2560320" cy="2560320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487668" y="384048"/>
            <a:ext cx="6339682" cy="658368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60000"/>
              </a:srgbClr>
            </a:outerShdw>
          </a:effectLst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312. Ein Kaiser hat einen Traum.</a:t>
            </a:r>
            <a:endParaRPr lang="en-US" sz="2400" dirty="0"/>
          </a:p>
        </p:txBody>
      </p:sp>
      <p:sp>
        <p:nvSpPr>
          <p:cNvPr id="9" name="Text 3"/>
          <p:cNvSpPr/>
          <p:nvPr/>
        </p:nvSpPr>
        <p:spPr>
          <a:xfrm>
            <a:off x="487668" y="1024128"/>
            <a:ext cx="6095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5E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 das ganze Reich wechselt die Religion.</a:t>
            </a:r>
            <a:endParaRPr lang="en-US" sz="1500" dirty="0"/>
          </a:p>
        </p:txBody>
      </p:sp>
      <p:sp>
        <p:nvSpPr>
          <p:cNvPr id="10" name="Shape 4"/>
          <p:cNvSpPr/>
          <p:nvPr/>
        </p:nvSpPr>
        <p:spPr>
          <a:xfrm>
            <a:off x="6339682" y="347472"/>
            <a:ext cx="5608180" cy="1234440"/>
          </a:xfrm>
          <a:prstGeom prst="rect">
            <a:avLst/>
          </a:prstGeom>
          <a:solidFill>
            <a:srgbClr val="000000">
              <a:alpha val="45000"/>
            </a:srgbClr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11" name="Text 5"/>
          <p:cNvSpPr/>
          <p:nvPr/>
        </p:nvSpPr>
        <p:spPr>
          <a:xfrm>
            <a:off x="6449410" y="42062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312</a:t>
            </a:r>
            <a:endParaRPr lang="en-US" sz="2600" dirty="0"/>
          </a:p>
        </p:txBody>
      </p:sp>
      <p:sp>
        <p:nvSpPr>
          <p:cNvPr id="12" name="Text 6"/>
          <p:cNvSpPr/>
          <p:nvPr/>
        </p:nvSpPr>
        <p:spPr>
          <a:xfrm>
            <a:off x="6449410" y="877824"/>
            <a:ext cx="538872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5E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Schlacht an der Milvischen Brücke.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F5E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Konstantin siegt unter dem Chi-Rho.</a:t>
            </a:r>
            <a:endParaRPr lang="en-US" sz="1250" dirty="0"/>
          </a:p>
        </p:txBody>
      </p:sp>
      <p:sp>
        <p:nvSpPr>
          <p:cNvPr id="13" name="Shape 7"/>
          <p:cNvSpPr/>
          <p:nvPr/>
        </p:nvSpPr>
        <p:spPr>
          <a:xfrm>
            <a:off x="6339682" y="1719072"/>
            <a:ext cx="5608180" cy="1234440"/>
          </a:xfrm>
          <a:prstGeom prst="rect">
            <a:avLst/>
          </a:prstGeom>
          <a:solidFill>
            <a:srgbClr val="000000">
              <a:alpha val="45000"/>
            </a:srgbClr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6449410" y="179222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313</a:t>
            </a:r>
            <a:endParaRPr lang="en-US" sz="2600" dirty="0"/>
          </a:p>
        </p:txBody>
      </p:sp>
      <p:sp>
        <p:nvSpPr>
          <p:cNvPr id="15" name="Text 9"/>
          <p:cNvSpPr/>
          <p:nvPr/>
        </p:nvSpPr>
        <p:spPr>
          <a:xfrm>
            <a:off x="6449410" y="2249424"/>
            <a:ext cx="538872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5E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Mailänder Vereinbarung. Religionsfreiheit.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F5E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Kirchen werden zurückgegeben.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6339682" y="3090672"/>
            <a:ext cx="5608180" cy="1234440"/>
          </a:xfrm>
          <a:prstGeom prst="rect">
            <a:avLst/>
          </a:prstGeom>
          <a:solidFill>
            <a:srgbClr val="000000">
              <a:alpha val="45000"/>
            </a:srgbClr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6449410" y="316382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325</a:t>
            </a:r>
            <a:endParaRPr lang="en-US" sz="2600" dirty="0"/>
          </a:p>
        </p:txBody>
      </p:sp>
      <p:sp>
        <p:nvSpPr>
          <p:cNvPr id="18" name="Text 12"/>
          <p:cNvSpPr/>
          <p:nvPr/>
        </p:nvSpPr>
        <p:spPr>
          <a:xfrm>
            <a:off x="6449410" y="3621024"/>
            <a:ext cx="538872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5E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Konzil von Nicäa. Erste reichsweite Synode.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F5E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Glaubensbekenntnis.</a:t>
            </a:r>
            <a:endParaRPr lang="en-US" sz="125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74320" y="6199632"/>
            <a:ext cx="11643055" cy="36576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0" y="62636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B886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Verfolgten sitzen jetzt am Tisch des Kaisers.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DFC2"/>
          </a:solidFill>
          <a:ln/>
        </p:spPr>
      </p:sp>
      <p:pic>
        <p:nvPicPr>
          <p:cNvPr id="3" name="Image 0" descr="/home/user/uwg_raesfeld_erle_website_repo/images/hagia_sophi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120512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5120512" cy="6858000"/>
          </a:xfrm>
          <a:prstGeom prst="rect">
            <a:avLst/>
          </a:prstGeom>
          <a:solidFill>
            <a:srgbClr val="EDDFC2">
              <a:alpha val="25000"/>
            </a:srgbClr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256032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6601968"/>
            <a:ext cx="12191695" cy="25603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364346" y="384048"/>
            <a:ext cx="6461598" cy="658368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60000"/>
              </a:srgbClr>
            </a:outerShdw>
          </a:effectLst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rgbClr val="5C1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"Plötzlich ist es umgekehrt."</a:t>
            </a:r>
            <a:endParaRPr lang="en-US" sz="2200" dirty="0"/>
          </a:p>
        </p:txBody>
      </p:sp>
      <p:sp>
        <p:nvSpPr>
          <p:cNvPr id="8" name="Text 3"/>
          <p:cNvSpPr/>
          <p:nvPr/>
        </p:nvSpPr>
        <p:spPr>
          <a:xfrm>
            <a:off x="5364346" y="1005840"/>
            <a:ext cx="646159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Wer NICHT Christ ist, wird verfolgt.</a:t>
            </a:r>
            <a:endParaRPr lang="en-US" sz="160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364346" y="1572768"/>
            <a:ext cx="6339682" cy="36576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5364346" y="1810512"/>
            <a:ext cx="237744" cy="237744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11" name="Shape 5"/>
          <p:cNvSpPr/>
          <p:nvPr/>
        </p:nvSpPr>
        <p:spPr>
          <a:xfrm>
            <a:off x="5474074" y="2048256"/>
            <a:ext cx="0" cy="530352"/>
          </a:xfrm>
          <a:prstGeom prst="line">
            <a:avLst/>
          </a:prstGeom>
          <a:noFill/>
          <a:ln w="19050">
            <a:solidFill>
              <a:srgbClr val="B8862B"/>
            </a:solidFill>
            <a:prstDash val="solid"/>
          </a:ln>
        </p:spPr>
      </p:sp>
      <p:sp>
        <p:nvSpPr>
          <p:cNvPr id="12" name="Text 6"/>
          <p:cNvSpPr/>
          <p:nvPr/>
        </p:nvSpPr>
        <p:spPr>
          <a:xfrm>
            <a:off x="5730106" y="1755648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86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380</a:t>
            </a:r>
            <a:endParaRPr lang="en-US" sz="1300" dirty="0"/>
          </a:p>
        </p:txBody>
      </p:sp>
      <p:sp>
        <p:nvSpPr>
          <p:cNvPr id="13" name="Text 7"/>
          <p:cNvSpPr/>
          <p:nvPr/>
        </p:nvSpPr>
        <p:spPr>
          <a:xfrm>
            <a:off x="6681082" y="1755648"/>
            <a:ext cx="633968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Theodosius: Christentum wird Staatsreligion.</a:t>
            </a:r>
            <a:endParaRPr lang="en-US" sz="1250" dirty="0"/>
          </a:p>
        </p:txBody>
      </p:sp>
      <p:sp>
        <p:nvSpPr>
          <p:cNvPr id="14" name="Shape 8"/>
          <p:cNvSpPr/>
          <p:nvPr/>
        </p:nvSpPr>
        <p:spPr>
          <a:xfrm>
            <a:off x="5364346" y="2615184"/>
            <a:ext cx="237744" cy="237744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15" name="Shape 9"/>
          <p:cNvSpPr/>
          <p:nvPr/>
        </p:nvSpPr>
        <p:spPr>
          <a:xfrm>
            <a:off x="5474074" y="2852928"/>
            <a:ext cx="0" cy="530352"/>
          </a:xfrm>
          <a:prstGeom prst="line">
            <a:avLst/>
          </a:prstGeom>
          <a:noFill/>
          <a:ln w="19050">
            <a:solidFill>
              <a:srgbClr val="B8862B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5730106" y="256032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86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391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6681082" y="2560320"/>
            <a:ext cx="633968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Heidnische Kulte verboten. Opfer = Hochverrat.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5364346" y="3419856"/>
            <a:ext cx="237744" cy="237744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19" name="Shape 13"/>
          <p:cNvSpPr/>
          <p:nvPr/>
        </p:nvSpPr>
        <p:spPr>
          <a:xfrm>
            <a:off x="5474074" y="3657600"/>
            <a:ext cx="0" cy="530352"/>
          </a:xfrm>
          <a:prstGeom prst="line">
            <a:avLst/>
          </a:prstGeom>
          <a:noFill/>
          <a:ln w="19050">
            <a:solidFill>
              <a:srgbClr val="B8862B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5730106" y="3364992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86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393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681082" y="3364992"/>
            <a:ext cx="633968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Letzte Olympische Spiele. Sie waren Zeus geweiht.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5364346" y="4224528"/>
            <a:ext cx="237744" cy="237744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23" name="Shape 17"/>
          <p:cNvSpPr/>
          <p:nvPr/>
        </p:nvSpPr>
        <p:spPr>
          <a:xfrm>
            <a:off x="5474074" y="4462272"/>
            <a:ext cx="0" cy="530352"/>
          </a:xfrm>
          <a:prstGeom prst="line">
            <a:avLst/>
          </a:prstGeom>
          <a:noFill/>
          <a:ln w="19050">
            <a:solidFill>
              <a:srgbClr val="B8862B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5730106" y="416966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86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415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681082" y="4169664"/>
            <a:ext cx="633968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Hypatia, Philosophin in Alexandria, wird gelyncht.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5364346" y="5029200"/>
            <a:ext cx="237744" cy="237744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27" name="Text 21"/>
          <p:cNvSpPr/>
          <p:nvPr/>
        </p:nvSpPr>
        <p:spPr>
          <a:xfrm>
            <a:off x="5730106" y="4974336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86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529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6681082" y="4974336"/>
            <a:ext cx="633968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Justinian schließt die Platonische Akademie. Nach 1000 Jahren.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0" y="6199632"/>
            <a:ext cx="12191695" cy="402336"/>
          </a:xfrm>
          <a:prstGeom prst="rect">
            <a:avLst/>
          </a:prstGeom>
          <a:solidFill>
            <a:srgbClr val="A0421A">
              <a:alpha val="85000"/>
            </a:srgbClr>
          </a:solidFill>
          <a:ln/>
        </p:spPr>
      </p:sp>
      <p:sp>
        <p:nvSpPr>
          <p:cNvPr id="30" name="Text 24"/>
          <p:cNvSpPr/>
          <p:nvPr/>
        </p:nvSpPr>
        <p:spPr>
          <a:xfrm>
            <a:off x="0" y="6199632"/>
            <a:ext cx="12191695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einst Verfolgten wurden zu Verfolgern.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DFC2"/>
          </a:solidFill>
          <a:ln/>
        </p:spPr>
      </p:sp>
      <p:pic>
        <p:nvPicPr>
          <p:cNvPr id="3" name="Image 0" descr="/home/user/uwg_raesfeld_erle_website_repo/images/basilic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DFC2">
              <a:alpha val="18000"/>
            </a:srgbClr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256032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6601968"/>
            <a:ext cx="12191695" cy="25603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274320" y="347472"/>
            <a:ext cx="11643055" cy="96012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6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5C1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"Warum ist Sonntag frei? Warum schreiben wir 2026?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i="1" dirty="0">
                <a:solidFill>
                  <a:srgbClr val="5C1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Warum gibt es Krankenhäuser?"</a:t>
            </a:r>
            <a:endParaRPr lang="en-US" sz="1800" dirty="0"/>
          </a:p>
        </p:txBody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7200" y="1371600"/>
            <a:ext cx="11277295" cy="36576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274320" y="1536192"/>
            <a:ext cx="3820058" cy="2468880"/>
          </a:xfrm>
          <a:prstGeom prst="rect">
            <a:avLst/>
          </a:prstGeom>
          <a:solidFill>
            <a:srgbClr val="D9C39A"/>
          </a:solidFill>
          <a:ln w="15240">
            <a:solidFill>
              <a:srgbClr val="B8862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60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384048" y="1645920"/>
            <a:ext cx="365760" cy="365760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11" name="Text 5"/>
          <p:cNvSpPr/>
          <p:nvPr/>
        </p:nvSpPr>
        <p:spPr>
          <a:xfrm>
            <a:off x="384048" y="1655064"/>
            <a:ext cx="365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822960" y="1645920"/>
            <a:ext cx="316169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C1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ZEIT</a:t>
            </a:r>
            <a:endParaRPr lang="en-US" sz="120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84048" y="2084832"/>
            <a:ext cx="3600602" cy="2286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384048" y="2194560"/>
            <a:ext cx="3600602" cy="1682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Sonntag als Ruhetag.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 Kalender (vor/nach Chr.).</a:t>
            </a:r>
            <a:endParaRPr lang="en-US" sz="1150" dirty="0"/>
          </a:p>
        </p:txBody>
      </p:sp>
      <p:sp>
        <p:nvSpPr>
          <p:cNvPr id="15" name="Shape 8"/>
          <p:cNvSpPr/>
          <p:nvPr/>
        </p:nvSpPr>
        <p:spPr>
          <a:xfrm>
            <a:off x="4185818" y="1536192"/>
            <a:ext cx="3820058" cy="2468880"/>
          </a:xfrm>
          <a:prstGeom prst="rect">
            <a:avLst/>
          </a:prstGeom>
          <a:solidFill>
            <a:srgbClr val="D9C39A"/>
          </a:solidFill>
          <a:ln w="15240">
            <a:solidFill>
              <a:srgbClr val="B8862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60000"/>
              </a:srgbClr>
            </a:outerShdw>
          </a:effectLst>
        </p:spPr>
      </p:sp>
      <p:sp>
        <p:nvSpPr>
          <p:cNvPr id="16" name="Shape 9"/>
          <p:cNvSpPr/>
          <p:nvPr/>
        </p:nvSpPr>
        <p:spPr>
          <a:xfrm>
            <a:off x="4295546" y="1645920"/>
            <a:ext cx="365760" cy="365760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17" name="Text 10"/>
          <p:cNvSpPr/>
          <p:nvPr/>
        </p:nvSpPr>
        <p:spPr>
          <a:xfrm>
            <a:off x="4295546" y="1655064"/>
            <a:ext cx="365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1200" dirty="0"/>
          </a:p>
        </p:txBody>
      </p:sp>
      <p:sp>
        <p:nvSpPr>
          <p:cNvPr id="18" name="Text 11"/>
          <p:cNvSpPr/>
          <p:nvPr/>
        </p:nvSpPr>
        <p:spPr>
          <a:xfrm>
            <a:off x="4734458" y="1645920"/>
            <a:ext cx="316169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C1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SOZIALES</a:t>
            </a:r>
            <a:endParaRPr lang="en-US" sz="120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295546" y="2084832"/>
            <a:ext cx="3600602" cy="2286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4295546" y="2194560"/>
            <a:ext cx="3600602" cy="1682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 Hospize, Waisenhäuser.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Armenfürsorge als Pflicht.</a:t>
            </a:r>
            <a:endParaRPr lang="en-US" sz="1150" dirty="0"/>
          </a:p>
        </p:txBody>
      </p:sp>
      <p:sp>
        <p:nvSpPr>
          <p:cNvPr id="21" name="Shape 13"/>
          <p:cNvSpPr/>
          <p:nvPr/>
        </p:nvSpPr>
        <p:spPr>
          <a:xfrm>
            <a:off x="8097317" y="1536192"/>
            <a:ext cx="3820058" cy="2468880"/>
          </a:xfrm>
          <a:prstGeom prst="rect">
            <a:avLst/>
          </a:prstGeom>
          <a:solidFill>
            <a:srgbClr val="D9C39A"/>
          </a:solidFill>
          <a:ln w="15240">
            <a:solidFill>
              <a:srgbClr val="B8862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60000"/>
              </a:srgbClr>
            </a:outerShdw>
          </a:effectLst>
        </p:spPr>
      </p:sp>
      <p:sp>
        <p:nvSpPr>
          <p:cNvPr id="22" name="Shape 14"/>
          <p:cNvSpPr/>
          <p:nvPr/>
        </p:nvSpPr>
        <p:spPr>
          <a:xfrm>
            <a:off x="8207045" y="1645920"/>
            <a:ext cx="365760" cy="365760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23" name="Text 15"/>
          <p:cNvSpPr/>
          <p:nvPr/>
        </p:nvSpPr>
        <p:spPr>
          <a:xfrm>
            <a:off x="8207045" y="1655064"/>
            <a:ext cx="365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1200" dirty="0"/>
          </a:p>
        </p:txBody>
      </p:sp>
      <p:sp>
        <p:nvSpPr>
          <p:cNvPr id="24" name="Text 16"/>
          <p:cNvSpPr/>
          <p:nvPr/>
        </p:nvSpPr>
        <p:spPr>
          <a:xfrm>
            <a:off x="8645957" y="1645920"/>
            <a:ext cx="316169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C1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BILDUNG</a:t>
            </a:r>
            <a:endParaRPr lang="en-US" sz="1200" dirty="0"/>
          </a:p>
        </p:txBody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207045" y="2084832"/>
            <a:ext cx="3600602" cy="22860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8207045" y="2194560"/>
            <a:ext cx="3600602" cy="1682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Klöster retten antikes Wissen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durchs Mittelalter.</a:t>
            </a:r>
            <a:endParaRPr lang="en-US" sz="1150" dirty="0"/>
          </a:p>
        </p:txBody>
      </p:sp>
      <p:sp>
        <p:nvSpPr>
          <p:cNvPr id="27" name="Shape 18"/>
          <p:cNvSpPr/>
          <p:nvPr/>
        </p:nvSpPr>
        <p:spPr>
          <a:xfrm>
            <a:off x="274320" y="4096512"/>
            <a:ext cx="3820058" cy="2468880"/>
          </a:xfrm>
          <a:prstGeom prst="rect">
            <a:avLst/>
          </a:prstGeom>
          <a:solidFill>
            <a:srgbClr val="D9C39A"/>
          </a:solidFill>
          <a:ln w="15240">
            <a:solidFill>
              <a:srgbClr val="B8862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60000"/>
              </a:srgbClr>
            </a:outerShdw>
          </a:effectLst>
        </p:spPr>
      </p:sp>
      <p:sp>
        <p:nvSpPr>
          <p:cNvPr id="28" name="Shape 19"/>
          <p:cNvSpPr/>
          <p:nvPr/>
        </p:nvSpPr>
        <p:spPr>
          <a:xfrm>
            <a:off x="384048" y="4206240"/>
            <a:ext cx="365760" cy="365760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29" name="Text 20"/>
          <p:cNvSpPr/>
          <p:nvPr/>
        </p:nvSpPr>
        <p:spPr>
          <a:xfrm>
            <a:off x="384048" y="4215384"/>
            <a:ext cx="365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</a:t>
            </a:r>
            <a:endParaRPr lang="en-US" sz="1200" dirty="0"/>
          </a:p>
        </p:txBody>
      </p:sp>
      <p:sp>
        <p:nvSpPr>
          <p:cNvPr id="30" name="Text 21"/>
          <p:cNvSpPr/>
          <p:nvPr/>
        </p:nvSpPr>
        <p:spPr>
          <a:xfrm>
            <a:off x="822960" y="4206240"/>
            <a:ext cx="316169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C1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BAUKUNST</a:t>
            </a:r>
            <a:endParaRPr lang="en-US" sz="1200" dirty="0"/>
          </a:p>
        </p:txBody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84048" y="4645152"/>
            <a:ext cx="3600602" cy="22860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384048" y="4754880"/>
            <a:ext cx="3600602" cy="1682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Basilika statt Tempel.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Kuppelbau. Kirchenfenster.</a:t>
            </a:r>
            <a:endParaRPr lang="en-US" sz="1150" dirty="0"/>
          </a:p>
        </p:txBody>
      </p:sp>
      <p:sp>
        <p:nvSpPr>
          <p:cNvPr id="33" name="Shape 23"/>
          <p:cNvSpPr/>
          <p:nvPr/>
        </p:nvSpPr>
        <p:spPr>
          <a:xfrm>
            <a:off x="4185818" y="4096512"/>
            <a:ext cx="3820058" cy="2468880"/>
          </a:xfrm>
          <a:prstGeom prst="rect">
            <a:avLst/>
          </a:prstGeom>
          <a:solidFill>
            <a:srgbClr val="D9C39A"/>
          </a:solidFill>
          <a:ln w="15240">
            <a:solidFill>
              <a:srgbClr val="B8862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60000"/>
              </a:srgbClr>
            </a:outerShdw>
          </a:effectLst>
        </p:spPr>
      </p:sp>
      <p:sp>
        <p:nvSpPr>
          <p:cNvPr id="34" name="Shape 24"/>
          <p:cNvSpPr/>
          <p:nvPr/>
        </p:nvSpPr>
        <p:spPr>
          <a:xfrm>
            <a:off x="4295546" y="4206240"/>
            <a:ext cx="365760" cy="365760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35" name="Text 25"/>
          <p:cNvSpPr/>
          <p:nvPr/>
        </p:nvSpPr>
        <p:spPr>
          <a:xfrm>
            <a:off x="4295546" y="4215384"/>
            <a:ext cx="365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1200" dirty="0"/>
          </a:p>
        </p:txBody>
      </p:sp>
      <p:sp>
        <p:nvSpPr>
          <p:cNvPr id="36" name="Text 26"/>
          <p:cNvSpPr/>
          <p:nvPr/>
        </p:nvSpPr>
        <p:spPr>
          <a:xfrm>
            <a:off x="4734458" y="4206240"/>
            <a:ext cx="316169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C1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ETHIK</a:t>
            </a:r>
            <a:endParaRPr lang="en-US" sz="12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295546" y="4645152"/>
            <a:ext cx="3600602" cy="22860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4295546" y="4754880"/>
            <a:ext cx="3600602" cy="1682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Nächstenliebe als Pflicht.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Würde aller — auch Sklaven.</a:t>
            </a:r>
            <a:endParaRPr lang="en-US" sz="1150" dirty="0"/>
          </a:p>
        </p:txBody>
      </p:sp>
      <p:sp>
        <p:nvSpPr>
          <p:cNvPr id="39" name="Shape 28"/>
          <p:cNvSpPr/>
          <p:nvPr/>
        </p:nvSpPr>
        <p:spPr>
          <a:xfrm>
            <a:off x="8097317" y="4096512"/>
            <a:ext cx="3820058" cy="2468880"/>
          </a:xfrm>
          <a:prstGeom prst="rect">
            <a:avLst/>
          </a:prstGeom>
          <a:solidFill>
            <a:srgbClr val="D9C39A"/>
          </a:solidFill>
          <a:ln w="15240">
            <a:solidFill>
              <a:srgbClr val="B8862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60000"/>
              </a:srgbClr>
            </a:outerShdw>
          </a:effectLst>
        </p:spPr>
      </p:sp>
      <p:sp>
        <p:nvSpPr>
          <p:cNvPr id="40" name="Shape 29"/>
          <p:cNvSpPr/>
          <p:nvPr/>
        </p:nvSpPr>
        <p:spPr>
          <a:xfrm>
            <a:off x="8207045" y="4206240"/>
            <a:ext cx="365760" cy="365760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41" name="Text 30"/>
          <p:cNvSpPr/>
          <p:nvPr/>
        </p:nvSpPr>
        <p:spPr>
          <a:xfrm>
            <a:off x="8207045" y="4215384"/>
            <a:ext cx="365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</a:t>
            </a:r>
            <a:endParaRPr lang="en-US" sz="1200" dirty="0"/>
          </a:p>
        </p:txBody>
      </p:sp>
      <p:sp>
        <p:nvSpPr>
          <p:cNvPr id="42" name="Text 31"/>
          <p:cNvSpPr/>
          <p:nvPr/>
        </p:nvSpPr>
        <p:spPr>
          <a:xfrm>
            <a:off x="8645957" y="4206240"/>
            <a:ext cx="316169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C1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FRAUEN</a:t>
            </a:r>
            <a:endParaRPr lang="en-US" sz="1200" dirty="0"/>
          </a:p>
        </p:txBody>
      </p:sp>
      <p:pic>
        <p:nvPicPr>
          <p:cNvPr id="43" name="Image 9" descr="preencoded.png">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207045" y="4645152"/>
            <a:ext cx="3600602" cy="22860"/>
          </a:xfrm>
          <a:prstGeom prst="rect">
            <a:avLst/>
          </a:prstGeom>
        </p:spPr>
      </p:pic>
      <p:sp>
        <p:nvSpPr>
          <p:cNvPr id="44" name="Text 32"/>
          <p:cNvSpPr/>
          <p:nvPr/>
        </p:nvSpPr>
        <p:spPr>
          <a:xfrm>
            <a:off x="8207045" y="4754880"/>
            <a:ext cx="3600602" cy="1682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Witwen, Diakoninnen, Märtyrerinnen.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B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 Rollen.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1E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1810">
              <a:alpha val="5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B8862B">
              <a:alpha val="7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B8862B">
              <a:alpha val="75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411480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6446520"/>
            <a:ext cx="12191695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0" y="566928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spc="500" kern="0" dirty="0">
                <a:solidFill>
                  <a:srgbClr val="B886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FRAGE AN EUCH —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57200" y="1097280"/>
            <a:ext cx="11277295" cy="237744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50800" dir="2700000">
              <a:srgbClr val="000000">
                <a:alpha val="8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Wofür würdet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ihr heute sterben?</a:t>
            </a:r>
            <a:endParaRPr lang="en-US" sz="46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63003" y="3566160"/>
            <a:ext cx="9265688" cy="5029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65760" y="3730752"/>
            <a:ext cx="1146017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ersten Christen taten es. Ohne Aussicht auf Belohnung in diesem Leben.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365760" y="4407408"/>
            <a:ext cx="114601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Welche Idee, welcher Mensch, welcher Glaube wäre es euch wert?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365760" y="4919472"/>
            <a:ext cx="114601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886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 wenn nichts — was sagt das über unsere Zeit?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Die Anfänge der Kirche in der Antike</dc:title>
  <dc:subject>Geschichte der frühen Christenheit</dc:subject>
  <dc:creator>Schulpräsentation Oberstufe</dc:creator>
  <cp:lastModifiedBy>Schulpräsentation Oberstufe</cp:lastModifiedBy>
  <cp:revision>1</cp:revision>
  <dcterms:created xsi:type="dcterms:W3CDTF">2026-05-27T23:26:58Z</dcterms:created>
  <dcterms:modified xsi:type="dcterms:W3CDTF">2026-05-27T23:26:58Z</dcterms:modified>
</cp:coreProperties>
</file>