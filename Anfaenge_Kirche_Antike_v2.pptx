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EINSTIEG (2–3 Min.)
• Einstiegsfrage: "Was wisst ihr über das frühe Christentum?" — Antworten sammeln.
• Kontext: Im Jahr 30 n. Chr. war Christentum eine winzige jüdische Randgruppe. 350 Jahre später: Staatsreligion des Römischen Reiches.
• Die drei Daten auf der Folie (30 / 313 / 380) sind die drei Akte der Geschichte — durch die Präsentation führen wir euch Schritt für Schritt durch.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KONTEXT — DIE ANTIKE WELT (3–4 Min.)
• Wichtig: Polytheismus war NORMAL. Es waren die Christen, die als seltsam galten.
• Frage an Klasse: "Kennt ihr moderne Beispiele von Staatsreligion?" (Iran, Saudi-Arabien, historisch England).
• Betonung: Persönlicher Glaube als private Gewissenssache — diese Idee ist 2.000 Jahre alt und stammt aus dem Christentum.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GRIECHENLAND — GRUNDLAGE (3 Min.)
• Die Pointe: Das Christentum konnte sich nur deshalb so schnell ausbreiten, weil Alexander 300 Jahre früher die Infrastruktur geschaffen hatte.
• Konkret: Paulus brauchte keinen Dolmetscher. Er sprach Griechisch, alle verstanden ihn.
• Interessant: Das NT ist auf Griechisch — nicht auf Aramäisch (Jesu Muttersprache) oder Hebräisch (Sprache der Bibel).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DIE GEBURT — DIE ERSTE GEMEINDE (4 Min.)
• Historischer Kern: Die Kreuzigung Jesu ist historisch gut belegt (Tacitus, Josephus). Die Auferstehung ist Glaubensfrage — als Historiker können wir nur sagen: etwas hat die Jünger so überzeugt, dass sie dafür ihr Leben riskierten.
• Diskussionsfrage: "Was würde euch so überzeugen, dass ihr alles aufgebt?"
• Die frühen Christen lebten in Gütergemeinschaft — radikales soziales Experiment.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PAULUS — DER ARCHITEKT (3–4 Min.)
• Pointe: Paulus hat nie Jesus persönlich getroffen — trotzdem schrieb er fast die Hälfte des NT.
• Sein Brief an die Römer (ca. 57 n. Chr.) ist das älteste systematische Glaubensdokument des Christentums.
• Areopag-Rede in Athen (Apg 17): Musterstück der Inkulturation — er zitiert griechische Dichter, um Griechen zu erreichen.
• Historiographisch: Ohne Paulus wäre Christentum möglicherweise eine jüdische Sekte geblieben.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VERFOLGUNG — WARUM SCHEITERTE ROM? (3–4 Min.)
• Tertullian-Zitat ist ein Schlüsselsatz: Märtyrer wirkten als lebende Werbung. Wer stirbt, ohne zu widerrufen, muss etwas Echtes glauben.
• Nero-Verfolgung: Relativ begrenzt, lokal auf Rom. Aber Petrus und Paulus starben dort.
• Diokletian-Verfolgung: Die härteste — und nur 10 Jahre vor Konstantins Wende. Fast zu spät.
• Frage: "Warum kann man eine Idee nicht mit Gewalt töten?"
• Historiographische Debatte: Wie viele Christen starben wirklich? Zahlen sind umstritten.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KONSTANTIN — WENDEPUNKT (4 Min.)
• WICHTIG: Ob Konstantin wirklich Christ wurde oder ob es politisches Kalkül war, ist bis heute umstritten.
• Argument für echt: Er bewahrte den Glauben bis zum Lebensende, ließ sich kurz vor dem Tod taufen.
• Argument für politisch: Das Christentum war die am schnellsten wachsende Religion — gute Wette.
• Konzil von Nicäa (325): Hier entstand das Nizänische Glaubensbekenntnis — bis heute in katholischen/evangelischen Gottesdiensten.
• BRÜCKE zu Folie 8: "Konstantin öffnet die Tür — aber was passiert, wenn die Kirche durch diese Tür geht?"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DIE WENDE — OPFER WERDEN TÄTER (4 Min.)
• Das ist die unbequeme Wahrheit der Kirchengeschichte — und die wichtigste Lektion.
• Hypatia (415): Erste bekannte weibliche Mathematikerin und Philosophin der Antike, von christlichem Mob getötet. Symbol für den Konflikt.
• Olympische Spiele: Verboten wegen Zeus-Kult — erst 1896 wiederbelebt.
• Diskussionsfrage: "Liegt es in der Natur jeder Macht, andere zu unterdrücken — oder hätte die Kirche es anders machen können?"
• Verbindung zu heute: Religionsfreiheit als Grundrecht ist direkte Reaktion auf diese Geschichte.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ERBE — WAS BLEIBT (3 Min.)
• Interaktiv: Für jeden Punkt fragen, ob den Schülern das bewusst war.
• Sonntag: Kaiser Konstantin 321 n. Chr. — Vorher war Sonntag ein normaler Arbeitstag.
• Krankenhäuser: Das erste Krankenhaus der Geschichte gründete ein Bischof (Basilius von Cäsarea, ~370 n. Chr.).
• Universitäten: Viele der ältesten Universitäten (Bologna, Oxford, Paris) aus Klosterschulen entstanden.
• Ethik: "Menschenwürde gilt für alle" — in der antiken Welt galt das explizit nicht für Sklaven.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ABSCHLUSSDISKUSSION (5–10 Min.)
• Stille lassen. Die Frage wirken lassen — mindestens 5 Sekunden Pause.
• Mögliche Einstiegsfragen: "Gibt es heute Menschen, die für ihre Überzeugungen sterben?" (Whistleblower, Aktivisten, Soldaten)
• "Was unterscheidet 'Wofür man stirbt' von 'Wofür man lebt'?"
• Rückkopplung: "Was hätten die frühen Christen über uns 2026 gedacht?"
• Bewertungshinweis: Keine richtigen/falschen Antworten. Ziel ist reflektiertes Denken über Werte und Überzeugungen.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image" Target="../media/image-1-2.png"/><Relationship Id="rId3" Type="http://schemas.openxmlformats.org/officeDocument/2006/relationships/image" Target="../media/image-1-3.svg"/><Relationship Id="rId4" Type="http://schemas.openxmlformats.org/officeDocument/2006/relationships/image" Target="../media/image-1-4.png"/><Relationship Id="rId5" Type="http://schemas.openxmlformats.org/officeDocument/2006/relationships/image" Target="../media/image-1-5.svg"/><Relationship Id="rId6" Type="http://schemas.openxmlformats.org/officeDocument/2006/relationships/image" Target="../media/image-1-6.png"/><Relationship Id="rId7" Type="http://schemas.openxmlformats.org/officeDocument/2006/relationships/image" Target="../media/image-1-7.svg"/><Relationship Id="rId8" Type="http://schemas.openxmlformats.org/officeDocument/2006/relationships/image" Target="../media/image-1-8.png"/><Relationship Id="rId9" Type="http://schemas.openxmlformats.org/officeDocument/2006/relationships/image" Target="../media/image-1-9.svg"/><Relationship Id="rId10" Type="http://schemas.openxmlformats.org/officeDocument/2006/relationships/image" Target="../media/image-1-10.png"/><Relationship Id="rId11" Type="http://schemas.openxmlformats.org/officeDocument/2006/relationships/image" Target="../media/image-1-11.svg"/><Relationship Id="rId12" Type="http://schemas.openxmlformats.org/officeDocument/2006/relationships/image" Target="../media/image-1-12.png"/><Relationship Id="rId13" Type="http://schemas.openxmlformats.org/officeDocument/2006/relationships/image" Target="../media/image-1-13.svg"/><Relationship Id="rId14" Type="http://schemas.openxmlformats.org/officeDocument/2006/relationships/slideLayout" Target="../slideLayouts/slideLayout1.xml"/><Relationship Id="rId1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g"/><Relationship Id="rId2" Type="http://schemas.openxmlformats.org/officeDocument/2006/relationships/image" Target="../media/image-2-2.png"/><Relationship Id="rId3" Type="http://schemas.openxmlformats.org/officeDocument/2006/relationships/image" Target="../media/image-2-3.svg"/><Relationship Id="rId4" Type="http://schemas.openxmlformats.org/officeDocument/2006/relationships/image" Target="../media/image-2-4.png"/><Relationship Id="rId5" Type="http://schemas.openxmlformats.org/officeDocument/2006/relationships/image" Target="../media/image-2-5.svg"/><Relationship Id="rId6" Type="http://schemas.openxmlformats.org/officeDocument/2006/relationships/image" Target="../media/image-2-6.png"/><Relationship Id="rId7" Type="http://schemas.openxmlformats.org/officeDocument/2006/relationships/image" Target="../media/image-2-7.svg"/><Relationship Id="rId8" Type="http://schemas.openxmlformats.org/officeDocument/2006/relationships/image" Target="../media/image-2-8.png"/><Relationship Id="rId9" Type="http://schemas.openxmlformats.org/officeDocument/2006/relationships/image" Target="../media/image-2-9.svg"/><Relationship Id="rId10" Type="http://schemas.openxmlformats.org/officeDocument/2006/relationships/image" Target="../media/image-2-10.png"/><Relationship Id="rId11" Type="http://schemas.openxmlformats.org/officeDocument/2006/relationships/image" Target="../media/image-2-11.svg"/><Relationship Id="rId12" Type="http://schemas.openxmlformats.org/officeDocument/2006/relationships/image" Target="../media/image-2-12.png"/><Relationship Id="rId13" Type="http://schemas.openxmlformats.org/officeDocument/2006/relationships/image" Target="../media/image-2-13.svg"/><Relationship Id="rId14" Type="http://schemas.openxmlformats.org/officeDocument/2006/relationships/image" Target="../media/image-2-14.png"/><Relationship Id="rId15" Type="http://schemas.openxmlformats.org/officeDocument/2006/relationships/image" Target="../media/image-2-15.svg"/><Relationship Id="rId16" Type="http://schemas.openxmlformats.org/officeDocument/2006/relationships/image" Target="../media/image-2-16.png"/><Relationship Id="rId17" Type="http://schemas.openxmlformats.org/officeDocument/2006/relationships/image" Target="../media/image-2-17.svg"/><Relationship Id="rId18" Type="http://schemas.openxmlformats.org/officeDocument/2006/relationships/image" Target="../media/image-2-18.png"/><Relationship Id="rId19" Type="http://schemas.openxmlformats.org/officeDocument/2006/relationships/image" Target="../media/image-2-19.svg"/><Relationship Id="rId20" Type="http://schemas.openxmlformats.org/officeDocument/2006/relationships/image" Target="../media/image-2-20.png"/><Relationship Id="rId21" Type="http://schemas.openxmlformats.org/officeDocument/2006/relationships/image" Target="../media/image-2-21.svg"/><Relationship Id="rId22" Type="http://schemas.openxmlformats.org/officeDocument/2006/relationships/image" Target="../media/image-2-22.png"/><Relationship Id="rId23" Type="http://schemas.openxmlformats.org/officeDocument/2006/relationships/image" Target="../media/image-2-23.svg"/><Relationship Id="rId24" Type="http://schemas.openxmlformats.org/officeDocument/2006/relationships/image" Target="../media/image-2-24.png"/><Relationship Id="rId25" Type="http://schemas.openxmlformats.org/officeDocument/2006/relationships/image" Target="../media/image-2-25.svg"/><Relationship Id="rId26" Type="http://schemas.openxmlformats.org/officeDocument/2006/relationships/slideLayout" Target="../slideLayouts/slideLayout1.xml"/><Relationship Id="rId27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image" Target="../media/image-3-2.png"/><Relationship Id="rId3" Type="http://schemas.openxmlformats.org/officeDocument/2006/relationships/image" Target="../media/image-3-3.svg"/><Relationship Id="rId4" Type="http://schemas.openxmlformats.org/officeDocument/2006/relationships/image" Target="../media/image-3-4.png"/><Relationship Id="rId5" Type="http://schemas.openxmlformats.org/officeDocument/2006/relationships/image" Target="../media/image-3-5.svg"/><Relationship Id="rId6" Type="http://schemas.openxmlformats.org/officeDocument/2006/relationships/image" Target="../media/image-3-6.png"/><Relationship Id="rId7" Type="http://schemas.openxmlformats.org/officeDocument/2006/relationships/image" Target="../media/image-3-7.svg"/><Relationship Id="rId8" Type="http://schemas.openxmlformats.org/officeDocument/2006/relationships/image" Target="../media/image-3-8.png"/><Relationship Id="rId9" Type="http://schemas.openxmlformats.org/officeDocument/2006/relationships/image" Target="../media/image-3-9.svg"/><Relationship Id="rId10" Type="http://schemas.openxmlformats.org/officeDocument/2006/relationships/image" Target="../media/image-3-10.png"/><Relationship Id="rId11" Type="http://schemas.openxmlformats.org/officeDocument/2006/relationships/image" Target="../media/image-3-11.svg"/><Relationship Id="rId12" Type="http://schemas.openxmlformats.org/officeDocument/2006/relationships/image" Target="../media/image-3-12.png"/><Relationship Id="rId13" Type="http://schemas.openxmlformats.org/officeDocument/2006/relationships/image" Target="../media/image-3-13.svg"/><Relationship Id="rId14" Type="http://schemas.openxmlformats.org/officeDocument/2006/relationships/image" Target="../media/image-3-14.png"/><Relationship Id="rId15" Type="http://schemas.openxmlformats.org/officeDocument/2006/relationships/image" Target="../media/image-3-15.svg"/><Relationship Id="rId16" Type="http://schemas.openxmlformats.org/officeDocument/2006/relationships/image" Target="../media/image-3-16.png"/><Relationship Id="rId17" Type="http://schemas.openxmlformats.org/officeDocument/2006/relationships/image" Target="../media/image-3-17.svg"/><Relationship Id="rId18" Type="http://schemas.openxmlformats.org/officeDocument/2006/relationships/image" Target="../media/image-3-18.png"/><Relationship Id="rId19" Type="http://schemas.openxmlformats.org/officeDocument/2006/relationships/image" Target="../media/image-3-19.svg"/><Relationship Id="rId20" Type="http://schemas.openxmlformats.org/officeDocument/2006/relationships/image" Target="../media/image-3-20.png"/><Relationship Id="rId21" Type="http://schemas.openxmlformats.org/officeDocument/2006/relationships/image" Target="../media/image-3-21.svg"/><Relationship Id="rId22" Type="http://schemas.openxmlformats.org/officeDocument/2006/relationships/image" Target="../media/image-3-22.png"/><Relationship Id="rId23" Type="http://schemas.openxmlformats.org/officeDocument/2006/relationships/image" Target="../media/image-3-23.svg"/><Relationship Id="rId24" Type="http://schemas.openxmlformats.org/officeDocument/2006/relationships/image" Target="../media/image-3-24.png"/><Relationship Id="rId25" Type="http://schemas.openxmlformats.org/officeDocument/2006/relationships/image" Target="../media/image-3-25.svg"/><Relationship Id="rId26" Type="http://schemas.openxmlformats.org/officeDocument/2006/relationships/image" Target="../media/image-3-26.png"/><Relationship Id="rId27" Type="http://schemas.openxmlformats.org/officeDocument/2006/relationships/image" Target="../media/image-3-27.svg"/><Relationship Id="rId28" Type="http://schemas.openxmlformats.org/officeDocument/2006/relationships/slideLayout" Target="../slideLayouts/slideLayout1.xml"/><Relationship Id="rId29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image" Target="../media/image-4-2.png"/><Relationship Id="rId3" Type="http://schemas.openxmlformats.org/officeDocument/2006/relationships/image" Target="../media/image-4-3.svg"/><Relationship Id="rId4" Type="http://schemas.openxmlformats.org/officeDocument/2006/relationships/image" Target="../media/image-4-4.png"/><Relationship Id="rId5" Type="http://schemas.openxmlformats.org/officeDocument/2006/relationships/image" Target="../media/image-4-5.svg"/><Relationship Id="rId6" Type="http://schemas.openxmlformats.org/officeDocument/2006/relationships/image" Target="../media/image-4-6.png"/><Relationship Id="rId7" Type="http://schemas.openxmlformats.org/officeDocument/2006/relationships/image" Target="../media/image-4-7.svg"/><Relationship Id="rId8" Type="http://schemas.openxmlformats.org/officeDocument/2006/relationships/image" Target="../media/image-4-8.png"/><Relationship Id="rId9" Type="http://schemas.openxmlformats.org/officeDocument/2006/relationships/image" Target="../media/image-4-9.svg"/><Relationship Id="rId10" Type="http://schemas.openxmlformats.org/officeDocument/2006/relationships/image" Target="../media/image-4-10.png"/><Relationship Id="rId11" Type="http://schemas.openxmlformats.org/officeDocument/2006/relationships/image" Target="../media/image-4-11.svg"/><Relationship Id="rId12" Type="http://schemas.openxmlformats.org/officeDocument/2006/relationships/image" Target="../media/image-4-12.png"/><Relationship Id="rId13" Type="http://schemas.openxmlformats.org/officeDocument/2006/relationships/image" Target="../media/image-4-13.svg"/><Relationship Id="rId14" Type="http://schemas.openxmlformats.org/officeDocument/2006/relationships/image" Target="../media/image-4-14.png"/><Relationship Id="rId15" Type="http://schemas.openxmlformats.org/officeDocument/2006/relationships/image" Target="../media/image-4-15.svg"/><Relationship Id="rId16" Type="http://schemas.openxmlformats.org/officeDocument/2006/relationships/image" Target="../media/image-4-16.png"/><Relationship Id="rId17" Type="http://schemas.openxmlformats.org/officeDocument/2006/relationships/image" Target="../media/image-4-17.svg"/><Relationship Id="rId18" Type="http://schemas.openxmlformats.org/officeDocument/2006/relationships/image" Target="../media/image-4-18.png"/><Relationship Id="rId19" Type="http://schemas.openxmlformats.org/officeDocument/2006/relationships/image" Target="../media/image-4-19.svg"/><Relationship Id="rId20" Type="http://schemas.openxmlformats.org/officeDocument/2006/relationships/image" Target="../media/image-4-20.png"/><Relationship Id="rId21" Type="http://schemas.openxmlformats.org/officeDocument/2006/relationships/image" Target="../media/image-4-21.svg"/><Relationship Id="rId22" Type="http://schemas.openxmlformats.org/officeDocument/2006/relationships/slideLayout" Target="../slideLayouts/slideLayout1.xml"/><Relationship Id="rId2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image" Target="../media/image-5-2.png"/><Relationship Id="rId3" Type="http://schemas.openxmlformats.org/officeDocument/2006/relationships/image" Target="../media/image-5-3.svg"/><Relationship Id="rId4" Type="http://schemas.openxmlformats.org/officeDocument/2006/relationships/image" Target="../media/image-5-4.png"/><Relationship Id="rId5" Type="http://schemas.openxmlformats.org/officeDocument/2006/relationships/image" Target="../media/image-5-5.svg"/><Relationship Id="rId6" Type="http://schemas.openxmlformats.org/officeDocument/2006/relationships/image" Target="../media/image-5-6.png"/><Relationship Id="rId7" Type="http://schemas.openxmlformats.org/officeDocument/2006/relationships/image" Target="../media/image-5-7.svg"/><Relationship Id="rId8" Type="http://schemas.openxmlformats.org/officeDocument/2006/relationships/image" Target="../media/image-5-8.png"/><Relationship Id="rId9" Type="http://schemas.openxmlformats.org/officeDocument/2006/relationships/image" Target="../media/image-5-9.svg"/><Relationship Id="rId10" Type="http://schemas.openxmlformats.org/officeDocument/2006/relationships/image" Target="../media/image-5-10.png"/><Relationship Id="rId11" Type="http://schemas.openxmlformats.org/officeDocument/2006/relationships/image" Target="../media/image-5-11.svg"/><Relationship Id="rId12" Type="http://schemas.openxmlformats.org/officeDocument/2006/relationships/image" Target="../media/image-5-12.png"/><Relationship Id="rId13" Type="http://schemas.openxmlformats.org/officeDocument/2006/relationships/image" Target="../media/image-5-13.svg"/><Relationship Id="rId14" Type="http://schemas.openxmlformats.org/officeDocument/2006/relationships/image" Target="../media/image-5-14.png"/><Relationship Id="rId15" Type="http://schemas.openxmlformats.org/officeDocument/2006/relationships/image" Target="../media/image-5-15.svg"/><Relationship Id="rId16" Type="http://schemas.openxmlformats.org/officeDocument/2006/relationships/image" Target="../media/image-5-16.png"/><Relationship Id="rId17" Type="http://schemas.openxmlformats.org/officeDocument/2006/relationships/image" Target="../media/image-5-17.svg"/><Relationship Id="rId18" Type="http://schemas.openxmlformats.org/officeDocument/2006/relationships/image" Target="../media/image-5-18.png"/><Relationship Id="rId19" Type="http://schemas.openxmlformats.org/officeDocument/2006/relationships/image" Target="../media/image-5-19.svg"/><Relationship Id="rId20" Type="http://schemas.openxmlformats.org/officeDocument/2006/relationships/image" Target="../media/image-5-20.png"/><Relationship Id="rId21" Type="http://schemas.openxmlformats.org/officeDocument/2006/relationships/image" Target="../media/image-5-21.svg"/><Relationship Id="rId22" Type="http://schemas.openxmlformats.org/officeDocument/2006/relationships/image" Target="../media/image-5-22.png"/><Relationship Id="rId23" Type="http://schemas.openxmlformats.org/officeDocument/2006/relationships/image" Target="../media/image-5-23.svg"/><Relationship Id="rId24" Type="http://schemas.openxmlformats.org/officeDocument/2006/relationships/slideLayout" Target="../slideLayouts/slideLayout1.xml"/><Relationship Id="rId2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image" Target="../media/image-6-2.png"/><Relationship Id="rId3" Type="http://schemas.openxmlformats.org/officeDocument/2006/relationships/image" Target="../media/image-6-3.svg"/><Relationship Id="rId4" Type="http://schemas.openxmlformats.org/officeDocument/2006/relationships/image" Target="../media/image-6-4.png"/><Relationship Id="rId5" Type="http://schemas.openxmlformats.org/officeDocument/2006/relationships/image" Target="../media/image-6-5.svg"/><Relationship Id="rId6" Type="http://schemas.openxmlformats.org/officeDocument/2006/relationships/image" Target="../media/image-6-6.png"/><Relationship Id="rId7" Type="http://schemas.openxmlformats.org/officeDocument/2006/relationships/image" Target="../media/image-6-7.svg"/><Relationship Id="rId8" Type="http://schemas.openxmlformats.org/officeDocument/2006/relationships/image" Target="../media/image-6-8.png"/><Relationship Id="rId9" Type="http://schemas.openxmlformats.org/officeDocument/2006/relationships/image" Target="../media/image-6-9.svg"/><Relationship Id="rId10" Type="http://schemas.openxmlformats.org/officeDocument/2006/relationships/image" Target="../media/image-6-10.png"/><Relationship Id="rId11" Type="http://schemas.openxmlformats.org/officeDocument/2006/relationships/image" Target="../media/image-6-11.svg"/><Relationship Id="rId12" Type="http://schemas.openxmlformats.org/officeDocument/2006/relationships/image" Target="../media/image-6-12.png"/><Relationship Id="rId13" Type="http://schemas.openxmlformats.org/officeDocument/2006/relationships/image" Target="../media/image-6-13.svg"/><Relationship Id="rId14" Type="http://schemas.openxmlformats.org/officeDocument/2006/relationships/image" Target="../media/image-6-14.png"/><Relationship Id="rId15" Type="http://schemas.openxmlformats.org/officeDocument/2006/relationships/image" Target="../media/image-6-15.svg"/><Relationship Id="rId16" Type="http://schemas.openxmlformats.org/officeDocument/2006/relationships/image" Target="../media/image-6-16.png"/><Relationship Id="rId17" Type="http://schemas.openxmlformats.org/officeDocument/2006/relationships/image" Target="../media/image-6-17.svg"/><Relationship Id="rId18" Type="http://schemas.openxmlformats.org/officeDocument/2006/relationships/image" Target="../media/image-6-18.png"/><Relationship Id="rId19" Type="http://schemas.openxmlformats.org/officeDocument/2006/relationships/image" Target="../media/image-6-19.svg"/><Relationship Id="rId20" Type="http://schemas.openxmlformats.org/officeDocument/2006/relationships/slideLayout" Target="../slideLayouts/slideLayout1.xml"/><Relationship Id="rId21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image" Target="../media/image-7-2.png"/><Relationship Id="rId3" Type="http://schemas.openxmlformats.org/officeDocument/2006/relationships/image" Target="../media/image-7-3.svg"/><Relationship Id="rId4" Type="http://schemas.openxmlformats.org/officeDocument/2006/relationships/image" Target="../media/image-7-4.png"/><Relationship Id="rId5" Type="http://schemas.openxmlformats.org/officeDocument/2006/relationships/image" Target="../media/image-7-5.svg"/><Relationship Id="rId6" Type="http://schemas.openxmlformats.org/officeDocument/2006/relationships/image" Target="../media/image-7-6.png"/><Relationship Id="rId7" Type="http://schemas.openxmlformats.org/officeDocument/2006/relationships/image" Target="../media/image-7-7.svg"/><Relationship Id="rId8" Type="http://schemas.openxmlformats.org/officeDocument/2006/relationships/image" Target="../media/image-7-8.png"/><Relationship Id="rId9" Type="http://schemas.openxmlformats.org/officeDocument/2006/relationships/image" Target="../media/image-7-9.svg"/><Relationship Id="rId10" Type="http://schemas.openxmlformats.org/officeDocument/2006/relationships/image" Target="../media/image-7-10.png"/><Relationship Id="rId11" Type="http://schemas.openxmlformats.org/officeDocument/2006/relationships/image" Target="../media/image-7-11.svg"/><Relationship Id="rId12" Type="http://schemas.openxmlformats.org/officeDocument/2006/relationships/image" Target="../media/image-7-12.png"/><Relationship Id="rId13" Type="http://schemas.openxmlformats.org/officeDocument/2006/relationships/image" Target="../media/image-7-13.svg"/><Relationship Id="rId14" Type="http://schemas.openxmlformats.org/officeDocument/2006/relationships/image" Target="../media/image-7-14.png"/><Relationship Id="rId15" Type="http://schemas.openxmlformats.org/officeDocument/2006/relationships/image" Target="../media/image-7-15.svg"/><Relationship Id="rId16" Type="http://schemas.openxmlformats.org/officeDocument/2006/relationships/image" Target="../media/image-7-16.png"/><Relationship Id="rId17" Type="http://schemas.openxmlformats.org/officeDocument/2006/relationships/image" Target="../media/image-7-17.svg"/><Relationship Id="rId18" Type="http://schemas.openxmlformats.org/officeDocument/2006/relationships/image" Target="../media/image-7-18.png"/><Relationship Id="rId19" Type="http://schemas.openxmlformats.org/officeDocument/2006/relationships/image" Target="../media/image-7-19.svg"/><Relationship Id="rId20" Type="http://schemas.openxmlformats.org/officeDocument/2006/relationships/slideLayout" Target="../slideLayouts/slideLayout1.xml"/><Relationship Id="rId21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image" Target="../media/image-8-2.png"/><Relationship Id="rId3" Type="http://schemas.openxmlformats.org/officeDocument/2006/relationships/image" Target="../media/image-8-3.svg"/><Relationship Id="rId4" Type="http://schemas.openxmlformats.org/officeDocument/2006/relationships/image" Target="../media/image-8-4.png"/><Relationship Id="rId5" Type="http://schemas.openxmlformats.org/officeDocument/2006/relationships/image" Target="../media/image-8-5.svg"/><Relationship Id="rId6" Type="http://schemas.openxmlformats.org/officeDocument/2006/relationships/image" Target="../media/image-8-6.png"/><Relationship Id="rId7" Type="http://schemas.openxmlformats.org/officeDocument/2006/relationships/image" Target="../media/image-8-7.svg"/><Relationship Id="rId8" Type="http://schemas.openxmlformats.org/officeDocument/2006/relationships/image" Target="../media/image-8-8.png"/><Relationship Id="rId9" Type="http://schemas.openxmlformats.org/officeDocument/2006/relationships/image" Target="../media/image-8-9.svg"/><Relationship Id="rId10" Type="http://schemas.openxmlformats.org/officeDocument/2006/relationships/image" Target="../media/image-8-10.png"/><Relationship Id="rId11" Type="http://schemas.openxmlformats.org/officeDocument/2006/relationships/image" Target="../media/image-8-11.svg"/><Relationship Id="rId12" Type="http://schemas.openxmlformats.org/officeDocument/2006/relationships/image" Target="../media/image-8-12.png"/><Relationship Id="rId13" Type="http://schemas.openxmlformats.org/officeDocument/2006/relationships/image" Target="../media/image-8-13.svg"/><Relationship Id="rId14" Type="http://schemas.openxmlformats.org/officeDocument/2006/relationships/image" Target="../media/image-8-14.png"/><Relationship Id="rId15" Type="http://schemas.openxmlformats.org/officeDocument/2006/relationships/image" Target="../media/image-8-15.svg"/><Relationship Id="rId16" Type="http://schemas.openxmlformats.org/officeDocument/2006/relationships/image" Target="../media/image-8-16.png"/><Relationship Id="rId17" Type="http://schemas.openxmlformats.org/officeDocument/2006/relationships/image" Target="../media/image-8-17.svg"/><Relationship Id="rId18" Type="http://schemas.openxmlformats.org/officeDocument/2006/relationships/image" Target="../media/image-8-18.png"/><Relationship Id="rId19" Type="http://schemas.openxmlformats.org/officeDocument/2006/relationships/image" Target="../media/image-8-19.svg"/><Relationship Id="rId20" Type="http://schemas.openxmlformats.org/officeDocument/2006/relationships/image" Target="../media/image-8-20.png"/><Relationship Id="rId21" Type="http://schemas.openxmlformats.org/officeDocument/2006/relationships/image" Target="../media/image-8-21.svg"/><Relationship Id="rId22" Type="http://schemas.openxmlformats.org/officeDocument/2006/relationships/image" Target="../media/image-8-22.png"/><Relationship Id="rId23" Type="http://schemas.openxmlformats.org/officeDocument/2006/relationships/image" Target="../media/image-8-23.svg"/><Relationship Id="rId24" Type="http://schemas.openxmlformats.org/officeDocument/2006/relationships/image" Target="../media/image-8-24.png"/><Relationship Id="rId25" Type="http://schemas.openxmlformats.org/officeDocument/2006/relationships/image" Target="../media/image-8-25.svg"/><Relationship Id="rId26" Type="http://schemas.openxmlformats.org/officeDocument/2006/relationships/image" Target="../media/image-8-26.png"/><Relationship Id="rId27" Type="http://schemas.openxmlformats.org/officeDocument/2006/relationships/image" Target="../media/image-8-27.svg"/><Relationship Id="rId28" Type="http://schemas.openxmlformats.org/officeDocument/2006/relationships/slideLayout" Target="../slideLayouts/slideLayout1.xml"/><Relationship Id="rId29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image" Target="../media/image-9-2.png"/><Relationship Id="rId3" Type="http://schemas.openxmlformats.org/officeDocument/2006/relationships/image" Target="../media/image-9-3.svg"/><Relationship Id="rId4" Type="http://schemas.openxmlformats.org/officeDocument/2006/relationships/image" Target="../media/image-9-4.png"/><Relationship Id="rId5" Type="http://schemas.openxmlformats.org/officeDocument/2006/relationships/image" Target="../media/image-9-5.svg"/><Relationship Id="rId6" Type="http://schemas.openxmlformats.org/officeDocument/2006/relationships/image" Target="../media/image-9-6.png"/><Relationship Id="rId7" Type="http://schemas.openxmlformats.org/officeDocument/2006/relationships/image" Target="../media/image-9-7.svg"/><Relationship Id="rId8" Type="http://schemas.openxmlformats.org/officeDocument/2006/relationships/image" Target="../media/image-9-8.png"/><Relationship Id="rId9" Type="http://schemas.openxmlformats.org/officeDocument/2006/relationships/image" Target="../media/image-9-9.svg"/><Relationship Id="rId10" Type="http://schemas.openxmlformats.org/officeDocument/2006/relationships/image" Target="../media/image-9-10.png"/><Relationship Id="rId11" Type="http://schemas.openxmlformats.org/officeDocument/2006/relationships/image" Target="../media/image-9-11.svg"/><Relationship Id="rId12" Type="http://schemas.openxmlformats.org/officeDocument/2006/relationships/image" Target="../media/image-9-12.png"/><Relationship Id="rId13" Type="http://schemas.openxmlformats.org/officeDocument/2006/relationships/image" Target="../media/image-9-13.svg"/><Relationship Id="rId14" Type="http://schemas.openxmlformats.org/officeDocument/2006/relationships/image" Target="../media/image-9-14.png"/><Relationship Id="rId15" Type="http://schemas.openxmlformats.org/officeDocument/2006/relationships/image" Target="../media/image-9-15.svg"/><Relationship Id="rId16" Type="http://schemas.openxmlformats.org/officeDocument/2006/relationships/image" Target="../media/image-9-16.png"/><Relationship Id="rId17" Type="http://schemas.openxmlformats.org/officeDocument/2006/relationships/image" Target="../media/image-9-17.svg"/><Relationship Id="rId18" Type="http://schemas.openxmlformats.org/officeDocument/2006/relationships/image" Target="../media/image-9-18.png"/><Relationship Id="rId19" Type="http://schemas.openxmlformats.org/officeDocument/2006/relationships/image" Target="../media/image-9-19.svg"/><Relationship Id="rId20" Type="http://schemas.openxmlformats.org/officeDocument/2006/relationships/image" Target="../media/image-9-20.png"/><Relationship Id="rId21" Type="http://schemas.openxmlformats.org/officeDocument/2006/relationships/image" Target="../media/image-9-21.svg"/><Relationship Id="rId22" Type="http://schemas.openxmlformats.org/officeDocument/2006/relationships/image" Target="../media/image-9-22.png"/><Relationship Id="rId23" Type="http://schemas.openxmlformats.org/officeDocument/2006/relationships/image" Target="../media/image-9-23.svg"/><Relationship Id="rId24" Type="http://schemas.openxmlformats.org/officeDocument/2006/relationships/image" Target="../media/image-9-24.png"/><Relationship Id="rId25" Type="http://schemas.openxmlformats.org/officeDocument/2006/relationships/image" Target="../media/image-9-25.svg"/><Relationship Id="rId26" Type="http://schemas.openxmlformats.org/officeDocument/2006/relationships/image" Target="../media/image-9-26.png"/><Relationship Id="rId27" Type="http://schemas.openxmlformats.org/officeDocument/2006/relationships/image" Target="../media/image-9-27.svg"/><Relationship Id="rId28" Type="http://schemas.openxmlformats.org/officeDocument/2006/relationships/image" Target="../media/image-9-28.png"/><Relationship Id="rId29" Type="http://schemas.openxmlformats.org/officeDocument/2006/relationships/image" Target="../media/image-9-29.svg"/><Relationship Id="rId30" Type="http://schemas.openxmlformats.org/officeDocument/2006/relationships/image" Target="../media/image-9-30.png"/><Relationship Id="rId31" Type="http://schemas.openxmlformats.org/officeDocument/2006/relationships/image" Target="../media/image-9-31.svg"/><Relationship Id="rId32" Type="http://schemas.openxmlformats.org/officeDocument/2006/relationships/image" Target="../media/image-9-32.png"/><Relationship Id="rId33" Type="http://schemas.openxmlformats.org/officeDocument/2006/relationships/image" Target="../media/image-9-33.svg"/><Relationship Id="rId34" Type="http://schemas.openxmlformats.org/officeDocument/2006/relationships/image" Target="../media/image-9-34.png"/><Relationship Id="rId35" Type="http://schemas.openxmlformats.org/officeDocument/2006/relationships/image" Target="../media/image-9-35.svg"/><Relationship Id="rId36" Type="http://schemas.openxmlformats.org/officeDocument/2006/relationships/slideLayout" Target="../slideLayouts/slideLayout1.xml"/><Relationship Id="rId37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svg"/><Relationship Id="rId3" Type="http://schemas.openxmlformats.org/officeDocument/2006/relationships/image" Target="../media/image-10-3.png"/><Relationship Id="rId4" Type="http://schemas.openxmlformats.org/officeDocument/2006/relationships/image" Target="../media/image-10-4.svg"/><Relationship Id="rId5" Type="http://schemas.openxmlformats.org/officeDocument/2006/relationships/image" Target="../media/image-10-5.png"/><Relationship Id="rId6" Type="http://schemas.openxmlformats.org/officeDocument/2006/relationships/image" Target="../media/image-10-6.svg"/><Relationship Id="rId7" Type="http://schemas.openxmlformats.org/officeDocument/2006/relationships/image" Target="../media/image-10-7.png"/><Relationship Id="rId8" Type="http://schemas.openxmlformats.org/officeDocument/2006/relationships/image" Target="../media/image-10-8.svg"/><Relationship Id="rId9" Type="http://schemas.openxmlformats.org/officeDocument/2006/relationships/image" Target="../media/image-10-9.png"/><Relationship Id="rId10" Type="http://schemas.openxmlformats.org/officeDocument/2006/relationships/image" Target="../media/image-10-10.svg"/><Relationship Id="rId11" Type="http://schemas.openxmlformats.org/officeDocument/2006/relationships/image" Target="../media/image-10-11.png"/><Relationship Id="rId12" Type="http://schemas.openxmlformats.org/officeDocument/2006/relationships/image" Target="../media/image-10-12.svg"/><Relationship Id="rId13" Type="http://schemas.openxmlformats.org/officeDocument/2006/relationships/image" Target="../media/image-10-13.png"/><Relationship Id="rId14" Type="http://schemas.openxmlformats.org/officeDocument/2006/relationships/image" Target="../media/image-10-14.svg"/><Relationship Id="rId15" Type="http://schemas.openxmlformats.org/officeDocument/2006/relationships/slideLayout" Target="../slideLayouts/slideLayout1.xml"/><Relationship Id="rId16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uwg_raesfeld_erle_website_repo/images_v2/pantheon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4" name="Image 2" descr="preencoded.png">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5" name="Image 3" descr="preencoded.png">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6" name="Image 4" descr="preencoded.png">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4724248" y="438912"/>
            <a:ext cx="2743200" cy="256032"/>
          </a:xfrm>
          <a:prstGeom prst="rect">
            <a:avLst/>
          </a:prstGeom>
        </p:spPr>
      </p:pic>
      <p:sp>
        <p:nvSpPr>
          <p:cNvPr id="7" name="Text 0"/>
          <p:cNvSpPr/>
          <p:nvPr/>
        </p:nvSpPr>
        <p:spPr>
          <a:xfrm>
            <a:off x="0" y="822960"/>
            <a:ext cx="12191695" cy="1005840"/>
          </a:xfrm>
          <a:prstGeom prst="rect">
            <a:avLst/>
          </a:prstGeom>
          <a:noFill/>
          <a:ln/>
          <a:effectLst>
            <a:outerShdw sx="100000" sy="100000" kx="0" ky="0" algn="bl" rotWithShape="0" blurRad="317500" dist="50800" dir="16200000">
              <a:srgbClr val="C8820A">
                <a:alpha val="65000"/>
              </a:srgbClr>
            </a:outerShdw>
          </a:effectLst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800" b="1" spc="1000" kern="0" dirty="0">
                <a:solidFill>
                  <a:srgbClr val="F5EBD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DIE ANFÄNGE</a:t>
            </a:r>
            <a:endParaRPr lang="en-US" sz="6800" dirty="0"/>
          </a:p>
        </p:txBody>
      </p:sp>
      <p:sp>
        <p:nvSpPr>
          <p:cNvPr id="8" name="Text 1"/>
          <p:cNvSpPr/>
          <p:nvPr/>
        </p:nvSpPr>
        <p:spPr>
          <a:xfrm>
            <a:off x="0" y="1783080"/>
            <a:ext cx="12191695" cy="685800"/>
          </a:xfrm>
          <a:prstGeom prst="rect">
            <a:avLst/>
          </a:prstGeom>
          <a:noFill/>
          <a:ln/>
          <a:effectLst>
            <a:outerShdw sx="100000" sy="100000" kx="0" ky="0" algn="bl" rotWithShape="0" blurRad="152400" dist="50800" dir="16200000">
              <a:srgbClr val="C8820A">
                <a:alpha val="50000"/>
              </a:srgbClr>
            </a:outerShdw>
          </a:effectLst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spc="800" kern="0" dirty="0">
                <a:solidFill>
                  <a:srgbClr val="D9A44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DER KIRCHE IN DER ANTIKE</a:t>
            </a:r>
            <a:endParaRPr lang="en-US" sz="2600" dirty="0"/>
          </a:p>
        </p:txBody>
      </p:sp>
      <p:pic>
        <p:nvPicPr>
          <p:cNvPr id="9" name="Image 5" descr="preencoded.png">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1828754" y="2578608"/>
            <a:ext cx="8534187" cy="32004"/>
          </a:xfrm>
          <a:prstGeom prst="rect">
            <a:avLst/>
          </a:prstGeom>
        </p:spPr>
      </p:pic>
      <p:sp>
        <p:nvSpPr>
          <p:cNvPr id="10" name="Text 2"/>
          <p:cNvSpPr/>
          <p:nvPr/>
        </p:nvSpPr>
        <p:spPr>
          <a:xfrm>
            <a:off x="1463003" y="2788920"/>
            <a:ext cx="9265688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40000"/>
              </a:lnSpc>
              <a:buNone/>
            </a:pPr>
            <a:r>
              <a:rPr lang="en-US" sz="1500" dirty="0">
                <a:solidFill>
                  <a:srgbClr val="C4A8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Wie 12 Fischer aus Galiläa in 300 Jahren die größte</a:t>
            </a:r>
            <a:endParaRPr lang="en-US" sz="1500" dirty="0"/>
          </a:p>
          <a:p>
            <a:pPr algn="ctr" indent="0" marL="0">
              <a:lnSpc>
                <a:spcPct val="140000"/>
              </a:lnSpc>
              <a:buNone/>
            </a:pPr>
            <a:r>
              <a:rPr lang="en-US" sz="1500" dirty="0">
                <a:solidFill>
                  <a:srgbClr val="C4A8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Religion der Welt begründeten — und dabei das Römische</a:t>
            </a:r>
            <a:endParaRPr lang="en-US" sz="1500" dirty="0"/>
          </a:p>
          <a:p>
            <a:pPr algn="ctr" indent="0" marL="0">
              <a:lnSpc>
                <a:spcPct val="140000"/>
              </a:lnSpc>
              <a:buNone/>
            </a:pPr>
            <a:r>
              <a:rPr lang="en-US" sz="1500" dirty="0">
                <a:solidFill>
                  <a:srgbClr val="C4A8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Reich überlebten.</a:t>
            </a:r>
            <a:endParaRPr lang="en-US" sz="1500" dirty="0"/>
          </a:p>
        </p:txBody>
      </p:sp>
      <p:pic>
        <p:nvPicPr>
          <p:cNvPr id="11" name="Image 6" descr="preencoded.png">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1828754" y="3886200"/>
            <a:ext cx="8534187" cy="32004"/>
          </a:xfrm>
          <a:prstGeom prst="rect">
            <a:avLst/>
          </a:prstGeom>
        </p:spPr>
      </p:pic>
      <p:sp>
        <p:nvSpPr>
          <p:cNvPr id="12" name="Text 3"/>
          <p:cNvSpPr/>
          <p:nvPr/>
        </p:nvSpPr>
        <p:spPr>
          <a:xfrm>
            <a:off x="1828754" y="4023360"/>
            <a:ext cx="2844729" cy="411480"/>
          </a:xfrm>
          <a:prstGeom prst="rect">
            <a:avLst/>
          </a:prstGeom>
          <a:noFill/>
          <a:ln/>
          <a:effectLst>
            <a:outerShdw sx="100000" sy="100000" kx="0" ky="0" algn="bl" rotWithShape="0" blurRad="101600" dist="50800" dir="16200000">
              <a:srgbClr val="C8820A">
                <a:alpha val="40000"/>
              </a:srgbClr>
            </a:outerShdw>
          </a:effectLst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0C06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~30 n. Chr.</a:t>
            </a:r>
            <a:endParaRPr lang="en-US" sz="1800" dirty="0"/>
          </a:p>
        </p:txBody>
      </p:sp>
      <p:sp>
        <p:nvSpPr>
          <p:cNvPr id="13" name="Text 4"/>
          <p:cNvSpPr/>
          <p:nvPr/>
        </p:nvSpPr>
        <p:spPr>
          <a:xfrm>
            <a:off x="1828754" y="4434840"/>
            <a:ext cx="2844729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spc="100" kern="0" dirty="0">
                <a:solidFill>
                  <a:srgbClr val="8A70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Beginn in Jerusalem</a:t>
            </a:r>
            <a:endParaRPr lang="en-US" sz="1100" dirty="0"/>
          </a:p>
        </p:txBody>
      </p:sp>
      <p:sp>
        <p:nvSpPr>
          <p:cNvPr id="14" name="Text 5"/>
          <p:cNvSpPr/>
          <p:nvPr/>
        </p:nvSpPr>
        <p:spPr>
          <a:xfrm>
            <a:off x="4673483" y="4023360"/>
            <a:ext cx="2844729" cy="411480"/>
          </a:xfrm>
          <a:prstGeom prst="rect">
            <a:avLst/>
          </a:prstGeom>
          <a:noFill/>
          <a:ln/>
          <a:effectLst>
            <a:outerShdw sx="100000" sy="100000" kx="0" ky="0" algn="bl" rotWithShape="0" blurRad="101600" dist="50800" dir="16200000">
              <a:srgbClr val="C8820A">
                <a:alpha val="40000"/>
              </a:srgbClr>
            </a:outerShdw>
          </a:effectLst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0C06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313 n. Chr.</a:t>
            </a:r>
            <a:endParaRPr lang="en-US" sz="1800" dirty="0"/>
          </a:p>
        </p:txBody>
      </p:sp>
      <p:sp>
        <p:nvSpPr>
          <p:cNvPr id="15" name="Text 6"/>
          <p:cNvSpPr/>
          <p:nvPr/>
        </p:nvSpPr>
        <p:spPr>
          <a:xfrm>
            <a:off x="4673483" y="4434840"/>
            <a:ext cx="2844729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spc="100" kern="0" dirty="0">
                <a:solidFill>
                  <a:srgbClr val="8A70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Religionsfreiheit</a:t>
            </a:r>
            <a:endParaRPr lang="en-US" sz="1100" dirty="0"/>
          </a:p>
        </p:txBody>
      </p:sp>
      <p:sp>
        <p:nvSpPr>
          <p:cNvPr id="16" name="Text 7"/>
          <p:cNvSpPr/>
          <p:nvPr/>
        </p:nvSpPr>
        <p:spPr>
          <a:xfrm>
            <a:off x="7518212" y="4023360"/>
            <a:ext cx="2844729" cy="411480"/>
          </a:xfrm>
          <a:prstGeom prst="rect">
            <a:avLst/>
          </a:prstGeom>
          <a:noFill/>
          <a:ln/>
          <a:effectLst>
            <a:outerShdw sx="100000" sy="100000" kx="0" ky="0" algn="bl" rotWithShape="0" blurRad="101600" dist="50800" dir="16200000">
              <a:srgbClr val="C8820A">
                <a:alpha val="40000"/>
              </a:srgbClr>
            </a:outerShdw>
          </a:effectLst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0C06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380 n. Chr.</a:t>
            </a:r>
            <a:endParaRPr lang="en-US" sz="1800" dirty="0"/>
          </a:p>
        </p:txBody>
      </p:sp>
      <p:sp>
        <p:nvSpPr>
          <p:cNvPr id="17" name="Text 8"/>
          <p:cNvSpPr/>
          <p:nvPr/>
        </p:nvSpPr>
        <p:spPr>
          <a:xfrm>
            <a:off x="7518212" y="4434840"/>
            <a:ext cx="2844729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spc="100" kern="0" dirty="0">
                <a:solidFill>
                  <a:srgbClr val="8A70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Staatsreligion</a:t>
            </a:r>
            <a:endParaRPr lang="en-US" sz="1100" dirty="0"/>
          </a:p>
        </p:txBody>
      </p:sp>
      <p:sp>
        <p:nvSpPr>
          <p:cNvPr id="18" name="Text 9"/>
          <p:cNvSpPr/>
          <p:nvPr/>
        </p:nvSpPr>
        <p:spPr>
          <a:xfrm>
            <a:off x="0" y="6492240"/>
            <a:ext cx="12191695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spc="300" kern="0" dirty="0">
                <a:solidFill>
                  <a:srgbClr val="8A70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EINE SCHULPRÄSENTATION — KLASSE 11/12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uwg_raesfeld_erle_website_repo/images_v2/forum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4" name="Image 2" descr="preencoded.png">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5" name="Image 3" descr="preencoded.png">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6" name="Image 4" descr="preencoded.png">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274320" y="256032"/>
            <a:ext cx="1463040" cy="246888"/>
          </a:xfrm>
          <a:prstGeom prst="rect">
            <a:avLst/>
          </a:prstGeom>
        </p:spPr>
      </p:pic>
      <p:sp>
        <p:nvSpPr>
          <p:cNvPr id="7" name="Text 0"/>
          <p:cNvSpPr/>
          <p:nvPr/>
        </p:nvSpPr>
        <p:spPr>
          <a:xfrm>
            <a:off x="292608" y="621792"/>
            <a:ext cx="5120512" cy="2011680"/>
          </a:xfrm>
          <a:prstGeom prst="rect">
            <a:avLst/>
          </a:prstGeom>
          <a:noFill/>
          <a:ln/>
          <a:effectLst>
            <a:outerShdw sx="100000" sy="100000" kx="0" ky="0" algn="bl" rotWithShape="0" blurRad="152400" dist="50800" dir="16200000">
              <a:srgbClr val="C8820A">
                <a:alpha val="50000"/>
              </a:srgbClr>
            </a:outerShdw>
          </a:effectLst>
        </p:spPr>
        <p:txBody>
          <a:bodyPr wrap="square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3800" b="1" spc="100" kern="0" dirty="0">
                <a:solidFill>
                  <a:srgbClr val="F5EBD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Die Welt</a:t>
            </a:r>
            <a:endParaRPr lang="en-US" sz="38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3800" b="1" spc="100" kern="0" dirty="0">
                <a:solidFill>
                  <a:srgbClr val="F5EBD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vor dem</a:t>
            </a:r>
            <a:endParaRPr lang="en-US" sz="38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3800" b="1" spc="100" kern="0" dirty="0">
                <a:solidFill>
                  <a:srgbClr val="F5EBD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Christentum</a:t>
            </a:r>
            <a:endParaRPr lang="en-US" sz="3800" dirty="0"/>
          </a:p>
        </p:txBody>
      </p:sp>
      <p:pic>
        <p:nvPicPr>
          <p:cNvPr id="8" name="Image 5" descr="preencoded.png">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292608" y="2697480"/>
            <a:ext cx="4876678" cy="32004"/>
          </a:xfrm>
          <a:prstGeom prst="rect">
            <a:avLst/>
          </a:prstGeom>
        </p:spPr>
      </p:pic>
      <p:sp>
        <p:nvSpPr>
          <p:cNvPr id="9" name="Text 1"/>
          <p:cNvSpPr/>
          <p:nvPr/>
        </p:nvSpPr>
        <p:spPr>
          <a:xfrm>
            <a:off x="292608" y="2852928"/>
            <a:ext cx="5120512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300" dirty="0">
                <a:solidFill>
                  <a:srgbClr val="C4A8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Bevor die Kirche entstand, lebten über 50 Millionen Menschen im Römischen Reich — in einer Welt mit tausenden Göttern, strikter Hierarchie und Staatsreligion.</a:t>
            </a:r>
            <a:endParaRPr lang="en-US" sz="1300" dirty="0"/>
          </a:p>
        </p:txBody>
      </p:sp>
      <p:sp>
        <p:nvSpPr>
          <p:cNvPr id="10" name="Shape 2"/>
          <p:cNvSpPr/>
          <p:nvPr/>
        </p:nvSpPr>
        <p:spPr>
          <a:xfrm>
            <a:off x="5730097" y="347472"/>
            <a:ext cx="6187278" cy="1847088"/>
          </a:xfrm>
          <a:prstGeom prst="rect">
            <a:avLst/>
          </a:prstGeom>
          <a:solidFill>
            <a:srgbClr val="0F0B07">
              <a:alpha val="88000"/>
            </a:srgbClr>
          </a:solidFill>
          <a:ln w="10160">
            <a:solidFill>
              <a:srgbClr val="C8820A">
                <a:alpha val="35000"/>
              </a:srgbClr>
            </a:solidFill>
            <a:prstDash val="solid"/>
          </a:ln>
          <a:effectLst>
            <a:outerShdw sx="100000" sy="100000" kx="0" ky="0" algn="bl" rotWithShape="0" blurRad="254000" dist="50800" dir="16200000">
              <a:srgbClr val="C8820A">
                <a:alpha val="18000"/>
              </a:srgbClr>
            </a:outerShdw>
          </a:effectLst>
        </p:spPr>
      </p:sp>
      <p:sp>
        <p:nvSpPr>
          <p:cNvPr id="11" name="Shape 3"/>
          <p:cNvSpPr/>
          <p:nvPr/>
        </p:nvSpPr>
        <p:spPr>
          <a:xfrm>
            <a:off x="5730097" y="347472"/>
            <a:ext cx="6187278" cy="18288"/>
          </a:xfrm>
          <a:prstGeom prst="rect">
            <a:avLst/>
          </a:prstGeom>
          <a:solidFill>
            <a:srgbClr val="C8820A">
              <a:alpha val="50000"/>
            </a:srgbClr>
          </a:solidFill>
          <a:ln/>
        </p:spPr>
      </p:sp>
      <p:pic>
        <p:nvPicPr>
          <p:cNvPr id="12" name="Image 6" descr="preencoded.png">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5867257" y="475488"/>
            <a:ext cx="502920" cy="228600"/>
          </a:xfrm>
          <a:prstGeom prst="rect">
            <a:avLst/>
          </a:prstGeom>
        </p:spPr>
      </p:pic>
      <p:sp>
        <p:nvSpPr>
          <p:cNvPr id="13" name="Text 4"/>
          <p:cNvSpPr/>
          <p:nvPr/>
        </p:nvSpPr>
        <p:spPr>
          <a:xfrm>
            <a:off x="6461617" y="466344"/>
            <a:ext cx="531859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C8820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POLYTHEISMUS</a:t>
            </a:r>
            <a:endParaRPr lang="en-US" sz="1150" dirty="0"/>
          </a:p>
        </p:txBody>
      </p:sp>
      <p:pic>
        <p:nvPicPr>
          <p:cNvPr id="14" name="Image 7" descr="preencoded.png">    </p:cNvPr>
          <p:cNvPicPr>
            <a:picLocks noChangeAspect="1"/>
          </p:cNvPicPr>
          <p:nvPr/>
        </p:nvPicPr>
        <p:blipFill>
          <a:blip r:embed="rId14"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5867257" y="804672"/>
            <a:ext cx="5912958" cy="22860"/>
          </a:xfrm>
          <a:prstGeom prst="rect">
            <a:avLst/>
          </a:prstGeom>
        </p:spPr>
      </p:pic>
      <p:sp>
        <p:nvSpPr>
          <p:cNvPr id="15" name="Text 5"/>
          <p:cNvSpPr/>
          <p:nvPr/>
        </p:nvSpPr>
        <p:spPr>
          <a:xfrm>
            <a:off x="5867257" y="914400"/>
            <a:ext cx="5912958" cy="11704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C4A8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10.000 Götter. Für jeden Bach, jeden Beruf, jede Stadt einen eigenen. Religion war keine persönliche Überzeugung — sondern öffentliche Pflicht.</a:t>
            </a:r>
            <a:endParaRPr lang="en-US" sz="1200" dirty="0"/>
          </a:p>
        </p:txBody>
      </p:sp>
      <p:sp>
        <p:nvSpPr>
          <p:cNvPr id="16" name="Shape 6"/>
          <p:cNvSpPr/>
          <p:nvPr/>
        </p:nvSpPr>
        <p:spPr>
          <a:xfrm>
            <a:off x="5730097" y="2377440"/>
            <a:ext cx="6187278" cy="1847088"/>
          </a:xfrm>
          <a:prstGeom prst="rect">
            <a:avLst/>
          </a:prstGeom>
          <a:solidFill>
            <a:srgbClr val="0F0B07">
              <a:alpha val="88000"/>
            </a:srgbClr>
          </a:solidFill>
          <a:ln w="10160">
            <a:solidFill>
              <a:srgbClr val="C8820A">
                <a:alpha val="35000"/>
              </a:srgbClr>
            </a:solidFill>
            <a:prstDash val="solid"/>
          </a:ln>
          <a:effectLst>
            <a:outerShdw sx="100000" sy="100000" kx="0" ky="0" algn="bl" rotWithShape="0" blurRad="254000" dist="50800" dir="16200000">
              <a:srgbClr val="C8820A">
                <a:alpha val="18000"/>
              </a:srgbClr>
            </a:outerShdw>
          </a:effectLst>
        </p:spPr>
      </p:sp>
      <p:sp>
        <p:nvSpPr>
          <p:cNvPr id="17" name="Shape 7"/>
          <p:cNvSpPr/>
          <p:nvPr/>
        </p:nvSpPr>
        <p:spPr>
          <a:xfrm>
            <a:off x="5730097" y="2377440"/>
            <a:ext cx="6187278" cy="18288"/>
          </a:xfrm>
          <a:prstGeom prst="rect">
            <a:avLst/>
          </a:prstGeom>
          <a:solidFill>
            <a:srgbClr val="C8820A">
              <a:alpha val="50000"/>
            </a:srgbClr>
          </a:solidFill>
          <a:ln/>
        </p:spPr>
      </p:sp>
      <p:pic>
        <p:nvPicPr>
          <p:cNvPr id="18" name="Image 8" descr="preencoded.png">    </p:cNvPr>
          <p:cNvPicPr>
            <a:picLocks noChangeAspect="1"/>
          </p:cNvPicPr>
          <p:nvPr/>
        </p:nvPicPr>
        <p:blipFill>
          <a:blip r:embed="rId16">
            <a:extLs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5867257" y="2505456"/>
            <a:ext cx="502920" cy="228600"/>
          </a:xfrm>
          <a:prstGeom prst="rect">
            <a:avLst/>
          </a:prstGeom>
        </p:spPr>
      </p:pic>
      <p:sp>
        <p:nvSpPr>
          <p:cNvPr id="19" name="Text 8"/>
          <p:cNvSpPr/>
          <p:nvPr/>
        </p:nvSpPr>
        <p:spPr>
          <a:xfrm>
            <a:off x="6461617" y="2496312"/>
            <a:ext cx="531859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C8820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KAISERKULT</a:t>
            </a:r>
            <a:endParaRPr lang="en-US" sz="1150" dirty="0"/>
          </a:p>
        </p:txBody>
      </p:sp>
      <p:pic>
        <p:nvPicPr>
          <p:cNvPr id="20" name="Image 9" descr="preencoded.png">    </p:cNvPr>
          <p:cNvPicPr>
            <a:picLocks noChangeAspect="1"/>
          </p:cNvPicPr>
          <p:nvPr/>
        </p:nvPicPr>
        <p:blipFill>
          <a:blip r:embed="rId18">
            <a:extLst>
              <a:ext uri="{96DAC541-7B7A-43D3-8B79-37D633B846F1}">
                <asvg:svgBlip xmlns:asvg="http://schemas.microsoft.com/office/drawing/2016/SVG/main" r:embed="rId19"/>
              </a:ext>
            </a:extLst>
          </a:blip>
          <a:stretch>
            <a:fillRect/>
          </a:stretch>
        </p:blipFill>
        <p:spPr>
          <a:xfrm>
            <a:off x="5867257" y="2834640"/>
            <a:ext cx="5912958" cy="22860"/>
          </a:xfrm>
          <a:prstGeom prst="rect">
            <a:avLst/>
          </a:prstGeom>
        </p:spPr>
      </p:pic>
      <p:sp>
        <p:nvSpPr>
          <p:cNvPr id="21" name="Text 9"/>
          <p:cNvSpPr/>
          <p:nvPr/>
        </p:nvSpPr>
        <p:spPr>
          <a:xfrm>
            <a:off x="5867257" y="2944368"/>
            <a:ext cx="5912958" cy="11704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C4A8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 Kaiser anzubeten war keine Wahl. Er war Pontifex Maximus — oberster Priester. Religion und Staat waren untrennbar.</a:t>
            </a:r>
            <a:endParaRPr lang="en-US" sz="1200" dirty="0"/>
          </a:p>
        </p:txBody>
      </p:sp>
      <p:sp>
        <p:nvSpPr>
          <p:cNvPr id="22" name="Shape 10"/>
          <p:cNvSpPr/>
          <p:nvPr/>
        </p:nvSpPr>
        <p:spPr>
          <a:xfrm>
            <a:off x="5730097" y="4407408"/>
            <a:ext cx="6187278" cy="1847088"/>
          </a:xfrm>
          <a:prstGeom prst="rect">
            <a:avLst/>
          </a:prstGeom>
          <a:solidFill>
            <a:srgbClr val="0F0B07">
              <a:alpha val="88000"/>
            </a:srgbClr>
          </a:solidFill>
          <a:ln w="10160">
            <a:solidFill>
              <a:srgbClr val="C8820A">
                <a:alpha val="35000"/>
              </a:srgbClr>
            </a:solidFill>
            <a:prstDash val="solid"/>
          </a:ln>
          <a:effectLst>
            <a:outerShdw sx="100000" sy="100000" kx="0" ky="0" algn="bl" rotWithShape="0" blurRad="254000" dist="50800" dir="16200000">
              <a:srgbClr val="C8820A">
                <a:alpha val="18000"/>
              </a:srgbClr>
            </a:outerShdw>
          </a:effectLst>
        </p:spPr>
      </p:sp>
      <p:sp>
        <p:nvSpPr>
          <p:cNvPr id="23" name="Shape 11"/>
          <p:cNvSpPr/>
          <p:nvPr/>
        </p:nvSpPr>
        <p:spPr>
          <a:xfrm>
            <a:off x="5730097" y="4407408"/>
            <a:ext cx="6187278" cy="18288"/>
          </a:xfrm>
          <a:prstGeom prst="rect">
            <a:avLst/>
          </a:prstGeom>
          <a:solidFill>
            <a:srgbClr val="C8820A">
              <a:alpha val="50000"/>
            </a:srgbClr>
          </a:solidFill>
          <a:ln/>
        </p:spPr>
      </p:sp>
      <p:pic>
        <p:nvPicPr>
          <p:cNvPr id="24" name="Image 10" descr="preencoded.png">    </p:cNvPr>
          <p:cNvPicPr>
            <a:picLocks noChangeAspect="1"/>
          </p:cNvPicPr>
          <p:nvPr/>
        </p:nvPicPr>
        <p:blipFill>
          <a:blip r:embed="rId20">
            <a:extLst>
              <a:ext uri="{96DAC541-7B7A-43D3-8B79-37D633B846F1}">
                <asvg:svgBlip xmlns:asvg="http://schemas.microsoft.com/office/drawing/2016/SVG/main" r:embed="rId21"/>
              </a:ext>
            </a:extLst>
          </a:blip>
          <a:stretch>
            <a:fillRect/>
          </a:stretch>
        </p:blipFill>
        <p:spPr>
          <a:xfrm>
            <a:off x="5867257" y="4535424"/>
            <a:ext cx="502920" cy="228600"/>
          </a:xfrm>
          <a:prstGeom prst="rect">
            <a:avLst/>
          </a:prstGeom>
        </p:spPr>
      </p:pic>
      <p:sp>
        <p:nvSpPr>
          <p:cNvPr id="25" name="Text 12"/>
          <p:cNvSpPr/>
          <p:nvPr/>
        </p:nvSpPr>
        <p:spPr>
          <a:xfrm>
            <a:off x="6461617" y="4526280"/>
            <a:ext cx="531859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C8820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MYSTERIENKULTE</a:t>
            </a:r>
            <a:endParaRPr lang="en-US" sz="1150" dirty="0"/>
          </a:p>
        </p:txBody>
      </p:sp>
      <p:pic>
        <p:nvPicPr>
          <p:cNvPr id="26" name="Image 11" descr="preencoded.png">    </p:cNvPr>
          <p:cNvPicPr>
            <a:picLocks noChangeAspect="1"/>
          </p:cNvPicPr>
          <p:nvPr/>
        </p:nvPicPr>
        <p:blipFill>
          <a:blip r:embed="rId22">
            <a:extLst>
              <a:ext uri="{96DAC541-7B7A-43D3-8B79-37D633B846F1}">
                <asvg:svgBlip xmlns:asvg="http://schemas.microsoft.com/office/drawing/2016/SVG/main" r:embed="rId23"/>
              </a:ext>
            </a:extLst>
          </a:blip>
          <a:stretch>
            <a:fillRect/>
          </a:stretch>
        </p:blipFill>
        <p:spPr>
          <a:xfrm>
            <a:off x="5867257" y="4864608"/>
            <a:ext cx="5912958" cy="22860"/>
          </a:xfrm>
          <a:prstGeom prst="rect">
            <a:avLst/>
          </a:prstGeom>
        </p:spPr>
      </p:pic>
      <p:sp>
        <p:nvSpPr>
          <p:cNvPr id="27" name="Text 13"/>
          <p:cNvSpPr/>
          <p:nvPr/>
        </p:nvSpPr>
        <p:spPr>
          <a:xfrm>
            <a:off x="5867257" y="4974336"/>
            <a:ext cx="5912958" cy="11704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C4A8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Geheimreligionen wie Mithras und Isis versprachen persönliche Erlösung — genau das, was der Staatskult nicht bot. Eine Sehnsucht wuchs.</a:t>
            </a:r>
            <a:endParaRPr lang="en-US" sz="1200" dirty="0"/>
          </a:p>
        </p:txBody>
      </p:sp>
      <p:pic>
        <p:nvPicPr>
          <p:cNvPr id="28" name="Image 12" descr="preencoded.png">    </p:cNvPr>
          <p:cNvPicPr>
            <a:picLocks noChangeAspect="1"/>
          </p:cNvPicPr>
          <p:nvPr/>
        </p:nvPicPr>
        <p:blipFill>
          <a:blip r:embed="rId24">
            <a:extLst>
              <a:ext uri="{96DAC541-7B7A-43D3-8B79-37D633B846F1}">
                <asvg:svgBlip xmlns:asvg="http://schemas.microsoft.com/office/drawing/2016/SVG/main" r:embed="rId25"/>
              </a:ext>
            </a:extLst>
          </a:blip>
          <a:stretch>
            <a:fillRect/>
          </a:stretch>
        </p:blipFill>
        <p:spPr>
          <a:xfrm>
            <a:off x="274320" y="6419088"/>
            <a:ext cx="11643055" cy="18288"/>
          </a:xfrm>
          <a:prstGeom prst="rect">
            <a:avLst/>
          </a:prstGeom>
        </p:spPr>
      </p:pic>
      <p:sp>
        <p:nvSpPr>
          <p:cNvPr id="29" name="Text 14"/>
          <p:cNvSpPr/>
          <p:nvPr/>
        </p:nvSpPr>
        <p:spPr>
          <a:xfrm>
            <a:off x="274320" y="6473952"/>
            <a:ext cx="1164305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D9A44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"Glaube als persönliche Beziehung? Diese Idee gab es im Jahr 30 n. Chr. noch nicht."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uwg_raesfeld_erle_website_repo/images_v2/parthenon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4" name="Image 2" descr="preencoded.png">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5" name="Image 3" descr="preencoded.png">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6" name="Image 4" descr="preencoded.png">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4724248" y="256032"/>
            <a:ext cx="2743200" cy="246888"/>
          </a:xfrm>
          <a:prstGeom prst="rect">
            <a:avLst/>
          </a:prstGeom>
        </p:spPr>
      </p:pic>
      <p:sp>
        <p:nvSpPr>
          <p:cNvPr id="7" name="Text 0"/>
          <p:cNvSpPr/>
          <p:nvPr/>
        </p:nvSpPr>
        <p:spPr>
          <a:xfrm>
            <a:off x="0" y="621792"/>
            <a:ext cx="12191695" cy="1325880"/>
          </a:xfrm>
          <a:prstGeom prst="rect">
            <a:avLst/>
          </a:prstGeom>
          <a:noFill/>
          <a:ln/>
          <a:effectLst>
            <a:outerShdw sx="100000" sy="100000" kx="0" ky="0" algn="bl" rotWithShape="0" blurRad="152400" dist="50800" dir="16200000">
              <a:srgbClr val="C8820A">
                <a:alpha val="50000"/>
              </a:srgbClr>
            </a:outerShdw>
          </a:effectLst>
        </p:spPr>
        <p:txBody>
          <a:bodyPr wrap="square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600" i="1" dirty="0">
                <a:solidFill>
                  <a:srgbClr val="F5EBD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"Ohne Alexander den Großen</a:t>
            </a:r>
            <a:endParaRPr lang="en-US" sz="26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2600" i="1" dirty="0">
                <a:solidFill>
                  <a:srgbClr val="F5EBD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kein Paulus in Athen."</a:t>
            </a:r>
            <a:endParaRPr lang="en-US" sz="2600" dirty="0"/>
          </a:p>
        </p:txBody>
      </p:sp>
      <p:pic>
        <p:nvPicPr>
          <p:cNvPr id="8" name="Image 5" descr="preencoded.png">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2194505" y="2029968"/>
            <a:ext cx="7802685" cy="32004"/>
          </a:xfrm>
          <a:prstGeom prst="rect">
            <a:avLst/>
          </a:prstGeom>
        </p:spPr>
      </p:pic>
      <p:sp>
        <p:nvSpPr>
          <p:cNvPr id="9" name="Text 1"/>
          <p:cNvSpPr/>
          <p:nvPr/>
        </p:nvSpPr>
        <p:spPr>
          <a:xfrm>
            <a:off x="1219170" y="2176272"/>
            <a:ext cx="9753356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45000"/>
              </a:lnSpc>
              <a:buNone/>
            </a:pPr>
            <a:r>
              <a:rPr lang="en-US" sz="1350" dirty="0">
                <a:solidFill>
                  <a:srgbClr val="C4A8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Alexander der Große (356–323 v. Chr.) eroberte die halbe Welt — und hinterließ etwas Wichtigeres als Territorien: eine gemeinsame Sprache und Kultur. Das Christentum nutzte beides.</a:t>
            </a:r>
            <a:endParaRPr lang="en-US" sz="1350" dirty="0"/>
          </a:p>
        </p:txBody>
      </p:sp>
      <p:sp>
        <p:nvSpPr>
          <p:cNvPr id="10" name="Shape 2"/>
          <p:cNvSpPr/>
          <p:nvPr/>
        </p:nvSpPr>
        <p:spPr>
          <a:xfrm>
            <a:off x="274320" y="3127248"/>
            <a:ext cx="2865044" cy="3218688"/>
          </a:xfrm>
          <a:prstGeom prst="rect">
            <a:avLst/>
          </a:prstGeom>
          <a:solidFill>
            <a:srgbClr val="0F0B07">
              <a:alpha val="90000"/>
            </a:srgbClr>
          </a:solidFill>
          <a:ln w="10160">
            <a:solidFill>
              <a:srgbClr val="C8820A">
                <a:alpha val="30000"/>
              </a:srgbClr>
            </a:solidFill>
            <a:prstDash val="solid"/>
          </a:ln>
        </p:spPr>
      </p:sp>
      <p:sp>
        <p:nvSpPr>
          <p:cNvPr id="11" name="Shape 3"/>
          <p:cNvSpPr/>
          <p:nvPr/>
        </p:nvSpPr>
        <p:spPr>
          <a:xfrm>
            <a:off x="274320" y="3127248"/>
            <a:ext cx="2865044" cy="18288"/>
          </a:xfrm>
          <a:prstGeom prst="rect">
            <a:avLst/>
          </a:prstGeom>
          <a:solidFill>
            <a:srgbClr val="C8820A">
              <a:alpha val="50000"/>
            </a:srgbClr>
          </a:solidFill>
          <a:ln/>
        </p:spPr>
      </p:sp>
      <p:sp>
        <p:nvSpPr>
          <p:cNvPr id="12" name="Shape 4"/>
          <p:cNvSpPr/>
          <p:nvPr/>
        </p:nvSpPr>
        <p:spPr>
          <a:xfrm>
            <a:off x="274320" y="3127248"/>
            <a:ext cx="2865044" cy="45720"/>
          </a:xfrm>
          <a:prstGeom prst="rect">
            <a:avLst/>
          </a:prstGeom>
          <a:solidFill>
            <a:srgbClr val="C8820A">
              <a:alpha val="70000"/>
            </a:srgbClr>
          </a:solidFill>
          <a:ln/>
        </p:spPr>
      </p:sp>
      <p:pic>
        <p:nvPicPr>
          <p:cNvPr id="13" name="Image 6" descr="preencoded.png">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1514818" y="3236976"/>
            <a:ext cx="384048" cy="384048"/>
          </a:xfrm>
          <a:prstGeom prst="rect">
            <a:avLst/>
          </a:prstGeom>
        </p:spPr>
      </p:pic>
      <p:sp>
        <p:nvSpPr>
          <p:cNvPr id="14" name="Text 5"/>
          <p:cNvSpPr/>
          <p:nvPr/>
        </p:nvSpPr>
        <p:spPr>
          <a:xfrm>
            <a:off x="347472" y="3712464"/>
            <a:ext cx="27187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C8820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GRIECHISCHE SPRACHE</a:t>
            </a:r>
            <a:endParaRPr lang="en-US" sz="950" dirty="0"/>
          </a:p>
        </p:txBody>
      </p:sp>
      <p:pic>
        <p:nvPicPr>
          <p:cNvPr id="15" name="Image 7" descr="preencoded.png">    </p:cNvPr>
          <p:cNvPicPr>
            <a:picLocks noChangeAspect="1"/>
          </p:cNvPicPr>
          <p:nvPr/>
        </p:nvPicPr>
        <p:blipFill>
          <a:blip r:embed="rId14"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411480" y="4133088"/>
            <a:ext cx="2590724" cy="18288"/>
          </a:xfrm>
          <a:prstGeom prst="rect">
            <a:avLst/>
          </a:prstGeom>
        </p:spPr>
      </p:pic>
      <p:sp>
        <p:nvSpPr>
          <p:cNvPr id="16" name="Text 6"/>
          <p:cNvSpPr/>
          <p:nvPr/>
        </p:nvSpPr>
        <p:spPr>
          <a:xfrm>
            <a:off x="365760" y="4242816"/>
            <a:ext cx="2682164" cy="19385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45000"/>
              </a:lnSpc>
              <a:buNone/>
            </a:pPr>
            <a:r>
              <a:rPr lang="en-US" sz="1100" dirty="0">
                <a:solidFill>
                  <a:srgbClr val="C4A8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Koine-Griechisch war die Verkehrssprache des ganzen Ostens. Das Neue Testament wird auf Griechisch geschrieben — damit alle es lesen können.</a:t>
            </a:r>
            <a:endParaRPr lang="en-US" sz="1100" dirty="0"/>
          </a:p>
        </p:txBody>
      </p:sp>
      <p:sp>
        <p:nvSpPr>
          <p:cNvPr id="17" name="Shape 7"/>
          <p:cNvSpPr/>
          <p:nvPr/>
        </p:nvSpPr>
        <p:spPr>
          <a:xfrm>
            <a:off x="3200629" y="3127248"/>
            <a:ext cx="2865044" cy="3218688"/>
          </a:xfrm>
          <a:prstGeom prst="rect">
            <a:avLst/>
          </a:prstGeom>
          <a:solidFill>
            <a:srgbClr val="0F0B07">
              <a:alpha val="90000"/>
            </a:srgbClr>
          </a:solidFill>
          <a:ln w="10160">
            <a:solidFill>
              <a:srgbClr val="C8820A">
                <a:alpha val="30000"/>
              </a:srgbClr>
            </a:solidFill>
            <a:prstDash val="solid"/>
          </a:ln>
        </p:spPr>
      </p:sp>
      <p:sp>
        <p:nvSpPr>
          <p:cNvPr id="18" name="Shape 8"/>
          <p:cNvSpPr/>
          <p:nvPr/>
        </p:nvSpPr>
        <p:spPr>
          <a:xfrm>
            <a:off x="3200629" y="3127248"/>
            <a:ext cx="2865044" cy="18288"/>
          </a:xfrm>
          <a:prstGeom prst="rect">
            <a:avLst/>
          </a:prstGeom>
          <a:solidFill>
            <a:srgbClr val="C8820A">
              <a:alpha val="50000"/>
            </a:srgbClr>
          </a:solidFill>
          <a:ln/>
        </p:spPr>
      </p:sp>
      <p:sp>
        <p:nvSpPr>
          <p:cNvPr id="19" name="Shape 9"/>
          <p:cNvSpPr/>
          <p:nvPr/>
        </p:nvSpPr>
        <p:spPr>
          <a:xfrm>
            <a:off x="3200629" y="3127248"/>
            <a:ext cx="2865044" cy="45720"/>
          </a:xfrm>
          <a:prstGeom prst="rect">
            <a:avLst/>
          </a:prstGeom>
          <a:solidFill>
            <a:srgbClr val="C8820A">
              <a:alpha val="70000"/>
            </a:srgbClr>
          </a:solidFill>
          <a:ln/>
        </p:spPr>
      </p:sp>
      <p:pic>
        <p:nvPicPr>
          <p:cNvPr id="20" name="Image 8" descr="preencoded.png">    </p:cNvPr>
          <p:cNvPicPr>
            <a:picLocks noChangeAspect="1"/>
          </p:cNvPicPr>
          <p:nvPr/>
        </p:nvPicPr>
        <p:blipFill>
          <a:blip r:embed="rId16">
            <a:extLs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4441127" y="3236976"/>
            <a:ext cx="384048" cy="384048"/>
          </a:xfrm>
          <a:prstGeom prst="rect">
            <a:avLst/>
          </a:prstGeom>
        </p:spPr>
      </p:pic>
      <p:sp>
        <p:nvSpPr>
          <p:cNvPr id="21" name="Text 10"/>
          <p:cNvSpPr/>
          <p:nvPr/>
        </p:nvSpPr>
        <p:spPr>
          <a:xfrm>
            <a:off x="3273781" y="3712464"/>
            <a:ext cx="27187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C8820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DIE BIBEL AUF GRIECHISCH</a:t>
            </a:r>
            <a:endParaRPr lang="en-US" sz="950" dirty="0"/>
          </a:p>
        </p:txBody>
      </p:sp>
      <p:pic>
        <p:nvPicPr>
          <p:cNvPr id="22" name="Image 9" descr="preencoded.png">    </p:cNvPr>
          <p:cNvPicPr>
            <a:picLocks noChangeAspect="1"/>
          </p:cNvPicPr>
          <p:nvPr/>
        </p:nvPicPr>
        <p:blipFill>
          <a:blip r:embed="rId18">
            <a:extLst>
              <a:ext uri="{96DAC541-7B7A-43D3-8B79-37D633B846F1}">
                <asvg:svgBlip xmlns:asvg="http://schemas.microsoft.com/office/drawing/2016/SVG/main" r:embed="rId19"/>
              </a:ext>
            </a:extLst>
          </a:blip>
          <a:stretch>
            <a:fillRect/>
          </a:stretch>
        </p:blipFill>
        <p:spPr>
          <a:xfrm>
            <a:off x="3337789" y="4133088"/>
            <a:ext cx="2590724" cy="18288"/>
          </a:xfrm>
          <a:prstGeom prst="rect">
            <a:avLst/>
          </a:prstGeom>
        </p:spPr>
      </p:pic>
      <p:sp>
        <p:nvSpPr>
          <p:cNvPr id="23" name="Text 11"/>
          <p:cNvSpPr/>
          <p:nvPr/>
        </p:nvSpPr>
        <p:spPr>
          <a:xfrm>
            <a:off x="3292069" y="4242816"/>
            <a:ext cx="2682164" cy="19385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45000"/>
              </a:lnSpc>
              <a:buNone/>
            </a:pPr>
            <a:r>
              <a:rPr lang="en-US" sz="1100" dirty="0">
                <a:solidFill>
                  <a:srgbClr val="C4A8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Die Septuaginta (~250 v. Chr.): Jüdische Schriften werden ins Griechische übersetzt. Das Fundament für das NT existiert schon Jahrhunderte früher.</a:t>
            </a:r>
            <a:endParaRPr lang="en-US" sz="1100" dirty="0"/>
          </a:p>
        </p:txBody>
      </p:sp>
      <p:sp>
        <p:nvSpPr>
          <p:cNvPr id="24" name="Shape 12"/>
          <p:cNvSpPr/>
          <p:nvPr/>
        </p:nvSpPr>
        <p:spPr>
          <a:xfrm>
            <a:off x="6126937" y="3127248"/>
            <a:ext cx="2865044" cy="3218688"/>
          </a:xfrm>
          <a:prstGeom prst="rect">
            <a:avLst/>
          </a:prstGeom>
          <a:solidFill>
            <a:srgbClr val="0F0B07">
              <a:alpha val="90000"/>
            </a:srgbClr>
          </a:solidFill>
          <a:ln w="10160">
            <a:solidFill>
              <a:srgbClr val="C8820A">
                <a:alpha val="30000"/>
              </a:srgbClr>
            </a:solidFill>
            <a:prstDash val="solid"/>
          </a:ln>
        </p:spPr>
      </p:sp>
      <p:sp>
        <p:nvSpPr>
          <p:cNvPr id="25" name="Shape 13"/>
          <p:cNvSpPr/>
          <p:nvPr/>
        </p:nvSpPr>
        <p:spPr>
          <a:xfrm>
            <a:off x="6126937" y="3127248"/>
            <a:ext cx="2865044" cy="18288"/>
          </a:xfrm>
          <a:prstGeom prst="rect">
            <a:avLst/>
          </a:prstGeom>
          <a:solidFill>
            <a:srgbClr val="C8820A">
              <a:alpha val="50000"/>
            </a:srgbClr>
          </a:solidFill>
          <a:ln/>
        </p:spPr>
      </p:sp>
      <p:sp>
        <p:nvSpPr>
          <p:cNvPr id="26" name="Shape 14"/>
          <p:cNvSpPr/>
          <p:nvPr/>
        </p:nvSpPr>
        <p:spPr>
          <a:xfrm>
            <a:off x="6126937" y="3127248"/>
            <a:ext cx="2865044" cy="45720"/>
          </a:xfrm>
          <a:prstGeom prst="rect">
            <a:avLst/>
          </a:prstGeom>
          <a:solidFill>
            <a:srgbClr val="C8820A">
              <a:alpha val="70000"/>
            </a:srgbClr>
          </a:solidFill>
          <a:ln/>
        </p:spPr>
      </p:sp>
      <p:pic>
        <p:nvPicPr>
          <p:cNvPr id="27" name="Image 10" descr="preencoded.png">    </p:cNvPr>
          <p:cNvPicPr>
            <a:picLocks noChangeAspect="1"/>
          </p:cNvPicPr>
          <p:nvPr/>
        </p:nvPicPr>
        <p:blipFill>
          <a:blip r:embed="rId20">
            <a:extLst>
              <a:ext uri="{96DAC541-7B7A-43D3-8B79-37D633B846F1}">
                <asvg:svgBlip xmlns:asvg="http://schemas.microsoft.com/office/drawing/2016/SVG/main" r:embed="rId21"/>
              </a:ext>
            </a:extLst>
          </a:blip>
          <a:stretch>
            <a:fillRect/>
          </a:stretch>
        </p:blipFill>
        <p:spPr>
          <a:xfrm>
            <a:off x="7367435" y="3236976"/>
            <a:ext cx="384048" cy="384048"/>
          </a:xfrm>
          <a:prstGeom prst="rect">
            <a:avLst/>
          </a:prstGeom>
        </p:spPr>
      </p:pic>
      <p:sp>
        <p:nvSpPr>
          <p:cNvPr id="28" name="Text 15"/>
          <p:cNvSpPr/>
          <p:nvPr/>
        </p:nvSpPr>
        <p:spPr>
          <a:xfrm>
            <a:off x="6200089" y="3712464"/>
            <a:ext cx="27187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C8820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PHILOSOPHIE &amp; LOGOS</a:t>
            </a:r>
            <a:endParaRPr lang="en-US" sz="950" dirty="0"/>
          </a:p>
        </p:txBody>
      </p:sp>
      <p:pic>
        <p:nvPicPr>
          <p:cNvPr id="29" name="Image 11" descr="preencoded.png">    </p:cNvPr>
          <p:cNvPicPr>
            <a:picLocks noChangeAspect="1"/>
          </p:cNvPicPr>
          <p:nvPr/>
        </p:nvPicPr>
        <p:blipFill>
          <a:blip r:embed="rId22">
            <a:extLst>
              <a:ext uri="{96DAC541-7B7A-43D3-8B79-37D633B846F1}">
                <asvg:svgBlip xmlns:asvg="http://schemas.microsoft.com/office/drawing/2016/SVG/main" r:embed="rId23"/>
              </a:ext>
            </a:extLst>
          </a:blip>
          <a:stretch>
            <a:fillRect/>
          </a:stretch>
        </p:blipFill>
        <p:spPr>
          <a:xfrm>
            <a:off x="6264097" y="4133088"/>
            <a:ext cx="2590724" cy="18288"/>
          </a:xfrm>
          <a:prstGeom prst="rect">
            <a:avLst/>
          </a:prstGeom>
        </p:spPr>
      </p:pic>
      <p:sp>
        <p:nvSpPr>
          <p:cNvPr id="30" name="Text 16"/>
          <p:cNvSpPr/>
          <p:nvPr/>
        </p:nvSpPr>
        <p:spPr>
          <a:xfrm>
            <a:off x="6218377" y="4242816"/>
            <a:ext cx="2682164" cy="19385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45000"/>
              </a:lnSpc>
              <a:buNone/>
            </a:pPr>
            <a:r>
              <a:rPr lang="en-US" sz="1100" dirty="0">
                <a:solidFill>
                  <a:srgbClr val="C4A8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Platon und die Stoa sprechen vom "Logos" — dem göttlichen Vernunftprinzip. Johannes greift es auf: "Im Anfang war der Logos." (Joh 1,1)</a:t>
            </a:r>
            <a:endParaRPr lang="en-US" sz="1100" dirty="0"/>
          </a:p>
        </p:txBody>
      </p:sp>
      <p:sp>
        <p:nvSpPr>
          <p:cNvPr id="31" name="Shape 17"/>
          <p:cNvSpPr/>
          <p:nvPr/>
        </p:nvSpPr>
        <p:spPr>
          <a:xfrm>
            <a:off x="9053246" y="3127248"/>
            <a:ext cx="2865044" cy="3218688"/>
          </a:xfrm>
          <a:prstGeom prst="rect">
            <a:avLst/>
          </a:prstGeom>
          <a:solidFill>
            <a:srgbClr val="0F0B07">
              <a:alpha val="90000"/>
            </a:srgbClr>
          </a:solidFill>
          <a:ln w="10160">
            <a:solidFill>
              <a:srgbClr val="C8820A">
                <a:alpha val="30000"/>
              </a:srgbClr>
            </a:solidFill>
            <a:prstDash val="solid"/>
          </a:ln>
        </p:spPr>
      </p:sp>
      <p:sp>
        <p:nvSpPr>
          <p:cNvPr id="32" name="Shape 18"/>
          <p:cNvSpPr/>
          <p:nvPr/>
        </p:nvSpPr>
        <p:spPr>
          <a:xfrm>
            <a:off x="9053246" y="3127248"/>
            <a:ext cx="2865044" cy="18288"/>
          </a:xfrm>
          <a:prstGeom prst="rect">
            <a:avLst/>
          </a:prstGeom>
          <a:solidFill>
            <a:srgbClr val="C8820A">
              <a:alpha val="50000"/>
            </a:srgbClr>
          </a:solidFill>
          <a:ln/>
        </p:spPr>
      </p:sp>
      <p:sp>
        <p:nvSpPr>
          <p:cNvPr id="33" name="Shape 19"/>
          <p:cNvSpPr/>
          <p:nvPr/>
        </p:nvSpPr>
        <p:spPr>
          <a:xfrm>
            <a:off x="9053246" y="3127248"/>
            <a:ext cx="2865044" cy="45720"/>
          </a:xfrm>
          <a:prstGeom prst="rect">
            <a:avLst/>
          </a:prstGeom>
          <a:solidFill>
            <a:srgbClr val="C8820A">
              <a:alpha val="70000"/>
            </a:srgbClr>
          </a:solidFill>
          <a:ln/>
        </p:spPr>
      </p:sp>
      <p:pic>
        <p:nvPicPr>
          <p:cNvPr id="34" name="Image 12" descr="preencoded.png">    </p:cNvPr>
          <p:cNvPicPr>
            <a:picLocks noChangeAspect="1"/>
          </p:cNvPicPr>
          <p:nvPr/>
        </p:nvPicPr>
        <p:blipFill>
          <a:blip r:embed="rId24">
            <a:extLst>
              <a:ext uri="{96DAC541-7B7A-43D3-8B79-37D633B846F1}">
                <asvg:svgBlip xmlns:asvg="http://schemas.microsoft.com/office/drawing/2016/SVG/main" r:embed="rId25"/>
              </a:ext>
            </a:extLst>
          </a:blip>
          <a:stretch>
            <a:fillRect/>
          </a:stretch>
        </p:blipFill>
        <p:spPr>
          <a:xfrm>
            <a:off x="10293744" y="3236976"/>
            <a:ext cx="384048" cy="384048"/>
          </a:xfrm>
          <a:prstGeom prst="rect">
            <a:avLst/>
          </a:prstGeom>
        </p:spPr>
      </p:pic>
      <p:sp>
        <p:nvSpPr>
          <p:cNvPr id="35" name="Text 20"/>
          <p:cNvSpPr/>
          <p:nvPr/>
        </p:nvSpPr>
        <p:spPr>
          <a:xfrm>
            <a:off x="9126398" y="3712464"/>
            <a:ext cx="27187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C8820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STÄDTENETZ</a:t>
            </a:r>
            <a:endParaRPr lang="en-US" sz="950" dirty="0"/>
          </a:p>
        </p:txBody>
      </p:sp>
      <p:pic>
        <p:nvPicPr>
          <p:cNvPr id="36" name="Image 13" descr="preencoded.png">    </p:cNvPr>
          <p:cNvPicPr>
            <a:picLocks noChangeAspect="1"/>
          </p:cNvPicPr>
          <p:nvPr/>
        </p:nvPicPr>
        <p:blipFill>
          <a:blip r:embed="rId26">
            <a:extLst>
              <a:ext uri="{96DAC541-7B7A-43D3-8B79-37D633B846F1}">
                <asvg:svgBlip xmlns:asvg="http://schemas.microsoft.com/office/drawing/2016/SVG/main" r:embed="rId27"/>
              </a:ext>
            </a:extLst>
          </a:blip>
          <a:stretch>
            <a:fillRect/>
          </a:stretch>
        </p:blipFill>
        <p:spPr>
          <a:xfrm>
            <a:off x="9190406" y="4133088"/>
            <a:ext cx="2590724" cy="18288"/>
          </a:xfrm>
          <a:prstGeom prst="rect">
            <a:avLst/>
          </a:prstGeom>
        </p:spPr>
      </p:pic>
      <p:sp>
        <p:nvSpPr>
          <p:cNvPr id="37" name="Text 21"/>
          <p:cNvSpPr/>
          <p:nvPr/>
        </p:nvSpPr>
        <p:spPr>
          <a:xfrm>
            <a:off x="9144686" y="4242816"/>
            <a:ext cx="2682164" cy="19385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45000"/>
              </a:lnSpc>
              <a:buNone/>
            </a:pPr>
            <a:r>
              <a:rPr lang="en-US" sz="1100" dirty="0">
                <a:solidFill>
                  <a:srgbClr val="C4A8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Alexander hinterlässt ein Netz aus Handelsstädten: Antiochia, Ephesus, Alexandria. Genau auf diesen Routen reist Paulus 300 Jahre später.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uwg_raesfeld_erle_website_repo/images_v2/catacombs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4" name="Image 2" descr="preencoded.png">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5" name="Image 3" descr="preencoded.png">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6" name="Image 4" descr="preencoded.png">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274320" y="256032"/>
            <a:ext cx="1645920" cy="246888"/>
          </a:xfrm>
          <a:prstGeom prst="rect">
            <a:avLst/>
          </a:prstGeom>
        </p:spPr>
      </p:pic>
      <p:sp>
        <p:nvSpPr>
          <p:cNvPr id="7" name="Text 0"/>
          <p:cNvSpPr/>
          <p:nvPr/>
        </p:nvSpPr>
        <p:spPr>
          <a:xfrm>
            <a:off x="292608" y="640080"/>
            <a:ext cx="5852014" cy="594360"/>
          </a:xfrm>
          <a:prstGeom prst="rect">
            <a:avLst/>
          </a:prstGeom>
          <a:noFill/>
          <a:ln/>
          <a:effectLst>
            <a:outerShdw sx="100000" sy="100000" kx="0" ky="0" algn="bl" rotWithShape="0" blurRad="152400" dist="50800" dir="16200000">
              <a:srgbClr val="C8820A">
                <a:alpha val="50000"/>
              </a:srgbClr>
            </a:outerShdw>
          </a:effectLst>
        </p:spPr>
        <p:txBody>
          <a:bodyPr wrap="square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400" b="1" spc="300" kern="0" dirty="0">
                <a:solidFill>
                  <a:srgbClr val="D9A44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~30 n. Chr.</a:t>
            </a:r>
            <a:endParaRPr lang="en-US" sz="1400" dirty="0"/>
          </a:p>
        </p:txBody>
      </p:sp>
      <p:sp>
        <p:nvSpPr>
          <p:cNvPr id="8" name="Text 1"/>
          <p:cNvSpPr/>
          <p:nvPr/>
        </p:nvSpPr>
        <p:spPr>
          <a:xfrm>
            <a:off x="292608" y="1170432"/>
            <a:ext cx="5852014" cy="1371600"/>
          </a:xfrm>
          <a:prstGeom prst="rect">
            <a:avLst/>
          </a:prstGeom>
          <a:noFill/>
          <a:ln/>
          <a:effectLst>
            <a:outerShdw sx="100000" sy="100000" kx="0" ky="0" algn="bl" rotWithShape="0" blurRad="152400" dist="50800" dir="16200000">
              <a:srgbClr val="C8820A">
                <a:alpha val="50000"/>
              </a:srgbClr>
            </a:outerShdw>
          </a:effectLst>
        </p:spPr>
        <p:txBody>
          <a:bodyPr wrap="square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3000" b="1" spc="50" kern="0" dirty="0">
                <a:solidFill>
                  <a:srgbClr val="F5EBD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Ein Wanderprediger</a:t>
            </a:r>
            <a:endParaRPr lang="en-US" sz="30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3000" b="1" spc="50" kern="0" dirty="0">
                <a:solidFill>
                  <a:srgbClr val="F5EBD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aus Galiläa wird</a:t>
            </a:r>
            <a:endParaRPr lang="en-US" sz="30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3000" b="1" spc="50" kern="0" dirty="0">
                <a:solidFill>
                  <a:srgbClr val="F5EBD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hingerichtet.</a:t>
            </a:r>
            <a:endParaRPr lang="en-US" sz="3000" dirty="0"/>
          </a:p>
        </p:txBody>
      </p:sp>
      <p:pic>
        <p:nvPicPr>
          <p:cNvPr id="9" name="Image 5" descr="preencoded.png">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292608" y="2670048"/>
            <a:ext cx="5486263" cy="32004"/>
          </a:xfrm>
          <a:prstGeom prst="rect">
            <a:avLst/>
          </a:prstGeom>
        </p:spPr>
      </p:pic>
      <p:sp>
        <p:nvSpPr>
          <p:cNvPr id="10" name="Text 2"/>
          <p:cNvSpPr/>
          <p:nvPr/>
        </p:nvSpPr>
        <p:spPr>
          <a:xfrm>
            <a:off x="292608" y="2816352"/>
            <a:ext cx="56081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400" i="1" dirty="0">
                <a:solidFill>
                  <a:srgbClr val="C4A88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50 Tage später behaupten seine Anhänger:</a:t>
            </a:r>
            <a:endParaRPr lang="en-US" sz="14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400" i="1" dirty="0">
                <a:solidFill>
                  <a:srgbClr val="C4A88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Er ist zurück. Diese Behauptung verändert die Weltgeschichte.</a:t>
            </a:r>
            <a:endParaRPr lang="en-US" sz="1400" dirty="0"/>
          </a:p>
        </p:txBody>
      </p:sp>
      <p:sp>
        <p:nvSpPr>
          <p:cNvPr id="11" name="Shape 3"/>
          <p:cNvSpPr/>
          <p:nvPr/>
        </p:nvSpPr>
        <p:spPr>
          <a:xfrm>
            <a:off x="292608" y="3730752"/>
            <a:ext cx="5608180" cy="896112"/>
          </a:xfrm>
          <a:prstGeom prst="rect">
            <a:avLst/>
          </a:prstGeom>
          <a:solidFill>
            <a:srgbClr val="0F0B07">
              <a:alpha val="90000"/>
            </a:srgbClr>
          </a:solidFill>
          <a:ln w="10160">
            <a:solidFill>
              <a:srgbClr val="C8820A">
                <a:alpha val="40000"/>
              </a:srgbClr>
            </a:solidFill>
            <a:prstDash val="solid"/>
          </a:ln>
        </p:spPr>
      </p:sp>
      <p:sp>
        <p:nvSpPr>
          <p:cNvPr id="12" name="Shape 4"/>
          <p:cNvSpPr/>
          <p:nvPr/>
        </p:nvSpPr>
        <p:spPr>
          <a:xfrm>
            <a:off x="292608" y="3730752"/>
            <a:ext cx="5608180" cy="18288"/>
          </a:xfrm>
          <a:prstGeom prst="rect">
            <a:avLst/>
          </a:prstGeom>
          <a:solidFill>
            <a:srgbClr val="C8820A">
              <a:alpha val="50000"/>
            </a:srgbClr>
          </a:solidFill>
          <a:ln/>
        </p:spPr>
      </p:sp>
      <p:sp>
        <p:nvSpPr>
          <p:cNvPr id="13" name="Text 5"/>
          <p:cNvSpPr/>
          <p:nvPr/>
        </p:nvSpPr>
        <p:spPr>
          <a:xfrm>
            <a:off x="411480" y="3794760"/>
            <a:ext cx="51205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C882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WER WAR JESUS? — KURZ ERKLÄRT</a:t>
            </a:r>
            <a:endParaRPr lang="en-US" sz="1000" dirty="0"/>
          </a:p>
        </p:txBody>
      </p:sp>
      <p:sp>
        <p:nvSpPr>
          <p:cNvPr id="14" name="Text 6"/>
          <p:cNvSpPr/>
          <p:nvPr/>
        </p:nvSpPr>
        <p:spPr>
          <a:xfrm>
            <a:off x="411480" y="4078224"/>
            <a:ext cx="512051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150" dirty="0">
                <a:solidFill>
                  <a:srgbClr val="C4A8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Jüdischer Wanderprediger, ca. 4 v. Chr.–30 n. Chr., aus Nazareth (Galiläa). Predigte Nächstenliebe, Vergebung und die Nähe Gottes. Wurde als Staatsfeind unter Pontius Pilatus gekreuzigt.</a:t>
            </a:r>
            <a:endParaRPr lang="en-US" sz="1150" dirty="0"/>
          </a:p>
        </p:txBody>
      </p:sp>
      <p:sp>
        <p:nvSpPr>
          <p:cNvPr id="15" name="Text 7"/>
          <p:cNvSpPr/>
          <p:nvPr/>
        </p:nvSpPr>
        <p:spPr>
          <a:xfrm>
            <a:off x="6339682" y="256032"/>
            <a:ext cx="56081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00" b="1" spc="300" kern="0" dirty="0">
                <a:solidFill>
                  <a:srgbClr val="C8820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DIE ERSTEN SCHRITTE</a:t>
            </a:r>
            <a:endParaRPr lang="en-US" sz="1100" dirty="0"/>
          </a:p>
        </p:txBody>
      </p:sp>
      <p:pic>
        <p:nvPicPr>
          <p:cNvPr id="16" name="Image 6" descr="preencoded.png">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6431122" y="694944"/>
            <a:ext cx="402336" cy="402336"/>
          </a:xfrm>
          <a:prstGeom prst="rect">
            <a:avLst/>
          </a:prstGeom>
        </p:spPr>
      </p:pic>
      <p:sp>
        <p:nvSpPr>
          <p:cNvPr id="17" name="Shape 8"/>
          <p:cNvSpPr/>
          <p:nvPr/>
        </p:nvSpPr>
        <p:spPr>
          <a:xfrm>
            <a:off x="6632290" y="1097280"/>
            <a:ext cx="0" cy="658368"/>
          </a:xfrm>
          <a:prstGeom prst="line">
            <a:avLst/>
          </a:prstGeom>
          <a:noFill/>
          <a:ln w="12700">
            <a:solidFill>
              <a:srgbClr val="6B4A0F"/>
            </a:solidFill>
            <a:prstDash val="dash"/>
          </a:ln>
        </p:spPr>
      </p:sp>
      <p:sp>
        <p:nvSpPr>
          <p:cNvPr id="18" name="Text 9"/>
          <p:cNvSpPr/>
          <p:nvPr/>
        </p:nvSpPr>
        <p:spPr>
          <a:xfrm>
            <a:off x="6970618" y="694944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D9A44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~30 n. Chr.</a:t>
            </a:r>
            <a:endParaRPr lang="en-US" sz="1200" dirty="0"/>
          </a:p>
        </p:txBody>
      </p:sp>
      <p:sp>
        <p:nvSpPr>
          <p:cNvPr id="19" name="Text 10"/>
          <p:cNvSpPr/>
          <p:nvPr/>
        </p:nvSpPr>
        <p:spPr>
          <a:xfrm>
            <a:off x="6970618" y="950976"/>
            <a:ext cx="4632844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4A8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Kreuzigung. Grab drei Tage später leer — laut Berichten der Jünger.</a:t>
            </a:r>
            <a:endParaRPr lang="en-US" sz="1150" dirty="0"/>
          </a:p>
        </p:txBody>
      </p:sp>
      <p:pic>
        <p:nvPicPr>
          <p:cNvPr id="20" name="Image 7" descr="preencoded.png">    </p:cNvPr>
          <p:cNvPicPr>
            <a:picLocks noChangeAspect="1"/>
          </p:cNvPicPr>
          <p:nvPr/>
        </p:nvPicPr>
        <p:blipFill>
          <a:blip r:embed="rId14"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6431122" y="1792224"/>
            <a:ext cx="402336" cy="402336"/>
          </a:xfrm>
          <a:prstGeom prst="rect">
            <a:avLst/>
          </a:prstGeom>
        </p:spPr>
      </p:pic>
      <p:sp>
        <p:nvSpPr>
          <p:cNvPr id="21" name="Shape 11"/>
          <p:cNvSpPr/>
          <p:nvPr/>
        </p:nvSpPr>
        <p:spPr>
          <a:xfrm>
            <a:off x="6632290" y="2194560"/>
            <a:ext cx="0" cy="658368"/>
          </a:xfrm>
          <a:prstGeom prst="line">
            <a:avLst/>
          </a:prstGeom>
          <a:noFill/>
          <a:ln w="12700">
            <a:solidFill>
              <a:srgbClr val="6B4A0F"/>
            </a:solidFill>
            <a:prstDash val="dash"/>
          </a:ln>
        </p:spPr>
      </p:sp>
      <p:sp>
        <p:nvSpPr>
          <p:cNvPr id="22" name="Text 12"/>
          <p:cNvSpPr/>
          <p:nvPr/>
        </p:nvSpPr>
        <p:spPr>
          <a:xfrm>
            <a:off x="6970618" y="1792224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D9A44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Pfingsten (30)</a:t>
            </a:r>
            <a:endParaRPr lang="en-US" sz="1200" dirty="0"/>
          </a:p>
        </p:txBody>
      </p:sp>
      <p:sp>
        <p:nvSpPr>
          <p:cNvPr id="23" name="Text 13"/>
          <p:cNvSpPr/>
          <p:nvPr/>
        </p:nvSpPr>
        <p:spPr>
          <a:xfrm>
            <a:off x="6970618" y="2048256"/>
            <a:ext cx="4632844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4A8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Ersterfahrung des Heiligen Geistes. ~120 Anhänger in Jerusalem.</a:t>
            </a:r>
            <a:endParaRPr lang="en-US" sz="1150" dirty="0"/>
          </a:p>
        </p:txBody>
      </p:sp>
      <p:pic>
        <p:nvPicPr>
          <p:cNvPr id="24" name="Image 8" descr="preencoded.png">    </p:cNvPr>
          <p:cNvPicPr>
            <a:picLocks noChangeAspect="1"/>
          </p:cNvPicPr>
          <p:nvPr/>
        </p:nvPicPr>
        <p:blipFill>
          <a:blip r:embed="rId16">
            <a:extLs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6431122" y="2889504"/>
            <a:ext cx="402336" cy="402336"/>
          </a:xfrm>
          <a:prstGeom prst="rect">
            <a:avLst/>
          </a:prstGeom>
        </p:spPr>
      </p:pic>
      <p:sp>
        <p:nvSpPr>
          <p:cNvPr id="25" name="Shape 14"/>
          <p:cNvSpPr/>
          <p:nvPr/>
        </p:nvSpPr>
        <p:spPr>
          <a:xfrm>
            <a:off x="6632290" y="3291840"/>
            <a:ext cx="0" cy="658368"/>
          </a:xfrm>
          <a:prstGeom prst="line">
            <a:avLst/>
          </a:prstGeom>
          <a:noFill/>
          <a:ln w="12700">
            <a:solidFill>
              <a:srgbClr val="6B4A0F"/>
            </a:solidFill>
            <a:prstDash val="dash"/>
          </a:ln>
        </p:spPr>
      </p:sp>
      <p:sp>
        <p:nvSpPr>
          <p:cNvPr id="26" name="Text 15"/>
          <p:cNvSpPr/>
          <p:nvPr/>
        </p:nvSpPr>
        <p:spPr>
          <a:xfrm>
            <a:off x="6970618" y="2889504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D9A44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30–50 n. Chr.</a:t>
            </a:r>
            <a:endParaRPr lang="en-US" sz="1200" dirty="0"/>
          </a:p>
        </p:txBody>
      </p:sp>
      <p:sp>
        <p:nvSpPr>
          <p:cNvPr id="27" name="Text 16"/>
          <p:cNvSpPr/>
          <p:nvPr/>
        </p:nvSpPr>
        <p:spPr>
          <a:xfrm>
            <a:off x="6970618" y="3145536"/>
            <a:ext cx="4632844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4A8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Erste Gemeinden. Gütergemeinschaft. Sehen sich noch als Juden.</a:t>
            </a:r>
            <a:endParaRPr lang="en-US" sz="1150" dirty="0"/>
          </a:p>
        </p:txBody>
      </p:sp>
      <p:pic>
        <p:nvPicPr>
          <p:cNvPr id="28" name="Image 9" descr="preencoded.png">    </p:cNvPr>
          <p:cNvPicPr>
            <a:picLocks noChangeAspect="1"/>
          </p:cNvPicPr>
          <p:nvPr/>
        </p:nvPicPr>
        <p:blipFill>
          <a:blip r:embed="rId18">
            <a:extLst>
              <a:ext uri="{96DAC541-7B7A-43D3-8B79-37D633B846F1}">
                <asvg:svgBlip xmlns:asvg="http://schemas.microsoft.com/office/drawing/2016/SVG/main" r:embed="rId19"/>
              </a:ext>
            </a:extLst>
          </a:blip>
          <a:stretch>
            <a:fillRect/>
          </a:stretch>
        </p:blipFill>
        <p:spPr>
          <a:xfrm>
            <a:off x="6431122" y="3986784"/>
            <a:ext cx="402336" cy="402336"/>
          </a:xfrm>
          <a:prstGeom prst="rect">
            <a:avLst/>
          </a:prstGeom>
        </p:spPr>
      </p:pic>
      <p:sp>
        <p:nvSpPr>
          <p:cNvPr id="29" name="Shape 17"/>
          <p:cNvSpPr/>
          <p:nvPr/>
        </p:nvSpPr>
        <p:spPr>
          <a:xfrm>
            <a:off x="6632290" y="4389120"/>
            <a:ext cx="0" cy="658368"/>
          </a:xfrm>
          <a:prstGeom prst="line">
            <a:avLst/>
          </a:prstGeom>
          <a:noFill/>
          <a:ln w="12700">
            <a:solidFill>
              <a:srgbClr val="6B4A0F"/>
            </a:solidFill>
            <a:prstDash val="dash"/>
          </a:ln>
        </p:spPr>
      </p:sp>
      <p:sp>
        <p:nvSpPr>
          <p:cNvPr id="30" name="Text 18"/>
          <p:cNvSpPr/>
          <p:nvPr/>
        </p:nvSpPr>
        <p:spPr>
          <a:xfrm>
            <a:off x="6970618" y="3986784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D9A44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~50 n. Chr.</a:t>
            </a:r>
            <a:endParaRPr lang="en-US" sz="1200" dirty="0"/>
          </a:p>
        </p:txBody>
      </p:sp>
      <p:sp>
        <p:nvSpPr>
          <p:cNvPr id="31" name="Text 19"/>
          <p:cNvSpPr/>
          <p:nvPr/>
        </p:nvSpPr>
        <p:spPr>
          <a:xfrm>
            <a:off x="6970618" y="4242816"/>
            <a:ext cx="4632844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4A8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Paulus beginnt zu schreiben. Älteste NT-Texte entstehen.</a:t>
            </a:r>
            <a:endParaRPr lang="en-US" sz="1150" dirty="0"/>
          </a:p>
        </p:txBody>
      </p:sp>
      <p:pic>
        <p:nvPicPr>
          <p:cNvPr id="32" name="Image 10" descr="preencoded.png">    </p:cNvPr>
          <p:cNvPicPr>
            <a:picLocks noChangeAspect="1"/>
          </p:cNvPicPr>
          <p:nvPr/>
        </p:nvPicPr>
        <p:blipFill>
          <a:blip r:embed="rId20">
            <a:extLst>
              <a:ext uri="{96DAC541-7B7A-43D3-8B79-37D633B846F1}">
                <asvg:svgBlip xmlns:asvg="http://schemas.microsoft.com/office/drawing/2016/SVG/main" r:embed="rId21"/>
              </a:ext>
            </a:extLst>
          </a:blip>
          <a:stretch>
            <a:fillRect/>
          </a:stretch>
        </p:blipFill>
        <p:spPr>
          <a:xfrm>
            <a:off x="6431122" y="5084064"/>
            <a:ext cx="402336" cy="402336"/>
          </a:xfrm>
          <a:prstGeom prst="rect">
            <a:avLst/>
          </a:prstGeom>
        </p:spPr>
      </p:pic>
      <p:sp>
        <p:nvSpPr>
          <p:cNvPr id="33" name="Text 20"/>
          <p:cNvSpPr/>
          <p:nvPr/>
        </p:nvSpPr>
        <p:spPr>
          <a:xfrm>
            <a:off x="6970618" y="5084064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D9A44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~70 n. Chr.</a:t>
            </a:r>
            <a:endParaRPr lang="en-US" sz="1200" dirty="0"/>
          </a:p>
        </p:txBody>
      </p:sp>
      <p:sp>
        <p:nvSpPr>
          <p:cNvPr id="34" name="Text 21"/>
          <p:cNvSpPr/>
          <p:nvPr/>
        </p:nvSpPr>
        <p:spPr>
          <a:xfrm>
            <a:off x="6970618" y="5340096"/>
            <a:ext cx="4632844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4A8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Zerstörung des Tempels in Jerusalem. Christentum trennt sich vom Judentum.</a:t>
            </a:r>
            <a:endParaRPr lang="en-US" sz="11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uwg_raesfeld_erle_website_repo/images_v2/ostia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4" name="Image 2" descr="preencoded.png">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5" name="Image 3" descr="preencoded.png">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6" name="Image 4" descr="preencoded.png">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7" name="Image 5" descr="preencoded.png">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274320" y="256032"/>
            <a:ext cx="1463040" cy="246888"/>
          </a:xfrm>
          <a:prstGeom prst="rect">
            <a:avLst/>
          </a:prstGeom>
        </p:spPr>
      </p:pic>
      <p:sp>
        <p:nvSpPr>
          <p:cNvPr id="8" name="Text 0"/>
          <p:cNvSpPr/>
          <p:nvPr/>
        </p:nvSpPr>
        <p:spPr>
          <a:xfrm>
            <a:off x="292608" y="621792"/>
            <a:ext cx="5364346" cy="2194560"/>
          </a:xfrm>
          <a:prstGeom prst="rect">
            <a:avLst/>
          </a:prstGeom>
          <a:noFill/>
          <a:ln/>
          <a:effectLst>
            <a:outerShdw sx="100000" sy="100000" kx="0" ky="0" algn="bl" rotWithShape="0" blurRad="152400" dist="50800" dir="16200000">
              <a:srgbClr val="C8820A">
                <a:alpha val="50000"/>
              </a:srgbClr>
            </a:outerShdw>
          </a:effectLst>
        </p:spPr>
        <p:txBody>
          <a:bodyPr wrap="square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400" i="1" dirty="0">
                <a:solidFill>
                  <a:srgbClr val="F5EBD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"Der Mann, der</a:t>
            </a:r>
            <a:endParaRPr lang="en-US" sz="24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400" i="1" dirty="0">
                <a:solidFill>
                  <a:srgbClr val="F5EBD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Christen jagte,</a:t>
            </a:r>
            <a:endParaRPr lang="en-US" sz="24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400" i="1" dirty="0">
                <a:solidFill>
                  <a:srgbClr val="F5EBD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wurde ihr wichtigster</a:t>
            </a:r>
            <a:endParaRPr lang="en-US" sz="24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400" i="1" dirty="0">
                <a:solidFill>
                  <a:srgbClr val="F5EBD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Missionar."</a:t>
            </a:r>
            <a:endParaRPr lang="en-US" sz="2400" dirty="0"/>
          </a:p>
        </p:txBody>
      </p:sp>
      <p:pic>
        <p:nvPicPr>
          <p:cNvPr id="9" name="Image 6" descr="preencoded.png">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292608" y="2926080"/>
            <a:ext cx="5120512" cy="32004"/>
          </a:xfrm>
          <a:prstGeom prst="rect">
            <a:avLst/>
          </a:prstGeom>
        </p:spPr>
      </p:pic>
      <p:sp>
        <p:nvSpPr>
          <p:cNvPr id="10" name="Shape 1"/>
          <p:cNvSpPr/>
          <p:nvPr/>
        </p:nvSpPr>
        <p:spPr>
          <a:xfrm>
            <a:off x="292608" y="3090672"/>
            <a:ext cx="5364346" cy="1024128"/>
          </a:xfrm>
          <a:prstGeom prst="rect">
            <a:avLst/>
          </a:prstGeom>
          <a:solidFill>
            <a:srgbClr val="0F0B07">
              <a:alpha val="88000"/>
            </a:srgbClr>
          </a:solidFill>
          <a:ln w="10160">
            <a:solidFill>
              <a:srgbClr val="C8820A">
                <a:alpha val="40000"/>
              </a:srgbClr>
            </a:solidFill>
            <a:prstDash val="solid"/>
          </a:ln>
        </p:spPr>
      </p:sp>
      <p:sp>
        <p:nvSpPr>
          <p:cNvPr id="11" name="Shape 2"/>
          <p:cNvSpPr/>
          <p:nvPr/>
        </p:nvSpPr>
        <p:spPr>
          <a:xfrm>
            <a:off x="292608" y="3090672"/>
            <a:ext cx="5364346" cy="18288"/>
          </a:xfrm>
          <a:prstGeom prst="rect">
            <a:avLst/>
          </a:prstGeom>
          <a:solidFill>
            <a:srgbClr val="C8820A">
              <a:alpha val="50000"/>
            </a:srgbClr>
          </a:solidFill>
          <a:ln/>
        </p:spPr>
      </p:sp>
      <p:sp>
        <p:nvSpPr>
          <p:cNvPr id="12" name="Text 3"/>
          <p:cNvSpPr/>
          <p:nvPr/>
        </p:nvSpPr>
        <p:spPr>
          <a:xfrm>
            <a:off x="411480" y="3154680"/>
            <a:ext cx="487667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C882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WER WAR PAULUS? — KURZ ERKLÄRT</a:t>
            </a:r>
            <a:endParaRPr lang="en-US" sz="1000" dirty="0"/>
          </a:p>
        </p:txBody>
      </p:sp>
      <p:sp>
        <p:nvSpPr>
          <p:cNvPr id="13" name="Text 4"/>
          <p:cNvSpPr/>
          <p:nvPr/>
        </p:nvSpPr>
        <p:spPr>
          <a:xfrm>
            <a:off x="411480" y="3438144"/>
            <a:ext cx="5120512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150" dirty="0">
                <a:solidFill>
                  <a:srgbClr val="C4A8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Saulus von Tarsus (ca. 5–67 n. Chr.), gebildeter Jude und römischer Bürger. Verfolgte zunächst Christen — bis er auf dem Weg nach Damaskus eine Vision hatte (ca. 35 n. Chr.). Schrieb danach 13 der 27 NT-Bücher und bereiste das halbe Mittelmeer.</a:t>
            </a:r>
            <a:endParaRPr lang="en-US" sz="1150" dirty="0"/>
          </a:p>
        </p:txBody>
      </p:sp>
      <p:sp>
        <p:nvSpPr>
          <p:cNvPr id="14" name="Text 5"/>
          <p:cNvSpPr/>
          <p:nvPr/>
        </p:nvSpPr>
        <p:spPr>
          <a:xfrm>
            <a:off x="292608" y="4206240"/>
            <a:ext cx="536434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D9A44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 Missionsreisen · 13 NT-Briefe · Nie Jesus persönlich getroffen</a:t>
            </a:r>
            <a:endParaRPr lang="en-US" sz="1200" dirty="0"/>
          </a:p>
        </p:txBody>
      </p:sp>
      <p:sp>
        <p:nvSpPr>
          <p:cNvPr id="15" name="Text 6"/>
          <p:cNvSpPr/>
          <p:nvPr/>
        </p:nvSpPr>
        <p:spPr>
          <a:xfrm>
            <a:off x="6095848" y="256032"/>
            <a:ext cx="585201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00" b="1" spc="300" kern="0" dirty="0">
                <a:solidFill>
                  <a:srgbClr val="C8820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SEINE STATIONEN</a:t>
            </a:r>
            <a:endParaRPr lang="en-US" sz="1100" dirty="0"/>
          </a:p>
        </p:txBody>
      </p:sp>
      <p:pic>
        <p:nvPicPr>
          <p:cNvPr id="16" name="Image 7" descr="preencoded.png">    </p:cNvPr>
          <p:cNvPicPr>
            <a:picLocks noChangeAspect="1"/>
          </p:cNvPicPr>
          <p:nvPr/>
        </p:nvPicPr>
        <p:blipFill>
          <a:blip r:embed="rId14"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6169000" y="713232"/>
            <a:ext cx="329184" cy="329184"/>
          </a:xfrm>
          <a:prstGeom prst="rect">
            <a:avLst/>
          </a:prstGeom>
        </p:spPr>
      </p:pic>
      <p:sp>
        <p:nvSpPr>
          <p:cNvPr id="17" name="Shape 7"/>
          <p:cNvSpPr/>
          <p:nvPr/>
        </p:nvSpPr>
        <p:spPr>
          <a:xfrm>
            <a:off x="6333592" y="1042416"/>
            <a:ext cx="0" cy="749808"/>
          </a:xfrm>
          <a:prstGeom prst="line">
            <a:avLst/>
          </a:prstGeom>
          <a:noFill/>
          <a:ln w="12700">
            <a:solidFill>
              <a:srgbClr val="6B4A0F"/>
            </a:solidFill>
            <a:prstDash val="dash"/>
          </a:ln>
        </p:spPr>
      </p:sp>
      <p:sp>
        <p:nvSpPr>
          <p:cNvPr id="18" name="Text 8"/>
          <p:cNvSpPr/>
          <p:nvPr/>
        </p:nvSpPr>
        <p:spPr>
          <a:xfrm>
            <a:off x="6598768" y="694944"/>
            <a:ext cx="2286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F5EBD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ANTIOCHIA</a:t>
            </a:r>
            <a:endParaRPr lang="en-US" sz="1300" dirty="0"/>
          </a:p>
        </p:txBody>
      </p:sp>
      <p:sp>
        <p:nvSpPr>
          <p:cNvPr id="19" name="Text 9"/>
          <p:cNvSpPr/>
          <p:nvPr/>
        </p:nvSpPr>
        <p:spPr>
          <a:xfrm>
            <a:off x="6598768" y="978408"/>
            <a:ext cx="5227168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150" dirty="0">
                <a:solidFill>
                  <a:srgbClr val="C4A8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Hier werden Anhänger Jesu zum ersten Mal "Christen" genannt (~45 n. Chr.)</a:t>
            </a:r>
            <a:endParaRPr lang="en-US" sz="1150" dirty="0"/>
          </a:p>
        </p:txBody>
      </p:sp>
      <p:pic>
        <p:nvPicPr>
          <p:cNvPr id="20" name="Image 8" descr="preencoded.png">    </p:cNvPr>
          <p:cNvPicPr>
            <a:picLocks noChangeAspect="1"/>
          </p:cNvPicPr>
          <p:nvPr/>
        </p:nvPicPr>
        <p:blipFill>
          <a:blip r:embed="rId16">
            <a:extLs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6169000" y="1828800"/>
            <a:ext cx="329184" cy="329184"/>
          </a:xfrm>
          <a:prstGeom prst="rect">
            <a:avLst/>
          </a:prstGeom>
        </p:spPr>
      </p:pic>
      <p:sp>
        <p:nvSpPr>
          <p:cNvPr id="21" name="Shape 10"/>
          <p:cNvSpPr/>
          <p:nvPr/>
        </p:nvSpPr>
        <p:spPr>
          <a:xfrm>
            <a:off x="6333592" y="2157984"/>
            <a:ext cx="0" cy="749808"/>
          </a:xfrm>
          <a:prstGeom prst="line">
            <a:avLst/>
          </a:prstGeom>
          <a:noFill/>
          <a:ln w="12700">
            <a:solidFill>
              <a:srgbClr val="6B4A0F"/>
            </a:solidFill>
            <a:prstDash val="dash"/>
          </a:ln>
        </p:spPr>
      </p:sp>
      <p:sp>
        <p:nvSpPr>
          <p:cNvPr id="22" name="Text 11"/>
          <p:cNvSpPr/>
          <p:nvPr/>
        </p:nvSpPr>
        <p:spPr>
          <a:xfrm>
            <a:off x="6598768" y="1810512"/>
            <a:ext cx="2286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F5EBD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KORINTH</a:t>
            </a:r>
            <a:endParaRPr lang="en-US" sz="1300" dirty="0"/>
          </a:p>
        </p:txBody>
      </p:sp>
      <p:sp>
        <p:nvSpPr>
          <p:cNvPr id="23" name="Text 12"/>
          <p:cNvSpPr/>
          <p:nvPr/>
        </p:nvSpPr>
        <p:spPr>
          <a:xfrm>
            <a:off x="6598768" y="2093976"/>
            <a:ext cx="5227168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150" dirty="0">
                <a:solidFill>
                  <a:srgbClr val="C4A8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 Monate. Wichtigste Handelsstadt des Ostens. Wichtige Gemeinde entsteht.</a:t>
            </a:r>
            <a:endParaRPr lang="en-US" sz="1150" dirty="0"/>
          </a:p>
        </p:txBody>
      </p:sp>
      <p:pic>
        <p:nvPicPr>
          <p:cNvPr id="24" name="Image 9" descr="preencoded.png">    </p:cNvPr>
          <p:cNvPicPr>
            <a:picLocks noChangeAspect="1"/>
          </p:cNvPicPr>
          <p:nvPr/>
        </p:nvPicPr>
        <p:blipFill>
          <a:blip r:embed="rId18">
            <a:extLst>
              <a:ext uri="{96DAC541-7B7A-43D3-8B79-37D633B846F1}">
                <asvg:svgBlip xmlns:asvg="http://schemas.microsoft.com/office/drawing/2016/SVG/main" r:embed="rId19"/>
              </a:ext>
            </a:extLst>
          </a:blip>
          <a:stretch>
            <a:fillRect/>
          </a:stretch>
        </p:blipFill>
        <p:spPr>
          <a:xfrm>
            <a:off x="6169000" y="2944368"/>
            <a:ext cx="329184" cy="329184"/>
          </a:xfrm>
          <a:prstGeom prst="rect">
            <a:avLst/>
          </a:prstGeom>
        </p:spPr>
      </p:pic>
      <p:sp>
        <p:nvSpPr>
          <p:cNvPr id="25" name="Shape 13"/>
          <p:cNvSpPr/>
          <p:nvPr/>
        </p:nvSpPr>
        <p:spPr>
          <a:xfrm>
            <a:off x="6333592" y="3273552"/>
            <a:ext cx="0" cy="749808"/>
          </a:xfrm>
          <a:prstGeom prst="line">
            <a:avLst/>
          </a:prstGeom>
          <a:noFill/>
          <a:ln w="12700">
            <a:solidFill>
              <a:srgbClr val="6B4A0F"/>
            </a:solidFill>
            <a:prstDash val="dash"/>
          </a:ln>
        </p:spPr>
      </p:sp>
      <p:sp>
        <p:nvSpPr>
          <p:cNvPr id="26" name="Text 14"/>
          <p:cNvSpPr/>
          <p:nvPr/>
        </p:nvSpPr>
        <p:spPr>
          <a:xfrm>
            <a:off x="6598768" y="2926080"/>
            <a:ext cx="2286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F5EBD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ATHEN</a:t>
            </a:r>
            <a:endParaRPr lang="en-US" sz="1300" dirty="0"/>
          </a:p>
        </p:txBody>
      </p:sp>
      <p:sp>
        <p:nvSpPr>
          <p:cNvPr id="27" name="Text 15"/>
          <p:cNvSpPr/>
          <p:nvPr/>
        </p:nvSpPr>
        <p:spPr>
          <a:xfrm>
            <a:off x="6598768" y="3209544"/>
            <a:ext cx="5227168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150" dirty="0">
                <a:solidFill>
                  <a:srgbClr val="C4A8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Areopag-Rede: Er zitiert griechische Dichter und trifft Philosophen auf ihrem Boden.</a:t>
            </a:r>
            <a:endParaRPr lang="en-US" sz="1150" dirty="0"/>
          </a:p>
        </p:txBody>
      </p:sp>
      <p:pic>
        <p:nvPicPr>
          <p:cNvPr id="28" name="Image 10" descr="preencoded.png">    </p:cNvPr>
          <p:cNvPicPr>
            <a:picLocks noChangeAspect="1"/>
          </p:cNvPicPr>
          <p:nvPr/>
        </p:nvPicPr>
        <p:blipFill>
          <a:blip r:embed="rId20">
            <a:extLst>
              <a:ext uri="{96DAC541-7B7A-43D3-8B79-37D633B846F1}">
                <asvg:svgBlip xmlns:asvg="http://schemas.microsoft.com/office/drawing/2016/SVG/main" r:embed="rId21"/>
              </a:ext>
            </a:extLst>
          </a:blip>
          <a:stretch>
            <a:fillRect/>
          </a:stretch>
        </p:blipFill>
        <p:spPr>
          <a:xfrm>
            <a:off x="6169000" y="4059936"/>
            <a:ext cx="329184" cy="329184"/>
          </a:xfrm>
          <a:prstGeom prst="rect">
            <a:avLst/>
          </a:prstGeom>
        </p:spPr>
      </p:pic>
      <p:sp>
        <p:nvSpPr>
          <p:cNvPr id="29" name="Shape 16"/>
          <p:cNvSpPr/>
          <p:nvPr/>
        </p:nvSpPr>
        <p:spPr>
          <a:xfrm>
            <a:off x="6333592" y="4389120"/>
            <a:ext cx="0" cy="749808"/>
          </a:xfrm>
          <a:prstGeom prst="line">
            <a:avLst/>
          </a:prstGeom>
          <a:noFill/>
          <a:ln w="12700">
            <a:solidFill>
              <a:srgbClr val="6B4A0F"/>
            </a:solidFill>
            <a:prstDash val="dash"/>
          </a:ln>
        </p:spPr>
      </p:sp>
      <p:sp>
        <p:nvSpPr>
          <p:cNvPr id="30" name="Text 17"/>
          <p:cNvSpPr/>
          <p:nvPr/>
        </p:nvSpPr>
        <p:spPr>
          <a:xfrm>
            <a:off x="6598768" y="4041648"/>
            <a:ext cx="2286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F5EBD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EPHESUS</a:t>
            </a:r>
            <a:endParaRPr lang="en-US" sz="1300" dirty="0"/>
          </a:p>
        </p:txBody>
      </p:sp>
      <p:sp>
        <p:nvSpPr>
          <p:cNvPr id="31" name="Text 18"/>
          <p:cNvSpPr/>
          <p:nvPr/>
        </p:nvSpPr>
        <p:spPr>
          <a:xfrm>
            <a:off x="6598768" y="4325112"/>
            <a:ext cx="5227168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150" dirty="0">
                <a:solidFill>
                  <a:srgbClr val="C4A8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Jahre. Missioniert gegen den Artemis-Kult. Beinahe-Aufstand der Silberschmiede.</a:t>
            </a:r>
            <a:endParaRPr lang="en-US" sz="1150" dirty="0"/>
          </a:p>
        </p:txBody>
      </p:sp>
      <p:pic>
        <p:nvPicPr>
          <p:cNvPr id="32" name="Image 11" descr="preencoded.png">    </p:cNvPr>
          <p:cNvPicPr>
            <a:picLocks noChangeAspect="1"/>
          </p:cNvPicPr>
          <p:nvPr/>
        </p:nvPicPr>
        <p:blipFill>
          <a:blip r:embed="rId22">
            <a:extLst>
              <a:ext uri="{96DAC541-7B7A-43D3-8B79-37D633B846F1}">
                <asvg:svgBlip xmlns:asvg="http://schemas.microsoft.com/office/drawing/2016/SVG/main" r:embed="rId23"/>
              </a:ext>
            </a:extLst>
          </a:blip>
          <a:stretch>
            <a:fillRect/>
          </a:stretch>
        </p:blipFill>
        <p:spPr>
          <a:xfrm>
            <a:off x="6169000" y="5175504"/>
            <a:ext cx="329184" cy="329184"/>
          </a:xfrm>
          <a:prstGeom prst="rect">
            <a:avLst/>
          </a:prstGeom>
        </p:spPr>
      </p:pic>
      <p:sp>
        <p:nvSpPr>
          <p:cNvPr id="33" name="Text 19"/>
          <p:cNvSpPr/>
          <p:nvPr/>
        </p:nvSpPr>
        <p:spPr>
          <a:xfrm>
            <a:off x="6598768" y="5157216"/>
            <a:ext cx="2286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F5EBD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ROM</a:t>
            </a:r>
            <a:endParaRPr lang="en-US" sz="1300" dirty="0"/>
          </a:p>
        </p:txBody>
      </p:sp>
      <p:sp>
        <p:nvSpPr>
          <p:cNvPr id="34" name="Text 20"/>
          <p:cNvSpPr/>
          <p:nvPr/>
        </p:nvSpPr>
        <p:spPr>
          <a:xfrm>
            <a:off x="6598768" y="5440680"/>
            <a:ext cx="5227168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150" dirty="0">
                <a:solidFill>
                  <a:srgbClr val="C4A8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Stirbt dort ~67 n. Chr. unter Kaiser Nero. Heute steht dort sein Grab.</a:t>
            </a:r>
            <a:endParaRPr lang="en-US" sz="11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uwg_raesfeld_erle_website_repo/images_v2/colosseum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4" name="Image 2" descr="preencoded.png">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5" name="Image 3" descr="preencoded.png">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6" name="Image 4" descr="preencoded.png">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7" name="Image 5" descr="preencoded.png">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4998568" y="256032"/>
            <a:ext cx="2194560" cy="246888"/>
          </a:xfrm>
          <a:prstGeom prst="rect">
            <a:avLst/>
          </a:prstGeom>
        </p:spPr>
      </p:pic>
      <p:sp>
        <p:nvSpPr>
          <p:cNvPr id="8" name="Text 0"/>
          <p:cNvSpPr/>
          <p:nvPr/>
        </p:nvSpPr>
        <p:spPr>
          <a:xfrm>
            <a:off x="0" y="621792"/>
            <a:ext cx="12191695" cy="1188720"/>
          </a:xfrm>
          <a:prstGeom prst="rect">
            <a:avLst/>
          </a:prstGeom>
          <a:noFill/>
          <a:ln/>
          <a:effectLst>
            <a:outerShdw sx="100000" sy="100000" kx="0" ky="0" algn="bl" rotWithShape="0" blurRad="152400" dist="50800" dir="16200000">
              <a:srgbClr val="C8820A">
                <a:alpha val="50000"/>
              </a:srgbClr>
            </a:outerShdw>
          </a:effectLst>
        </p:spPr>
        <p:txBody>
          <a:bodyPr wrap="square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800" i="1" dirty="0">
                <a:solidFill>
                  <a:srgbClr val="F5EBD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"Wie tötet man eine Religion?</a:t>
            </a:r>
            <a:endParaRPr lang="en-US" sz="28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2800" i="1" dirty="0">
                <a:solidFill>
                  <a:srgbClr val="F5EBD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Antwort: Man kann nicht."</a:t>
            </a:r>
            <a:endParaRPr lang="en-US" sz="2800" dirty="0"/>
          </a:p>
        </p:txBody>
      </p:sp>
      <p:pic>
        <p:nvPicPr>
          <p:cNvPr id="9" name="Image 6" descr="preencoded.png">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1463003" y="1920240"/>
            <a:ext cx="9265688" cy="32004"/>
          </a:xfrm>
          <a:prstGeom prst="rect">
            <a:avLst/>
          </a:prstGeom>
        </p:spPr>
      </p:pic>
      <p:sp>
        <p:nvSpPr>
          <p:cNvPr id="10" name="Text 1"/>
          <p:cNvSpPr/>
          <p:nvPr/>
        </p:nvSpPr>
        <p:spPr>
          <a:xfrm>
            <a:off x="975336" y="2057400"/>
            <a:ext cx="10241024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40000"/>
              </a:lnSpc>
              <a:buNone/>
            </a:pPr>
            <a:r>
              <a:rPr lang="en-US" sz="1350" dirty="0">
                <a:solidFill>
                  <a:srgbClr val="C4A8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Die Christen weigerten sich, den Kaiser zu verehren. Das war politische Subversion.</a:t>
            </a:r>
            <a:endParaRPr lang="en-US" sz="1350" dirty="0"/>
          </a:p>
          <a:p>
            <a:pPr algn="ctr" indent="0" marL="0">
              <a:lnSpc>
                <a:spcPct val="140000"/>
              </a:lnSpc>
              <a:buNone/>
            </a:pPr>
            <a:r>
              <a:rPr lang="en-US" sz="1350" dirty="0">
                <a:solidFill>
                  <a:srgbClr val="C4A8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Drei Mal versuchte Rom, sie zu vernichten. Drei Mal scheiterte es.</a:t>
            </a:r>
            <a:endParaRPr lang="en-US" sz="1350" dirty="0"/>
          </a:p>
        </p:txBody>
      </p:sp>
      <p:sp>
        <p:nvSpPr>
          <p:cNvPr id="11" name="Shape 2"/>
          <p:cNvSpPr/>
          <p:nvPr/>
        </p:nvSpPr>
        <p:spPr>
          <a:xfrm>
            <a:off x="274320" y="2852928"/>
            <a:ext cx="3789578" cy="3401568"/>
          </a:xfrm>
          <a:prstGeom prst="rect">
            <a:avLst/>
          </a:prstGeom>
          <a:solidFill>
            <a:srgbClr val="0F0B07">
              <a:alpha val="90000"/>
            </a:srgbClr>
          </a:solidFill>
          <a:ln w="10160">
            <a:solidFill>
              <a:srgbClr val="C8820A">
                <a:alpha val="45000"/>
              </a:srgbClr>
            </a:solidFill>
            <a:prstDash val="solid"/>
          </a:ln>
          <a:effectLst>
            <a:outerShdw sx="100000" sy="100000" kx="0" ky="0" algn="bl" rotWithShape="0" blurRad="254000" dist="50800" dir="16200000">
              <a:srgbClr val="C8820A">
                <a:alpha val="18000"/>
              </a:srgbClr>
            </a:outerShdw>
          </a:effectLst>
        </p:spPr>
      </p:sp>
      <p:sp>
        <p:nvSpPr>
          <p:cNvPr id="12" name="Shape 3"/>
          <p:cNvSpPr/>
          <p:nvPr/>
        </p:nvSpPr>
        <p:spPr>
          <a:xfrm>
            <a:off x="274320" y="2852928"/>
            <a:ext cx="3789578" cy="18288"/>
          </a:xfrm>
          <a:prstGeom prst="rect">
            <a:avLst/>
          </a:prstGeom>
          <a:solidFill>
            <a:srgbClr val="C8820A">
              <a:alpha val="50000"/>
            </a:srgbClr>
          </a:solidFill>
          <a:ln/>
        </p:spPr>
      </p:sp>
      <p:sp>
        <p:nvSpPr>
          <p:cNvPr id="13" name="Shape 4"/>
          <p:cNvSpPr/>
          <p:nvPr/>
        </p:nvSpPr>
        <p:spPr>
          <a:xfrm>
            <a:off x="274320" y="2852928"/>
            <a:ext cx="3789578" cy="54864"/>
          </a:xfrm>
          <a:prstGeom prst="rect">
            <a:avLst/>
          </a:prstGeom>
          <a:solidFill>
            <a:srgbClr val="A0421A">
              <a:alpha val="80000"/>
            </a:srgbClr>
          </a:solidFill>
          <a:ln/>
        </p:spPr>
      </p:sp>
      <p:sp>
        <p:nvSpPr>
          <p:cNvPr id="14" name="Text 5"/>
          <p:cNvSpPr/>
          <p:nvPr/>
        </p:nvSpPr>
        <p:spPr>
          <a:xfrm>
            <a:off x="411480" y="2980944"/>
            <a:ext cx="3515258" cy="384048"/>
          </a:xfrm>
          <a:prstGeom prst="rect">
            <a:avLst/>
          </a:prstGeom>
          <a:noFill/>
          <a:ln/>
          <a:effectLst>
            <a:outerShdw sx="100000" sy="100000" kx="0" ky="0" algn="bl" rotWithShape="0" blurRad="127000" dist="50800" dir="16200000">
              <a:srgbClr val="C8820A">
                <a:alpha val="50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0C06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64 n. Chr.</a:t>
            </a:r>
            <a:endParaRPr lang="en-US" sz="2000" dirty="0"/>
          </a:p>
        </p:txBody>
      </p:sp>
      <p:sp>
        <p:nvSpPr>
          <p:cNvPr id="15" name="Text 6"/>
          <p:cNvSpPr/>
          <p:nvPr/>
        </p:nvSpPr>
        <p:spPr>
          <a:xfrm>
            <a:off x="411480" y="3364992"/>
            <a:ext cx="351525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C8820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NERO</a:t>
            </a:r>
            <a:endParaRPr lang="en-US" sz="1400" dirty="0"/>
          </a:p>
        </p:txBody>
      </p:sp>
      <p:sp>
        <p:nvSpPr>
          <p:cNvPr id="16" name="Text 7"/>
          <p:cNvSpPr/>
          <p:nvPr/>
        </p:nvSpPr>
        <p:spPr>
          <a:xfrm>
            <a:off x="411480" y="3657600"/>
            <a:ext cx="351525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A70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 erste Angriff</a:t>
            </a:r>
            <a:endParaRPr lang="en-US" sz="1100" dirty="0"/>
          </a:p>
        </p:txBody>
      </p:sp>
      <p:pic>
        <p:nvPicPr>
          <p:cNvPr id="17" name="Image 7" descr="preencoded.png">    </p:cNvPr>
          <p:cNvPicPr>
            <a:picLocks noChangeAspect="1"/>
          </p:cNvPicPr>
          <p:nvPr/>
        </p:nvPicPr>
        <p:blipFill>
          <a:blip r:embed="rId14"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411480" y="3968496"/>
            <a:ext cx="3515258" cy="18288"/>
          </a:xfrm>
          <a:prstGeom prst="rect">
            <a:avLst/>
          </a:prstGeom>
        </p:spPr>
      </p:pic>
      <p:sp>
        <p:nvSpPr>
          <p:cNvPr id="18" name="Text 8"/>
          <p:cNvSpPr/>
          <p:nvPr/>
        </p:nvSpPr>
        <p:spPr>
          <a:xfrm>
            <a:off x="411480" y="4087368"/>
            <a:ext cx="3515258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C4A8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Nach dem Brand Roms macht Nero die Christen zum Sündenbock. Petrus und Paulus sterben. Erstmals werden Christen im Kolosseum hingerichtet.</a:t>
            </a:r>
            <a:endParaRPr lang="en-US" sz="1200" dirty="0"/>
          </a:p>
        </p:txBody>
      </p:sp>
      <p:sp>
        <p:nvSpPr>
          <p:cNvPr id="19" name="Shape 9"/>
          <p:cNvSpPr/>
          <p:nvPr/>
        </p:nvSpPr>
        <p:spPr>
          <a:xfrm>
            <a:off x="4201058" y="2852928"/>
            <a:ext cx="3789578" cy="3401568"/>
          </a:xfrm>
          <a:prstGeom prst="rect">
            <a:avLst/>
          </a:prstGeom>
          <a:solidFill>
            <a:srgbClr val="0F0B07">
              <a:alpha val="90000"/>
            </a:srgbClr>
          </a:solidFill>
          <a:ln w="10160">
            <a:solidFill>
              <a:srgbClr val="C8820A">
                <a:alpha val="45000"/>
              </a:srgbClr>
            </a:solidFill>
            <a:prstDash val="solid"/>
          </a:ln>
          <a:effectLst>
            <a:outerShdw sx="100000" sy="100000" kx="0" ky="0" algn="bl" rotWithShape="0" blurRad="254000" dist="50800" dir="16200000">
              <a:srgbClr val="C8820A">
                <a:alpha val="18000"/>
              </a:srgbClr>
            </a:outerShdw>
          </a:effectLst>
        </p:spPr>
      </p:sp>
      <p:sp>
        <p:nvSpPr>
          <p:cNvPr id="20" name="Shape 10"/>
          <p:cNvSpPr/>
          <p:nvPr/>
        </p:nvSpPr>
        <p:spPr>
          <a:xfrm>
            <a:off x="4201058" y="2852928"/>
            <a:ext cx="3789578" cy="18288"/>
          </a:xfrm>
          <a:prstGeom prst="rect">
            <a:avLst/>
          </a:prstGeom>
          <a:solidFill>
            <a:srgbClr val="C8820A">
              <a:alpha val="50000"/>
            </a:srgbClr>
          </a:solidFill>
          <a:ln/>
        </p:spPr>
      </p:sp>
      <p:sp>
        <p:nvSpPr>
          <p:cNvPr id="21" name="Shape 11"/>
          <p:cNvSpPr/>
          <p:nvPr/>
        </p:nvSpPr>
        <p:spPr>
          <a:xfrm>
            <a:off x="4201058" y="2852928"/>
            <a:ext cx="3789578" cy="54864"/>
          </a:xfrm>
          <a:prstGeom prst="rect">
            <a:avLst/>
          </a:prstGeom>
          <a:solidFill>
            <a:srgbClr val="A0421A">
              <a:alpha val="80000"/>
            </a:srgbClr>
          </a:solidFill>
          <a:ln/>
        </p:spPr>
      </p:sp>
      <p:sp>
        <p:nvSpPr>
          <p:cNvPr id="22" name="Text 12"/>
          <p:cNvSpPr/>
          <p:nvPr/>
        </p:nvSpPr>
        <p:spPr>
          <a:xfrm>
            <a:off x="4338218" y="2980944"/>
            <a:ext cx="3515258" cy="384048"/>
          </a:xfrm>
          <a:prstGeom prst="rect">
            <a:avLst/>
          </a:prstGeom>
          <a:noFill/>
          <a:ln/>
          <a:effectLst>
            <a:outerShdw sx="100000" sy="100000" kx="0" ky="0" algn="bl" rotWithShape="0" blurRad="127000" dist="50800" dir="16200000">
              <a:srgbClr val="C8820A">
                <a:alpha val="50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0C06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250 n. Chr.</a:t>
            </a:r>
            <a:endParaRPr lang="en-US" sz="2000" dirty="0"/>
          </a:p>
        </p:txBody>
      </p:sp>
      <p:sp>
        <p:nvSpPr>
          <p:cNvPr id="23" name="Text 13"/>
          <p:cNvSpPr/>
          <p:nvPr/>
        </p:nvSpPr>
        <p:spPr>
          <a:xfrm>
            <a:off x="4338218" y="3364992"/>
            <a:ext cx="351525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C8820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DECIUS</a:t>
            </a:r>
            <a:endParaRPr lang="en-US" sz="1400" dirty="0"/>
          </a:p>
        </p:txBody>
      </p:sp>
      <p:sp>
        <p:nvSpPr>
          <p:cNvPr id="24" name="Text 14"/>
          <p:cNvSpPr/>
          <p:nvPr/>
        </p:nvSpPr>
        <p:spPr>
          <a:xfrm>
            <a:off x="4338218" y="3657600"/>
            <a:ext cx="351525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A70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Die erste Reichsverfolgung</a:t>
            </a:r>
            <a:endParaRPr lang="en-US" sz="1100" dirty="0"/>
          </a:p>
        </p:txBody>
      </p:sp>
      <p:pic>
        <p:nvPicPr>
          <p:cNvPr id="25" name="Image 8" descr="preencoded.png">    </p:cNvPr>
          <p:cNvPicPr>
            <a:picLocks noChangeAspect="1"/>
          </p:cNvPicPr>
          <p:nvPr/>
        </p:nvPicPr>
        <p:blipFill>
          <a:blip r:embed="rId16">
            <a:extLs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4338218" y="3968496"/>
            <a:ext cx="3515258" cy="18288"/>
          </a:xfrm>
          <a:prstGeom prst="rect">
            <a:avLst/>
          </a:prstGeom>
        </p:spPr>
      </p:pic>
      <p:sp>
        <p:nvSpPr>
          <p:cNvPr id="26" name="Text 15"/>
          <p:cNvSpPr/>
          <p:nvPr/>
        </p:nvSpPr>
        <p:spPr>
          <a:xfrm>
            <a:off x="4338218" y="4087368"/>
            <a:ext cx="3515258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C4A8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Jeder Bürger muss dem Kaiser opfern und einen Zettel als Beweis vorweisen. Wer sich weigert, stirbt. Erste staatsorganisierte Christenverfolgung im gesamten Reich.</a:t>
            </a:r>
            <a:endParaRPr lang="en-US" sz="1200" dirty="0"/>
          </a:p>
        </p:txBody>
      </p:sp>
      <p:sp>
        <p:nvSpPr>
          <p:cNvPr id="27" name="Shape 16"/>
          <p:cNvSpPr/>
          <p:nvPr/>
        </p:nvSpPr>
        <p:spPr>
          <a:xfrm>
            <a:off x="8127797" y="2852928"/>
            <a:ext cx="3789578" cy="3401568"/>
          </a:xfrm>
          <a:prstGeom prst="rect">
            <a:avLst/>
          </a:prstGeom>
          <a:solidFill>
            <a:srgbClr val="0F0B07">
              <a:alpha val="90000"/>
            </a:srgbClr>
          </a:solidFill>
          <a:ln w="10160">
            <a:solidFill>
              <a:srgbClr val="C8820A">
                <a:alpha val="45000"/>
              </a:srgbClr>
            </a:solidFill>
            <a:prstDash val="solid"/>
          </a:ln>
          <a:effectLst>
            <a:outerShdw sx="100000" sy="100000" kx="0" ky="0" algn="bl" rotWithShape="0" blurRad="254000" dist="50800" dir="16200000">
              <a:srgbClr val="C8820A">
                <a:alpha val="18000"/>
              </a:srgbClr>
            </a:outerShdw>
          </a:effectLst>
        </p:spPr>
      </p:sp>
      <p:sp>
        <p:nvSpPr>
          <p:cNvPr id="28" name="Shape 17"/>
          <p:cNvSpPr/>
          <p:nvPr/>
        </p:nvSpPr>
        <p:spPr>
          <a:xfrm>
            <a:off x="8127797" y="2852928"/>
            <a:ext cx="3789578" cy="18288"/>
          </a:xfrm>
          <a:prstGeom prst="rect">
            <a:avLst/>
          </a:prstGeom>
          <a:solidFill>
            <a:srgbClr val="C8820A">
              <a:alpha val="50000"/>
            </a:srgbClr>
          </a:solidFill>
          <a:ln/>
        </p:spPr>
      </p:sp>
      <p:sp>
        <p:nvSpPr>
          <p:cNvPr id="29" name="Shape 18"/>
          <p:cNvSpPr/>
          <p:nvPr/>
        </p:nvSpPr>
        <p:spPr>
          <a:xfrm>
            <a:off x="8127797" y="2852928"/>
            <a:ext cx="3789578" cy="54864"/>
          </a:xfrm>
          <a:prstGeom prst="rect">
            <a:avLst/>
          </a:prstGeom>
          <a:solidFill>
            <a:srgbClr val="A0421A">
              <a:alpha val="80000"/>
            </a:srgbClr>
          </a:solidFill>
          <a:ln/>
        </p:spPr>
      </p:sp>
      <p:sp>
        <p:nvSpPr>
          <p:cNvPr id="30" name="Text 19"/>
          <p:cNvSpPr/>
          <p:nvPr/>
        </p:nvSpPr>
        <p:spPr>
          <a:xfrm>
            <a:off x="8264957" y="2980944"/>
            <a:ext cx="3515258" cy="384048"/>
          </a:xfrm>
          <a:prstGeom prst="rect">
            <a:avLst/>
          </a:prstGeom>
          <a:noFill/>
          <a:ln/>
          <a:effectLst>
            <a:outerShdw sx="100000" sy="100000" kx="0" ky="0" algn="bl" rotWithShape="0" blurRad="127000" dist="50800" dir="16200000">
              <a:srgbClr val="C8820A">
                <a:alpha val="50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0C06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303 n. Chr.</a:t>
            </a:r>
            <a:endParaRPr lang="en-US" sz="2000" dirty="0"/>
          </a:p>
        </p:txBody>
      </p:sp>
      <p:sp>
        <p:nvSpPr>
          <p:cNvPr id="31" name="Text 20"/>
          <p:cNvSpPr/>
          <p:nvPr/>
        </p:nvSpPr>
        <p:spPr>
          <a:xfrm>
            <a:off x="8264957" y="3364992"/>
            <a:ext cx="351525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C8820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DIOKLETIAN</a:t>
            </a:r>
            <a:endParaRPr lang="en-US" sz="1400" dirty="0"/>
          </a:p>
        </p:txBody>
      </p:sp>
      <p:sp>
        <p:nvSpPr>
          <p:cNvPr id="32" name="Text 21"/>
          <p:cNvSpPr/>
          <p:nvPr/>
        </p:nvSpPr>
        <p:spPr>
          <a:xfrm>
            <a:off x="8264957" y="3657600"/>
            <a:ext cx="351525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A70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Die schwerste Welle</a:t>
            </a:r>
            <a:endParaRPr lang="en-US" sz="1100" dirty="0"/>
          </a:p>
        </p:txBody>
      </p:sp>
      <p:pic>
        <p:nvPicPr>
          <p:cNvPr id="33" name="Image 9" descr="preencoded.png">    </p:cNvPr>
          <p:cNvPicPr>
            <a:picLocks noChangeAspect="1"/>
          </p:cNvPicPr>
          <p:nvPr/>
        </p:nvPicPr>
        <p:blipFill>
          <a:blip r:embed="rId18">
            <a:extLst>
              <a:ext uri="{96DAC541-7B7A-43D3-8B79-37D633B846F1}">
                <asvg:svgBlip xmlns:asvg="http://schemas.microsoft.com/office/drawing/2016/SVG/main" r:embed="rId19"/>
              </a:ext>
            </a:extLst>
          </a:blip>
          <a:stretch>
            <a:fillRect/>
          </a:stretch>
        </p:blipFill>
        <p:spPr>
          <a:xfrm>
            <a:off x="8264957" y="3968496"/>
            <a:ext cx="3515258" cy="18288"/>
          </a:xfrm>
          <a:prstGeom prst="rect">
            <a:avLst/>
          </a:prstGeom>
        </p:spPr>
      </p:pic>
      <p:sp>
        <p:nvSpPr>
          <p:cNvPr id="34" name="Text 22"/>
          <p:cNvSpPr/>
          <p:nvPr/>
        </p:nvSpPr>
        <p:spPr>
          <a:xfrm>
            <a:off x="8264957" y="4087368"/>
            <a:ext cx="3515258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C4A8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Kirchen werden zerstört, Schriften verbrannt, tausende getötet. Die härteste Verfolgung — ausgelöst kurz bevor Konstantin alles ändern wird.</a:t>
            </a:r>
            <a:endParaRPr lang="en-US" sz="1200" dirty="0"/>
          </a:p>
        </p:txBody>
      </p:sp>
      <p:sp>
        <p:nvSpPr>
          <p:cNvPr id="35" name="Text 23"/>
          <p:cNvSpPr/>
          <p:nvPr/>
        </p:nvSpPr>
        <p:spPr>
          <a:xfrm>
            <a:off x="0" y="6510528"/>
            <a:ext cx="12191695" cy="274320"/>
          </a:xfrm>
          <a:prstGeom prst="rect">
            <a:avLst/>
          </a:prstGeom>
          <a:noFill/>
          <a:ln/>
          <a:effectLst>
            <a:outerShdw sx="100000" sy="100000" kx="0" ky="0" algn="bl" rotWithShape="0" blurRad="101600" dist="50800" dir="16200000">
              <a:srgbClr val="C8820A">
                <a:alpha val="40000"/>
              </a:srgbClr>
            </a:outerShdw>
          </a:effectLst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D9A44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"Das Blut der Märtyrer ist Same der Kirche." — Tertullian, ~200 n. Chr.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uwg_raesfeld_erle_website_repo/images_v2/constantine_arch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4" name="Image 2" descr="preencoded.png">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5" name="Image 3" descr="preencoded.png">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6" name="Image 4" descr="preencoded.png">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7" name="Image 5" descr="preencoded.png">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274320" y="256032"/>
            <a:ext cx="1645920" cy="246888"/>
          </a:xfrm>
          <a:prstGeom prst="rect">
            <a:avLst/>
          </a:prstGeom>
        </p:spPr>
      </p:pic>
      <p:sp>
        <p:nvSpPr>
          <p:cNvPr id="8" name="Text 0"/>
          <p:cNvSpPr/>
          <p:nvPr/>
        </p:nvSpPr>
        <p:spPr>
          <a:xfrm>
            <a:off x="292608" y="621792"/>
            <a:ext cx="5364346" cy="1645920"/>
          </a:xfrm>
          <a:prstGeom prst="rect">
            <a:avLst/>
          </a:prstGeom>
          <a:noFill/>
          <a:ln/>
          <a:effectLst>
            <a:outerShdw sx="100000" sy="100000" kx="0" ky="0" algn="bl" rotWithShape="0" blurRad="152400" dist="50800" dir="16200000">
              <a:srgbClr val="C8820A">
                <a:alpha val="50000"/>
              </a:srgbClr>
            </a:outerShdw>
          </a:effectLst>
        </p:spPr>
        <p:txBody>
          <a:bodyPr wrap="square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3000" b="1" spc="50" kern="0" dirty="0">
                <a:solidFill>
                  <a:srgbClr val="F5EBD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312 n. Chr.</a:t>
            </a:r>
            <a:endParaRPr lang="en-US" sz="30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3000" b="1" spc="50" kern="0" dirty="0">
                <a:solidFill>
                  <a:srgbClr val="F5EBD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Ein Kaiser</a:t>
            </a:r>
            <a:endParaRPr lang="en-US" sz="30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3000" b="1" spc="50" kern="0" dirty="0">
                <a:solidFill>
                  <a:srgbClr val="F5EBD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hat einen Traum.</a:t>
            </a:r>
            <a:endParaRPr lang="en-US" sz="3000" dirty="0"/>
          </a:p>
        </p:txBody>
      </p:sp>
      <p:sp>
        <p:nvSpPr>
          <p:cNvPr id="9" name="Text 1"/>
          <p:cNvSpPr/>
          <p:nvPr/>
        </p:nvSpPr>
        <p:spPr>
          <a:xfrm>
            <a:off x="292608" y="2331720"/>
            <a:ext cx="5364346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500" i="1" dirty="0">
                <a:solidFill>
                  <a:srgbClr val="D9A44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Und 350 Jahre Christenverfolgung</a:t>
            </a:r>
            <a:endParaRPr lang="en-US" sz="15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500" i="1" dirty="0">
                <a:solidFill>
                  <a:srgbClr val="D9A44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enden innerhalb weniger Monate.</a:t>
            </a:r>
            <a:endParaRPr lang="en-US" sz="1500" dirty="0"/>
          </a:p>
        </p:txBody>
      </p:sp>
      <p:sp>
        <p:nvSpPr>
          <p:cNvPr id="10" name="Shape 2"/>
          <p:cNvSpPr/>
          <p:nvPr/>
        </p:nvSpPr>
        <p:spPr>
          <a:xfrm>
            <a:off x="292608" y="3154680"/>
            <a:ext cx="5364346" cy="1207008"/>
          </a:xfrm>
          <a:prstGeom prst="rect">
            <a:avLst/>
          </a:prstGeom>
          <a:solidFill>
            <a:srgbClr val="0F0B07">
              <a:alpha val="90000"/>
            </a:srgbClr>
          </a:solidFill>
          <a:ln w="10160">
            <a:solidFill>
              <a:srgbClr val="C8820A">
                <a:alpha val="40000"/>
              </a:srgbClr>
            </a:solidFill>
            <a:prstDash val="solid"/>
          </a:ln>
        </p:spPr>
      </p:sp>
      <p:sp>
        <p:nvSpPr>
          <p:cNvPr id="11" name="Shape 3"/>
          <p:cNvSpPr/>
          <p:nvPr/>
        </p:nvSpPr>
        <p:spPr>
          <a:xfrm>
            <a:off x="292608" y="3154680"/>
            <a:ext cx="5364346" cy="18288"/>
          </a:xfrm>
          <a:prstGeom prst="rect">
            <a:avLst/>
          </a:prstGeom>
          <a:solidFill>
            <a:srgbClr val="C8820A">
              <a:alpha val="50000"/>
            </a:srgbClr>
          </a:solidFill>
          <a:ln/>
        </p:spPr>
      </p:sp>
      <p:sp>
        <p:nvSpPr>
          <p:cNvPr id="12" name="Text 4"/>
          <p:cNvSpPr/>
          <p:nvPr/>
        </p:nvSpPr>
        <p:spPr>
          <a:xfrm>
            <a:off x="411480" y="3218688"/>
            <a:ext cx="487667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C882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WAS GENAU PASSIERTE?</a:t>
            </a:r>
            <a:endParaRPr lang="en-US" sz="1000" dirty="0"/>
          </a:p>
        </p:txBody>
      </p:sp>
      <p:sp>
        <p:nvSpPr>
          <p:cNvPr id="13" name="Text 5"/>
          <p:cNvSpPr/>
          <p:nvPr/>
        </p:nvSpPr>
        <p:spPr>
          <a:xfrm>
            <a:off x="411480" y="3502152"/>
            <a:ext cx="512051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8000"/>
              </a:lnSpc>
              <a:buNone/>
            </a:pPr>
            <a:r>
              <a:rPr lang="en-US" sz="1150" dirty="0">
                <a:solidFill>
                  <a:srgbClr val="C4A8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Vor der Schlacht an der Milvischen Brücke (312) sah Konstantin ein Kreuz-Symbol am Himmel mit der Botschaft "In diesem Zeichen wirst du siegen." Er ließ das Chi-Rho-Symbol (☧) auf seine Schilder malen — und gewann. Ob Vision oder politisches Kalkül: Die Folgen waren real.</a:t>
            </a:r>
            <a:endParaRPr lang="en-US" sz="1150" dirty="0"/>
          </a:p>
        </p:txBody>
      </p:sp>
      <p:sp>
        <p:nvSpPr>
          <p:cNvPr id="14" name="Text 6"/>
          <p:cNvSpPr/>
          <p:nvPr/>
        </p:nvSpPr>
        <p:spPr>
          <a:xfrm>
            <a:off x="6339682" y="256032"/>
            <a:ext cx="56081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00" b="1" spc="300" kern="0" dirty="0">
                <a:solidFill>
                  <a:srgbClr val="C8820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DIE DREI MEILENSTEINE</a:t>
            </a:r>
            <a:endParaRPr lang="en-US" sz="1100" dirty="0"/>
          </a:p>
        </p:txBody>
      </p:sp>
      <p:sp>
        <p:nvSpPr>
          <p:cNvPr id="15" name="Shape 7"/>
          <p:cNvSpPr/>
          <p:nvPr/>
        </p:nvSpPr>
        <p:spPr>
          <a:xfrm>
            <a:off x="6339682" y="621792"/>
            <a:ext cx="5577694" cy="1755648"/>
          </a:xfrm>
          <a:prstGeom prst="rect">
            <a:avLst/>
          </a:prstGeom>
          <a:solidFill>
            <a:srgbClr val="0F0B07">
              <a:alpha val="92000"/>
            </a:srgbClr>
          </a:solidFill>
          <a:ln w="10160">
            <a:solidFill>
              <a:srgbClr val="C8820A">
                <a:alpha val="42000"/>
              </a:srgbClr>
            </a:solidFill>
            <a:prstDash val="solid"/>
          </a:ln>
          <a:effectLst>
            <a:outerShdw sx="100000" sy="100000" kx="0" ky="0" algn="bl" rotWithShape="0" blurRad="254000" dist="50800" dir="16200000">
              <a:srgbClr val="C8820A">
                <a:alpha val="18000"/>
              </a:srgbClr>
            </a:outerShdw>
          </a:effectLst>
        </p:spPr>
      </p:sp>
      <p:sp>
        <p:nvSpPr>
          <p:cNvPr id="16" name="Shape 8"/>
          <p:cNvSpPr/>
          <p:nvPr/>
        </p:nvSpPr>
        <p:spPr>
          <a:xfrm>
            <a:off x="6339682" y="621792"/>
            <a:ext cx="5577694" cy="18288"/>
          </a:xfrm>
          <a:prstGeom prst="rect">
            <a:avLst/>
          </a:prstGeom>
          <a:solidFill>
            <a:srgbClr val="C8820A">
              <a:alpha val="50000"/>
            </a:srgbClr>
          </a:solidFill>
          <a:ln/>
        </p:spPr>
      </p:sp>
      <p:sp>
        <p:nvSpPr>
          <p:cNvPr id="17" name="Text 9"/>
          <p:cNvSpPr/>
          <p:nvPr/>
        </p:nvSpPr>
        <p:spPr>
          <a:xfrm>
            <a:off x="6476842" y="731520"/>
            <a:ext cx="2011680" cy="329184"/>
          </a:xfrm>
          <a:prstGeom prst="rect">
            <a:avLst/>
          </a:prstGeom>
          <a:noFill/>
          <a:ln/>
          <a:effectLst>
            <a:outerShdw sx="100000" sy="100000" kx="0" ky="0" algn="bl" rotWithShape="0" blurRad="101600" dist="50800" dir="16200000">
              <a:srgbClr val="C8820A">
                <a:alpha val="50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0C06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312 n. Chr.</a:t>
            </a:r>
            <a:endParaRPr lang="en-US" sz="1800" dirty="0"/>
          </a:p>
        </p:txBody>
      </p:sp>
      <p:sp>
        <p:nvSpPr>
          <p:cNvPr id="18" name="Text 10"/>
          <p:cNvSpPr/>
          <p:nvPr/>
        </p:nvSpPr>
        <p:spPr>
          <a:xfrm>
            <a:off x="6476842" y="1078992"/>
            <a:ext cx="539481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C8820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MILVISCHE BRÜCKE</a:t>
            </a:r>
            <a:endParaRPr lang="en-US" sz="1100" dirty="0"/>
          </a:p>
        </p:txBody>
      </p:sp>
      <p:pic>
        <p:nvPicPr>
          <p:cNvPr id="19" name="Image 6" descr="preencoded.png">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6476842" y="1389888"/>
            <a:ext cx="5394814" cy="18288"/>
          </a:xfrm>
          <a:prstGeom prst="rect">
            <a:avLst/>
          </a:prstGeom>
        </p:spPr>
      </p:pic>
      <p:sp>
        <p:nvSpPr>
          <p:cNvPr id="20" name="Text 11"/>
          <p:cNvSpPr/>
          <p:nvPr/>
        </p:nvSpPr>
        <p:spPr>
          <a:xfrm>
            <a:off x="6476842" y="1499616"/>
            <a:ext cx="5440534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8000"/>
              </a:lnSpc>
              <a:buNone/>
            </a:pPr>
            <a:r>
              <a:rPr lang="en-US" sz="1200" dirty="0">
                <a:solidFill>
                  <a:srgbClr val="C4A8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Konstantin siegt unter dem Chi-Rho. Er schreibt den Sieg dem christlichen Gott zu.</a:t>
            </a:r>
            <a:endParaRPr lang="en-US" sz="1200" dirty="0"/>
          </a:p>
        </p:txBody>
      </p:sp>
      <p:sp>
        <p:nvSpPr>
          <p:cNvPr id="21" name="Shape 12"/>
          <p:cNvSpPr/>
          <p:nvPr/>
        </p:nvSpPr>
        <p:spPr>
          <a:xfrm>
            <a:off x="6339682" y="2542032"/>
            <a:ext cx="5577694" cy="1755648"/>
          </a:xfrm>
          <a:prstGeom prst="rect">
            <a:avLst/>
          </a:prstGeom>
          <a:solidFill>
            <a:srgbClr val="0F0B07">
              <a:alpha val="92000"/>
            </a:srgbClr>
          </a:solidFill>
          <a:ln w="10160">
            <a:solidFill>
              <a:srgbClr val="C8820A">
                <a:alpha val="42000"/>
              </a:srgbClr>
            </a:solidFill>
            <a:prstDash val="solid"/>
          </a:ln>
          <a:effectLst>
            <a:outerShdw sx="100000" sy="100000" kx="0" ky="0" algn="bl" rotWithShape="0" blurRad="254000" dist="50800" dir="16200000">
              <a:srgbClr val="C8820A">
                <a:alpha val="18000"/>
              </a:srgbClr>
            </a:outerShdw>
          </a:effectLst>
        </p:spPr>
      </p:sp>
      <p:sp>
        <p:nvSpPr>
          <p:cNvPr id="22" name="Shape 13"/>
          <p:cNvSpPr/>
          <p:nvPr/>
        </p:nvSpPr>
        <p:spPr>
          <a:xfrm>
            <a:off x="6339682" y="2542032"/>
            <a:ext cx="5577694" cy="18288"/>
          </a:xfrm>
          <a:prstGeom prst="rect">
            <a:avLst/>
          </a:prstGeom>
          <a:solidFill>
            <a:srgbClr val="C8820A">
              <a:alpha val="50000"/>
            </a:srgbClr>
          </a:solidFill>
          <a:ln/>
        </p:spPr>
      </p:sp>
      <p:sp>
        <p:nvSpPr>
          <p:cNvPr id="23" name="Text 14"/>
          <p:cNvSpPr/>
          <p:nvPr/>
        </p:nvSpPr>
        <p:spPr>
          <a:xfrm>
            <a:off x="6476842" y="2651760"/>
            <a:ext cx="2011680" cy="329184"/>
          </a:xfrm>
          <a:prstGeom prst="rect">
            <a:avLst/>
          </a:prstGeom>
          <a:noFill/>
          <a:ln/>
          <a:effectLst>
            <a:outerShdw sx="100000" sy="100000" kx="0" ky="0" algn="bl" rotWithShape="0" blurRad="101600" dist="50800" dir="16200000">
              <a:srgbClr val="C8820A">
                <a:alpha val="50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0C06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313 n. Chr.</a:t>
            </a:r>
            <a:endParaRPr lang="en-US" sz="1800" dirty="0"/>
          </a:p>
        </p:txBody>
      </p:sp>
      <p:sp>
        <p:nvSpPr>
          <p:cNvPr id="24" name="Text 15"/>
          <p:cNvSpPr/>
          <p:nvPr/>
        </p:nvSpPr>
        <p:spPr>
          <a:xfrm>
            <a:off x="6476842" y="2999232"/>
            <a:ext cx="539481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C8820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MAILÄNDER VEREINBARUNG</a:t>
            </a:r>
            <a:endParaRPr lang="en-US" sz="1100" dirty="0"/>
          </a:p>
        </p:txBody>
      </p:sp>
      <p:pic>
        <p:nvPicPr>
          <p:cNvPr id="25" name="Image 7" descr="preencoded.png">    </p:cNvPr>
          <p:cNvPicPr>
            <a:picLocks noChangeAspect="1"/>
          </p:cNvPicPr>
          <p:nvPr/>
        </p:nvPicPr>
        <p:blipFill>
          <a:blip r:embed="rId14"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6476842" y="3310128"/>
            <a:ext cx="5394814" cy="18288"/>
          </a:xfrm>
          <a:prstGeom prst="rect">
            <a:avLst/>
          </a:prstGeom>
        </p:spPr>
      </p:pic>
      <p:sp>
        <p:nvSpPr>
          <p:cNvPr id="26" name="Text 16"/>
          <p:cNvSpPr/>
          <p:nvPr/>
        </p:nvSpPr>
        <p:spPr>
          <a:xfrm>
            <a:off x="6476842" y="3419856"/>
            <a:ext cx="5440534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8000"/>
              </a:lnSpc>
              <a:buNone/>
            </a:pPr>
            <a:r>
              <a:rPr lang="en-US" sz="1200" dirty="0">
                <a:solidFill>
                  <a:srgbClr val="C4A8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Religionsfreiheit für alle. Kirchen werden zurückgegeben. Christen dürfen offen leben.</a:t>
            </a:r>
            <a:endParaRPr lang="en-US" sz="1200" dirty="0"/>
          </a:p>
        </p:txBody>
      </p:sp>
      <p:sp>
        <p:nvSpPr>
          <p:cNvPr id="27" name="Shape 17"/>
          <p:cNvSpPr/>
          <p:nvPr/>
        </p:nvSpPr>
        <p:spPr>
          <a:xfrm>
            <a:off x="6339682" y="4462272"/>
            <a:ext cx="5577694" cy="1755648"/>
          </a:xfrm>
          <a:prstGeom prst="rect">
            <a:avLst/>
          </a:prstGeom>
          <a:solidFill>
            <a:srgbClr val="0F0B07">
              <a:alpha val="92000"/>
            </a:srgbClr>
          </a:solidFill>
          <a:ln w="10160">
            <a:solidFill>
              <a:srgbClr val="C8820A">
                <a:alpha val="42000"/>
              </a:srgbClr>
            </a:solidFill>
            <a:prstDash val="solid"/>
          </a:ln>
          <a:effectLst>
            <a:outerShdw sx="100000" sy="100000" kx="0" ky="0" algn="bl" rotWithShape="0" blurRad="254000" dist="50800" dir="16200000">
              <a:srgbClr val="C8820A">
                <a:alpha val="18000"/>
              </a:srgbClr>
            </a:outerShdw>
          </a:effectLst>
        </p:spPr>
      </p:sp>
      <p:sp>
        <p:nvSpPr>
          <p:cNvPr id="28" name="Shape 18"/>
          <p:cNvSpPr/>
          <p:nvPr/>
        </p:nvSpPr>
        <p:spPr>
          <a:xfrm>
            <a:off x="6339682" y="4462272"/>
            <a:ext cx="5577694" cy="18288"/>
          </a:xfrm>
          <a:prstGeom prst="rect">
            <a:avLst/>
          </a:prstGeom>
          <a:solidFill>
            <a:srgbClr val="C8820A">
              <a:alpha val="50000"/>
            </a:srgbClr>
          </a:solidFill>
          <a:ln/>
        </p:spPr>
      </p:sp>
      <p:sp>
        <p:nvSpPr>
          <p:cNvPr id="29" name="Text 19"/>
          <p:cNvSpPr/>
          <p:nvPr/>
        </p:nvSpPr>
        <p:spPr>
          <a:xfrm>
            <a:off x="6476842" y="4572000"/>
            <a:ext cx="2011680" cy="329184"/>
          </a:xfrm>
          <a:prstGeom prst="rect">
            <a:avLst/>
          </a:prstGeom>
          <a:noFill/>
          <a:ln/>
          <a:effectLst>
            <a:outerShdw sx="100000" sy="100000" kx="0" ky="0" algn="bl" rotWithShape="0" blurRad="101600" dist="50800" dir="16200000">
              <a:srgbClr val="C8820A">
                <a:alpha val="50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0C06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325 n. Chr.</a:t>
            </a:r>
            <a:endParaRPr lang="en-US" sz="1800" dirty="0"/>
          </a:p>
        </p:txBody>
      </p:sp>
      <p:sp>
        <p:nvSpPr>
          <p:cNvPr id="30" name="Text 20"/>
          <p:cNvSpPr/>
          <p:nvPr/>
        </p:nvSpPr>
        <p:spPr>
          <a:xfrm>
            <a:off x="6476842" y="4919472"/>
            <a:ext cx="539481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C8820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KONZIL VON NICÄA</a:t>
            </a:r>
            <a:endParaRPr lang="en-US" sz="1100" dirty="0"/>
          </a:p>
        </p:txBody>
      </p:sp>
      <p:pic>
        <p:nvPicPr>
          <p:cNvPr id="31" name="Image 8" descr="preencoded.png">    </p:cNvPr>
          <p:cNvPicPr>
            <a:picLocks noChangeAspect="1"/>
          </p:cNvPicPr>
          <p:nvPr/>
        </p:nvPicPr>
        <p:blipFill>
          <a:blip r:embed="rId16">
            <a:extLs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6476842" y="5230368"/>
            <a:ext cx="5394814" cy="18288"/>
          </a:xfrm>
          <a:prstGeom prst="rect">
            <a:avLst/>
          </a:prstGeom>
        </p:spPr>
      </p:pic>
      <p:sp>
        <p:nvSpPr>
          <p:cNvPr id="32" name="Text 21"/>
          <p:cNvSpPr/>
          <p:nvPr/>
        </p:nvSpPr>
        <p:spPr>
          <a:xfrm>
            <a:off x="6476842" y="5340096"/>
            <a:ext cx="5440534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8000"/>
              </a:lnSpc>
              <a:buNone/>
            </a:pPr>
            <a:r>
              <a:rPr lang="en-US" sz="1200" dirty="0">
                <a:solidFill>
                  <a:srgbClr val="C4A8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Erste Reichssynode. Glaubensbekenntnis entsteht. Bis heute in vielen Kirchen gesprochen.</a:t>
            </a:r>
            <a:endParaRPr lang="en-US" sz="1200" dirty="0"/>
          </a:p>
        </p:txBody>
      </p:sp>
      <p:pic>
        <p:nvPicPr>
          <p:cNvPr id="33" name="Image 9" descr="preencoded.png">    </p:cNvPr>
          <p:cNvPicPr>
            <a:picLocks noChangeAspect="1"/>
          </p:cNvPicPr>
          <p:nvPr/>
        </p:nvPicPr>
        <p:blipFill>
          <a:blip r:embed="rId18">
            <a:extLst>
              <a:ext uri="{96DAC541-7B7A-43D3-8B79-37D633B846F1}">
                <asvg:svgBlip xmlns:asvg="http://schemas.microsoft.com/office/drawing/2016/SVG/main" r:embed="rId19"/>
              </a:ext>
            </a:extLst>
          </a:blip>
          <a:stretch>
            <a:fillRect/>
          </a:stretch>
        </p:blipFill>
        <p:spPr>
          <a:xfrm>
            <a:off x="274320" y="6345936"/>
            <a:ext cx="11643055" cy="18288"/>
          </a:xfrm>
          <a:prstGeom prst="rect">
            <a:avLst/>
          </a:prstGeom>
        </p:spPr>
      </p:pic>
      <p:sp>
        <p:nvSpPr>
          <p:cNvPr id="34" name="Text 22"/>
          <p:cNvSpPr/>
          <p:nvPr/>
        </p:nvSpPr>
        <p:spPr>
          <a:xfrm>
            <a:off x="0" y="6382512"/>
            <a:ext cx="792460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D9A44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Die Verfolgten sitzen jetzt am Tisch des Kaisers.</a:t>
            </a:r>
            <a:endParaRPr lang="en-US" sz="1300" dirty="0"/>
          </a:p>
        </p:txBody>
      </p:sp>
      <p:sp>
        <p:nvSpPr>
          <p:cNvPr id="35" name="Text 23"/>
          <p:cNvSpPr/>
          <p:nvPr/>
        </p:nvSpPr>
        <p:spPr>
          <a:xfrm>
            <a:off x="4267093" y="6382512"/>
            <a:ext cx="7558851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C882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Folie VII: 55 Jahre später wird das Christentum Staatsreligion.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uwg_raesfeld_erle_website_repo/images_v2/hagia_sophia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4" name="Image 2" descr="preencoded.png">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5" name="Image 3" descr="preencoded.png">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6" name="Image 4" descr="preencoded.png">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7" name="Image 5" descr="preencoded.png">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274320" y="256032"/>
            <a:ext cx="1645920" cy="246888"/>
          </a:xfrm>
          <a:prstGeom prst="rect">
            <a:avLst/>
          </a:prstGeom>
        </p:spPr>
      </p:pic>
      <p:sp>
        <p:nvSpPr>
          <p:cNvPr id="8" name="Text 0"/>
          <p:cNvSpPr/>
          <p:nvPr/>
        </p:nvSpPr>
        <p:spPr>
          <a:xfrm>
            <a:off x="292608" y="621792"/>
            <a:ext cx="5364346" cy="1097280"/>
          </a:xfrm>
          <a:prstGeom prst="rect">
            <a:avLst/>
          </a:prstGeom>
          <a:noFill/>
          <a:ln/>
          <a:effectLst>
            <a:outerShdw sx="100000" sy="100000" kx="0" ky="0" algn="bl" rotWithShape="0" blurRad="152400" dist="50800" dir="16200000">
              <a:srgbClr val="C8820A">
                <a:alpha val="50000"/>
              </a:srgbClr>
            </a:outerShdw>
          </a:effectLst>
        </p:spPr>
        <p:txBody>
          <a:bodyPr wrap="square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3200" i="1" dirty="0">
                <a:solidFill>
                  <a:srgbClr val="F5EBD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"Plötzlich ist es</a:t>
            </a:r>
            <a:endParaRPr lang="en-US" sz="3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3200" i="1" dirty="0">
                <a:solidFill>
                  <a:srgbClr val="F5EBD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umgekehrt."</a:t>
            </a:r>
            <a:endParaRPr lang="en-US" sz="3200" dirty="0"/>
          </a:p>
        </p:txBody>
      </p:sp>
      <p:sp>
        <p:nvSpPr>
          <p:cNvPr id="9" name="Text 1"/>
          <p:cNvSpPr/>
          <p:nvPr/>
        </p:nvSpPr>
        <p:spPr>
          <a:xfrm>
            <a:off x="292608" y="1783080"/>
            <a:ext cx="5608180" cy="822960"/>
          </a:xfrm>
          <a:prstGeom prst="rect">
            <a:avLst/>
          </a:prstGeom>
          <a:noFill/>
          <a:ln/>
          <a:effectLst>
            <a:outerShdw sx="100000" sy="100000" kx="0" ky="0" algn="bl" rotWithShape="0" blurRad="152400" dist="50800" dir="16200000">
              <a:srgbClr val="C8820A">
                <a:alpha val="50000"/>
              </a:srgbClr>
            </a:outerShdw>
          </a:effectLst>
        </p:spPr>
        <p:txBody>
          <a:bodyPr wrap="square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800" b="1" spc="50" kern="0" dirty="0">
                <a:solidFill>
                  <a:srgbClr val="A042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Wer NICHT Christ ist,</a:t>
            </a:r>
            <a:endParaRPr lang="en-US" sz="18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800" b="1" spc="50" kern="0" dirty="0">
                <a:solidFill>
                  <a:srgbClr val="A042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wird jetzt verfolgt.</a:t>
            </a:r>
            <a:endParaRPr lang="en-US" sz="1800" dirty="0"/>
          </a:p>
        </p:txBody>
      </p:sp>
      <p:pic>
        <p:nvPicPr>
          <p:cNvPr id="10" name="Image 6" descr="preencoded.png">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292608" y="2697480"/>
            <a:ext cx="5608180" cy="32004"/>
          </a:xfrm>
          <a:prstGeom prst="rect">
            <a:avLst/>
          </a:prstGeom>
        </p:spPr>
      </p:pic>
      <p:sp>
        <p:nvSpPr>
          <p:cNvPr id="11" name="Text 2"/>
          <p:cNvSpPr/>
          <p:nvPr/>
        </p:nvSpPr>
        <p:spPr>
          <a:xfrm>
            <a:off x="292608" y="2852928"/>
            <a:ext cx="56081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C4A8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Kaiser Konstantin hatte den Stein ins Rollen gebracht. Aber die Kirche entwickelte schnell politische Macht — und mit Macht kam auch Ausgrenzung.</a:t>
            </a:r>
            <a:endParaRPr lang="en-US" sz="1300" dirty="0"/>
          </a:p>
        </p:txBody>
      </p:sp>
      <p:sp>
        <p:nvSpPr>
          <p:cNvPr id="12" name="Shape 3"/>
          <p:cNvSpPr/>
          <p:nvPr/>
        </p:nvSpPr>
        <p:spPr>
          <a:xfrm>
            <a:off x="292608" y="3703320"/>
            <a:ext cx="5608180" cy="1115568"/>
          </a:xfrm>
          <a:prstGeom prst="rect">
            <a:avLst/>
          </a:prstGeom>
          <a:solidFill>
            <a:srgbClr val="0F0B07">
              <a:alpha val="90000"/>
            </a:srgbClr>
          </a:solidFill>
          <a:ln w="10160">
            <a:solidFill>
              <a:srgbClr val="A0421A">
                <a:alpha val="40000"/>
              </a:srgbClr>
            </a:solidFill>
            <a:prstDash val="solid"/>
          </a:ln>
        </p:spPr>
      </p:sp>
      <p:sp>
        <p:nvSpPr>
          <p:cNvPr id="13" name="Shape 4"/>
          <p:cNvSpPr/>
          <p:nvPr/>
        </p:nvSpPr>
        <p:spPr>
          <a:xfrm>
            <a:off x="292608" y="3703320"/>
            <a:ext cx="5608180" cy="18288"/>
          </a:xfrm>
          <a:prstGeom prst="rect">
            <a:avLst/>
          </a:prstGeom>
          <a:solidFill>
            <a:srgbClr val="A0421A">
              <a:alpha val="50000"/>
            </a:srgbClr>
          </a:solidFill>
          <a:ln/>
        </p:spPr>
      </p:sp>
      <p:sp>
        <p:nvSpPr>
          <p:cNvPr id="14" name="Text 5"/>
          <p:cNvSpPr/>
          <p:nvPr/>
        </p:nvSpPr>
        <p:spPr>
          <a:xfrm>
            <a:off x="411480" y="3767328"/>
            <a:ext cx="51205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A042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WICHTIG ZU VERSTEHEN</a:t>
            </a:r>
            <a:endParaRPr lang="en-US" sz="1000" dirty="0"/>
          </a:p>
        </p:txBody>
      </p:sp>
      <p:sp>
        <p:nvSpPr>
          <p:cNvPr id="15" name="Text 6"/>
          <p:cNvSpPr/>
          <p:nvPr/>
        </p:nvSpPr>
        <p:spPr>
          <a:xfrm>
            <a:off x="411480" y="4050792"/>
            <a:ext cx="5120512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8000"/>
              </a:lnSpc>
              <a:buNone/>
            </a:pPr>
            <a:r>
              <a:rPr lang="en-US" sz="1200" dirty="0">
                <a:solidFill>
                  <a:srgbClr val="C4A8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Die frühe Kirche war selbst Opfer gewesen. Jetzt, mit staatlicher Macht, wurden Teile von ihr zu Tätern. Das ist eine historische Ironie — und eine Warnung, die bis heute gilt.</a:t>
            </a:r>
            <a:endParaRPr lang="en-US" sz="1200" dirty="0"/>
          </a:p>
        </p:txBody>
      </p:sp>
      <p:sp>
        <p:nvSpPr>
          <p:cNvPr id="16" name="Text 7"/>
          <p:cNvSpPr/>
          <p:nvPr/>
        </p:nvSpPr>
        <p:spPr>
          <a:xfrm>
            <a:off x="6461598" y="256032"/>
            <a:ext cx="5486263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000" b="1" spc="300" kern="0" dirty="0">
                <a:solidFill>
                  <a:srgbClr val="C8820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DIE CHRONOLOGIE DER WENDE</a:t>
            </a:r>
            <a:endParaRPr lang="en-US" sz="1000" dirty="0"/>
          </a:p>
        </p:txBody>
      </p:sp>
      <p:pic>
        <p:nvPicPr>
          <p:cNvPr id="17" name="Image 7" descr="preencoded.png">    </p:cNvPr>
          <p:cNvPicPr>
            <a:picLocks noChangeAspect="1"/>
          </p:cNvPicPr>
          <p:nvPr/>
        </p:nvPicPr>
        <p:blipFill>
          <a:blip r:embed="rId14"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6534750" y="704088"/>
            <a:ext cx="310896" cy="310896"/>
          </a:xfrm>
          <a:prstGeom prst="rect">
            <a:avLst/>
          </a:prstGeom>
        </p:spPr>
      </p:pic>
      <p:sp>
        <p:nvSpPr>
          <p:cNvPr id="18" name="Shape 8"/>
          <p:cNvSpPr/>
          <p:nvPr/>
        </p:nvSpPr>
        <p:spPr>
          <a:xfrm>
            <a:off x="6690198" y="1014984"/>
            <a:ext cx="0" cy="530352"/>
          </a:xfrm>
          <a:prstGeom prst="line">
            <a:avLst/>
          </a:prstGeom>
          <a:noFill/>
          <a:ln w="12700">
            <a:solidFill>
              <a:srgbClr val="6B4A0F"/>
            </a:solidFill>
            <a:prstDash val="dash"/>
          </a:ln>
        </p:spPr>
      </p:sp>
      <p:sp>
        <p:nvSpPr>
          <p:cNvPr id="19" name="Text 9"/>
          <p:cNvSpPr/>
          <p:nvPr/>
        </p:nvSpPr>
        <p:spPr>
          <a:xfrm>
            <a:off x="6937086" y="676656"/>
            <a:ext cx="1371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9A44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313 n. Chr.</a:t>
            </a:r>
            <a:endParaRPr lang="en-US" sz="1050" dirty="0"/>
          </a:p>
        </p:txBody>
      </p:sp>
      <p:sp>
        <p:nvSpPr>
          <p:cNvPr id="20" name="Text 10"/>
          <p:cNvSpPr/>
          <p:nvPr/>
        </p:nvSpPr>
        <p:spPr>
          <a:xfrm>
            <a:off x="8363550" y="676656"/>
            <a:ext cx="3444097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C4A8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Religionsfreiheit. Christen dürfen offen existieren.</a:t>
            </a:r>
            <a:endParaRPr lang="en-US" sz="1100" dirty="0"/>
          </a:p>
        </p:txBody>
      </p:sp>
      <p:pic>
        <p:nvPicPr>
          <p:cNvPr id="21" name="Image 8" descr="preencoded.png">    </p:cNvPr>
          <p:cNvPicPr>
            <a:picLocks noChangeAspect="1"/>
          </p:cNvPicPr>
          <p:nvPr/>
        </p:nvPicPr>
        <p:blipFill>
          <a:blip r:embed="rId16">
            <a:extLs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6534750" y="1572768"/>
            <a:ext cx="310896" cy="310896"/>
          </a:xfrm>
          <a:prstGeom prst="rect">
            <a:avLst/>
          </a:prstGeom>
        </p:spPr>
      </p:pic>
      <p:sp>
        <p:nvSpPr>
          <p:cNvPr id="22" name="Shape 11"/>
          <p:cNvSpPr/>
          <p:nvPr/>
        </p:nvSpPr>
        <p:spPr>
          <a:xfrm>
            <a:off x="6690198" y="1883664"/>
            <a:ext cx="0" cy="530352"/>
          </a:xfrm>
          <a:prstGeom prst="line">
            <a:avLst/>
          </a:prstGeom>
          <a:noFill/>
          <a:ln w="12700">
            <a:solidFill>
              <a:srgbClr val="6B4A0F"/>
            </a:solidFill>
            <a:prstDash val="dash"/>
          </a:ln>
        </p:spPr>
      </p:sp>
      <p:sp>
        <p:nvSpPr>
          <p:cNvPr id="23" name="Text 12"/>
          <p:cNvSpPr/>
          <p:nvPr/>
        </p:nvSpPr>
        <p:spPr>
          <a:xfrm>
            <a:off x="6937086" y="1545336"/>
            <a:ext cx="1371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9A44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321 n. Chr.</a:t>
            </a:r>
            <a:endParaRPr lang="en-US" sz="1050" dirty="0"/>
          </a:p>
        </p:txBody>
      </p:sp>
      <p:sp>
        <p:nvSpPr>
          <p:cNvPr id="24" name="Text 13"/>
          <p:cNvSpPr/>
          <p:nvPr/>
        </p:nvSpPr>
        <p:spPr>
          <a:xfrm>
            <a:off x="8363550" y="1545336"/>
            <a:ext cx="3444097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C4A8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Sonntag wird offizieller Ruhetag im Reich.</a:t>
            </a:r>
            <a:endParaRPr lang="en-US" sz="1100" dirty="0"/>
          </a:p>
        </p:txBody>
      </p:sp>
      <p:pic>
        <p:nvPicPr>
          <p:cNvPr id="25" name="Image 9" descr="preencoded.png">    </p:cNvPr>
          <p:cNvPicPr>
            <a:picLocks noChangeAspect="1"/>
          </p:cNvPicPr>
          <p:nvPr/>
        </p:nvPicPr>
        <p:blipFill>
          <a:blip r:embed="rId18">
            <a:extLst>
              <a:ext uri="{96DAC541-7B7A-43D3-8B79-37D633B846F1}">
                <asvg:svgBlip xmlns:asvg="http://schemas.microsoft.com/office/drawing/2016/SVG/main" r:embed="rId19"/>
              </a:ext>
            </a:extLst>
          </a:blip>
          <a:stretch>
            <a:fillRect/>
          </a:stretch>
        </p:blipFill>
        <p:spPr>
          <a:xfrm>
            <a:off x="6534750" y="2441448"/>
            <a:ext cx="310896" cy="310896"/>
          </a:xfrm>
          <a:prstGeom prst="rect">
            <a:avLst/>
          </a:prstGeom>
        </p:spPr>
      </p:pic>
      <p:sp>
        <p:nvSpPr>
          <p:cNvPr id="26" name="Shape 14"/>
          <p:cNvSpPr/>
          <p:nvPr/>
        </p:nvSpPr>
        <p:spPr>
          <a:xfrm>
            <a:off x="6690198" y="2752344"/>
            <a:ext cx="0" cy="530352"/>
          </a:xfrm>
          <a:prstGeom prst="line">
            <a:avLst/>
          </a:prstGeom>
          <a:noFill/>
          <a:ln w="12700">
            <a:solidFill>
              <a:srgbClr val="8B3A10"/>
            </a:solidFill>
            <a:prstDash val="dash"/>
          </a:ln>
        </p:spPr>
      </p:sp>
      <p:sp>
        <p:nvSpPr>
          <p:cNvPr id="27" name="Text 15"/>
          <p:cNvSpPr/>
          <p:nvPr/>
        </p:nvSpPr>
        <p:spPr>
          <a:xfrm>
            <a:off x="6937086" y="2414016"/>
            <a:ext cx="1371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A042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380 n. Chr.</a:t>
            </a:r>
            <a:endParaRPr lang="en-US" sz="1050" dirty="0"/>
          </a:p>
        </p:txBody>
      </p:sp>
      <p:sp>
        <p:nvSpPr>
          <p:cNvPr id="28" name="Text 16"/>
          <p:cNvSpPr/>
          <p:nvPr/>
        </p:nvSpPr>
        <p:spPr>
          <a:xfrm>
            <a:off x="8363550" y="2414016"/>
            <a:ext cx="3444097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C4A8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Theodosius: Christentum wird zur Staatsreligion. Alle anderen sind Ketzer.</a:t>
            </a:r>
            <a:endParaRPr lang="en-US" sz="1100" dirty="0"/>
          </a:p>
        </p:txBody>
      </p:sp>
      <p:pic>
        <p:nvPicPr>
          <p:cNvPr id="29" name="Image 10" descr="preencoded.png">    </p:cNvPr>
          <p:cNvPicPr>
            <a:picLocks noChangeAspect="1"/>
          </p:cNvPicPr>
          <p:nvPr/>
        </p:nvPicPr>
        <p:blipFill>
          <a:blip r:embed="rId20">
            <a:extLst>
              <a:ext uri="{96DAC541-7B7A-43D3-8B79-37D633B846F1}">
                <asvg:svgBlip xmlns:asvg="http://schemas.microsoft.com/office/drawing/2016/SVG/main" r:embed="rId21"/>
              </a:ext>
            </a:extLst>
          </a:blip>
          <a:stretch>
            <a:fillRect/>
          </a:stretch>
        </p:blipFill>
        <p:spPr>
          <a:xfrm>
            <a:off x="6534750" y="3310128"/>
            <a:ext cx="310896" cy="310896"/>
          </a:xfrm>
          <a:prstGeom prst="rect">
            <a:avLst/>
          </a:prstGeom>
        </p:spPr>
      </p:pic>
      <p:sp>
        <p:nvSpPr>
          <p:cNvPr id="30" name="Shape 17"/>
          <p:cNvSpPr/>
          <p:nvPr/>
        </p:nvSpPr>
        <p:spPr>
          <a:xfrm>
            <a:off x="6690198" y="3621024"/>
            <a:ext cx="0" cy="530352"/>
          </a:xfrm>
          <a:prstGeom prst="line">
            <a:avLst/>
          </a:prstGeom>
          <a:noFill/>
          <a:ln w="12700">
            <a:solidFill>
              <a:srgbClr val="8B3A10"/>
            </a:solidFill>
            <a:prstDash val="dash"/>
          </a:ln>
        </p:spPr>
      </p:sp>
      <p:sp>
        <p:nvSpPr>
          <p:cNvPr id="31" name="Text 18"/>
          <p:cNvSpPr/>
          <p:nvPr/>
        </p:nvSpPr>
        <p:spPr>
          <a:xfrm>
            <a:off x="6937086" y="3282696"/>
            <a:ext cx="1371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A042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391 n. Chr.</a:t>
            </a:r>
            <a:endParaRPr lang="en-US" sz="1050" dirty="0"/>
          </a:p>
        </p:txBody>
      </p:sp>
      <p:sp>
        <p:nvSpPr>
          <p:cNvPr id="32" name="Text 19"/>
          <p:cNvSpPr/>
          <p:nvPr/>
        </p:nvSpPr>
        <p:spPr>
          <a:xfrm>
            <a:off x="8363550" y="3282696"/>
            <a:ext cx="3444097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C4A8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Heidnische Kulte verboten. Opfer für andere Götter = Hochverrat.</a:t>
            </a:r>
            <a:endParaRPr lang="en-US" sz="1100" dirty="0"/>
          </a:p>
        </p:txBody>
      </p:sp>
      <p:pic>
        <p:nvPicPr>
          <p:cNvPr id="33" name="Image 11" descr="preencoded.png">    </p:cNvPr>
          <p:cNvPicPr>
            <a:picLocks noChangeAspect="1"/>
          </p:cNvPicPr>
          <p:nvPr/>
        </p:nvPicPr>
        <p:blipFill>
          <a:blip r:embed="rId22">
            <a:extLst>
              <a:ext uri="{96DAC541-7B7A-43D3-8B79-37D633B846F1}">
                <asvg:svgBlip xmlns:asvg="http://schemas.microsoft.com/office/drawing/2016/SVG/main" r:embed="rId23"/>
              </a:ext>
            </a:extLst>
          </a:blip>
          <a:stretch>
            <a:fillRect/>
          </a:stretch>
        </p:blipFill>
        <p:spPr>
          <a:xfrm>
            <a:off x="6534750" y="4178808"/>
            <a:ext cx="310896" cy="310896"/>
          </a:xfrm>
          <a:prstGeom prst="rect">
            <a:avLst/>
          </a:prstGeom>
        </p:spPr>
      </p:pic>
      <p:sp>
        <p:nvSpPr>
          <p:cNvPr id="34" name="Shape 20"/>
          <p:cNvSpPr/>
          <p:nvPr/>
        </p:nvSpPr>
        <p:spPr>
          <a:xfrm>
            <a:off x="6690198" y="4489704"/>
            <a:ext cx="0" cy="530352"/>
          </a:xfrm>
          <a:prstGeom prst="line">
            <a:avLst/>
          </a:prstGeom>
          <a:noFill/>
          <a:ln w="12700">
            <a:solidFill>
              <a:srgbClr val="8B3A10"/>
            </a:solidFill>
            <a:prstDash val="dash"/>
          </a:ln>
        </p:spPr>
      </p:sp>
      <p:sp>
        <p:nvSpPr>
          <p:cNvPr id="35" name="Text 21"/>
          <p:cNvSpPr/>
          <p:nvPr/>
        </p:nvSpPr>
        <p:spPr>
          <a:xfrm>
            <a:off x="6937086" y="4151376"/>
            <a:ext cx="1371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A042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393 n. Chr.</a:t>
            </a:r>
            <a:endParaRPr lang="en-US" sz="1050" dirty="0"/>
          </a:p>
        </p:txBody>
      </p:sp>
      <p:sp>
        <p:nvSpPr>
          <p:cNvPr id="36" name="Text 22"/>
          <p:cNvSpPr/>
          <p:nvPr/>
        </p:nvSpPr>
        <p:spPr>
          <a:xfrm>
            <a:off x="8363550" y="4151376"/>
            <a:ext cx="3444097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C4A8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Letzte Olympische Spiele der Antike. Zeus-gewidmet, daher verboten.</a:t>
            </a:r>
            <a:endParaRPr lang="en-US" sz="1100" dirty="0"/>
          </a:p>
        </p:txBody>
      </p:sp>
      <p:pic>
        <p:nvPicPr>
          <p:cNvPr id="37" name="Image 12" descr="preencoded.png">    </p:cNvPr>
          <p:cNvPicPr>
            <a:picLocks noChangeAspect="1"/>
          </p:cNvPicPr>
          <p:nvPr/>
        </p:nvPicPr>
        <p:blipFill>
          <a:blip r:embed="rId24">
            <a:extLst>
              <a:ext uri="{96DAC541-7B7A-43D3-8B79-37D633B846F1}">
                <asvg:svgBlip xmlns:asvg="http://schemas.microsoft.com/office/drawing/2016/SVG/main" r:embed="rId25"/>
              </a:ext>
            </a:extLst>
          </a:blip>
          <a:stretch>
            <a:fillRect/>
          </a:stretch>
        </p:blipFill>
        <p:spPr>
          <a:xfrm>
            <a:off x="6534750" y="5047488"/>
            <a:ext cx="310896" cy="310896"/>
          </a:xfrm>
          <a:prstGeom prst="rect">
            <a:avLst/>
          </a:prstGeom>
        </p:spPr>
      </p:pic>
      <p:sp>
        <p:nvSpPr>
          <p:cNvPr id="38" name="Shape 23"/>
          <p:cNvSpPr/>
          <p:nvPr/>
        </p:nvSpPr>
        <p:spPr>
          <a:xfrm>
            <a:off x="6690198" y="5358384"/>
            <a:ext cx="0" cy="530352"/>
          </a:xfrm>
          <a:prstGeom prst="line">
            <a:avLst/>
          </a:prstGeom>
          <a:noFill/>
          <a:ln w="12700">
            <a:solidFill>
              <a:srgbClr val="8B3A10"/>
            </a:solidFill>
            <a:prstDash val="dash"/>
          </a:ln>
        </p:spPr>
      </p:sp>
      <p:sp>
        <p:nvSpPr>
          <p:cNvPr id="39" name="Text 24"/>
          <p:cNvSpPr/>
          <p:nvPr/>
        </p:nvSpPr>
        <p:spPr>
          <a:xfrm>
            <a:off x="6937086" y="5020056"/>
            <a:ext cx="1371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A042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415 n. Chr.</a:t>
            </a:r>
            <a:endParaRPr lang="en-US" sz="1050" dirty="0"/>
          </a:p>
        </p:txBody>
      </p:sp>
      <p:sp>
        <p:nvSpPr>
          <p:cNvPr id="40" name="Text 25"/>
          <p:cNvSpPr/>
          <p:nvPr/>
        </p:nvSpPr>
        <p:spPr>
          <a:xfrm>
            <a:off x="8363550" y="5020056"/>
            <a:ext cx="3444097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C4A8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Hypatia, Philosophin in Alexandria, von christlichem Mob getötet.</a:t>
            </a:r>
            <a:endParaRPr lang="en-US" sz="1100" dirty="0"/>
          </a:p>
        </p:txBody>
      </p:sp>
      <p:pic>
        <p:nvPicPr>
          <p:cNvPr id="41" name="Image 13" descr="preencoded.png">    </p:cNvPr>
          <p:cNvPicPr>
            <a:picLocks noChangeAspect="1"/>
          </p:cNvPicPr>
          <p:nvPr/>
        </p:nvPicPr>
        <p:blipFill>
          <a:blip r:embed="rId26">
            <a:extLst>
              <a:ext uri="{96DAC541-7B7A-43D3-8B79-37D633B846F1}">
                <asvg:svgBlip xmlns:asvg="http://schemas.microsoft.com/office/drawing/2016/SVG/main" r:embed="rId27"/>
              </a:ext>
            </a:extLst>
          </a:blip>
          <a:stretch>
            <a:fillRect/>
          </a:stretch>
        </p:blipFill>
        <p:spPr>
          <a:xfrm>
            <a:off x="6534750" y="5916168"/>
            <a:ext cx="310896" cy="310896"/>
          </a:xfrm>
          <a:prstGeom prst="rect">
            <a:avLst/>
          </a:prstGeom>
        </p:spPr>
      </p:pic>
      <p:sp>
        <p:nvSpPr>
          <p:cNvPr id="42" name="Text 26"/>
          <p:cNvSpPr/>
          <p:nvPr/>
        </p:nvSpPr>
        <p:spPr>
          <a:xfrm>
            <a:off x="6937086" y="5888736"/>
            <a:ext cx="1371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A042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529 n. Chr.</a:t>
            </a:r>
            <a:endParaRPr lang="en-US" sz="1050" dirty="0"/>
          </a:p>
        </p:txBody>
      </p:sp>
      <p:sp>
        <p:nvSpPr>
          <p:cNvPr id="43" name="Text 27"/>
          <p:cNvSpPr/>
          <p:nvPr/>
        </p:nvSpPr>
        <p:spPr>
          <a:xfrm>
            <a:off x="8363550" y="5888736"/>
            <a:ext cx="3444097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C4A8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Justinian schließt Platons Akademie in Athen. Ende der antiken Philosophie.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uwg_raesfeld_erle_website_repo/images_v2/basilica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4" name="Image 2" descr="preencoded.png">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5" name="Image 3" descr="preencoded.png">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6" name="Image 4" descr="preencoded.png">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4267048" y="228600"/>
            <a:ext cx="3657600" cy="246888"/>
          </a:xfrm>
          <a:prstGeom prst="rect">
            <a:avLst/>
          </a:prstGeom>
        </p:spPr>
      </p:pic>
      <p:sp>
        <p:nvSpPr>
          <p:cNvPr id="7" name="Text 0"/>
          <p:cNvSpPr/>
          <p:nvPr/>
        </p:nvSpPr>
        <p:spPr>
          <a:xfrm>
            <a:off x="0" y="594360"/>
            <a:ext cx="12191695" cy="1188720"/>
          </a:xfrm>
          <a:prstGeom prst="rect">
            <a:avLst/>
          </a:prstGeom>
          <a:noFill/>
          <a:ln/>
          <a:effectLst>
            <a:outerShdw sx="100000" sy="100000" kx="0" ky="0" algn="bl" rotWithShape="0" blurRad="152400" dist="50800" dir="16200000">
              <a:srgbClr val="C8820A">
                <a:alpha val="50000"/>
              </a:srgbClr>
            </a:outerShdw>
          </a:effectLst>
        </p:spPr>
        <p:txBody>
          <a:bodyPr wrap="square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000" i="1" dirty="0">
                <a:solidFill>
                  <a:srgbClr val="F5EBD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"Warum ist Sonntag frei?</a:t>
            </a:r>
            <a:endParaRPr lang="en-US" sz="20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2000" i="1" dirty="0">
                <a:solidFill>
                  <a:srgbClr val="F5EBD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Warum schreiben wir 2026?</a:t>
            </a:r>
            <a:endParaRPr lang="en-US" sz="20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2000" i="1" dirty="0">
                <a:solidFill>
                  <a:srgbClr val="F5EBD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Warum gibt es Krankenhäuser?"</a:t>
            </a:r>
            <a:endParaRPr lang="en-US" sz="2000" dirty="0"/>
          </a:p>
        </p:txBody>
      </p:sp>
      <p:pic>
        <p:nvPicPr>
          <p:cNvPr id="8" name="Image 5" descr="preencoded.png">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1828754" y="1874520"/>
            <a:ext cx="8534187" cy="32004"/>
          </a:xfrm>
          <a:prstGeom prst="rect">
            <a:avLst/>
          </a:prstGeom>
        </p:spPr>
      </p:pic>
      <p:sp>
        <p:nvSpPr>
          <p:cNvPr id="9" name="Text 1"/>
          <p:cNvSpPr/>
          <p:nvPr/>
        </p:nvSpPr>
        <p:spPr>
          <a:xfrm>
            <a:off x="975336" y="1993392"/>
            <a:ext cx="1024102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35000"/>
              </a:lnSpc>
              <a:buNone/>
            </a:pPr>
            <a:r>
              <a:rPr lang="en-US" sz="1300" dirty="0">
                <a:solidFill>
                  <a:srgbClr val="C4A8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 frühe Christentum hat unsere Welt geformt — oft ohne dass wir es wissen. Sechs Bereiche, die wir dem frühen Christentum verdanken:</a:t>
            </a:r>
            <a:endParaRPr lang="en-US" sz="1300" dirty="0"/>
          </a:p>
        </p:txBody>
      </p:sp>
      <p:sp>
        <p:nvSpPr>
          <p:cNvPr id="10" name="Shape 2"/>
          <p:cNvSpPr/>
          <p:nvPr/>
        </p:nvSpPr>
        <p:spPr>
          <a:xfrm>
            <a:off x="274320" y="2633472"/>
            <a:ext cx="3820058" cy="2057400"/>
          </a:xfrm>
          <a:prstGeom prst="rect">
            <a:avLst/>
          </a:prstGeom>
          <a:solidFill>
            <a:srgbClr val="0F0B07">
              <a:alpha val="85000"/>
            </a:srgbClr>
          </a:solidFill>
          <a:ln w="10160">
            <a:solidFill>
              <a:srgbClr val="C8820A">
                <a:alpha val="25000"/>
              </a:srgbClr>
            </a:solidFill>
            <a:prstDash val="solid"/>
          </a:ln>
        </p:spPr>
      </p:sp>
      <p:sp>
        <p:nvSpPr>
          <p:cNvPr id="11" name="Shape 3"/>
          <p:cNvSpPr/>
          <p:nvPr/>
        </p:nvSpPr>
        <p:spPr>
          <a:xfrm>
            <a:off x="274320" y="2633472"/>
            <a:ext cx="3820058" cy="18288"/>
          </a:xfrm>
          <a:prstGeom prst="rect">
            <a:avLst/>
          </a:prstGeom>
          <a:solidFill>
            <a:srgbClr val="C8820A">
              <a:alpha val="50000"/>
            </a:srgbClr>
          </a:solidFill>
          <a:ln/>
        </p:spPr>
      </p:sp>
      <p:pic>
        <p:nvPicPr>
          <p:cNvPr id="12" name="Image 6" descr="preencoded.png">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329184" y="2942082"/>
            <a:ext cx="36576" cy="1440180"/>
          </a:xfrm>
          <a:prstGeom prst="rect">
            <a:avLst/>
          </a:prstGeom>
        </p:spPr>
      </p:pic>
      <p:pic>
        <p:nvPicPr>
          <p:cNvPr id="13" name="Image 7" descr="preencoded.png">    </p:cNvPr>
          <p:cNvPicPr>
            <a:picLocks noChangeAspect="1"/>
          </p:cNvPicPr>
          <p:nvPr/>
        </p:nvPicPr>
        <p:blipFill>
          <a:blip r:embed="rId14"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420624" y="2770632"/>
            <a:ext cx="347472" cy="347472"/>
          </a:xfrm>
          <a:prstGeom prst="rect">
            <a:avLst/>
          </a:prstGeom>
        </p:spPr>
      </p:pic>
      <p:sp>
        <p:nvSpPr>
          <p:cNvPr id="14" name="Text 4"/>
          <p:cNvSpPr/>
          <p:nvPr/>
        </p:nvSpPr>
        <p:spPr>
          <a:xfrm>
            <a:off x="841248" y="2761488"/>
            <a:ext cx="316169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C8820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KALENDER &amp; ZEIT</a:t>
            </a:r>
            <a:endParaRPr lang="en-US" sz="1050" dirty="0"/>
          </a:p>
        </p:txBody>
      </p:sp>
      <p:sp>
        <p:nvSpPr>
          <p:cNvPr id="15" name="Text 5"/>
          <p:cNvSpPr/>
          <p:nvPr/>
        </p:nvSpPr>
        <p:spPr>
          <a:xfrm>
            <a:off x="420624" y="3163824"/>
            <a:ext cx="3582314" cy="1399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4A8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Sonntag als Ruhetag (321 n. Chr.).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C4A8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Unser Kalender teilt Zeit in v. Chr. / n. Chr.</a:t>
            </a:r>
            <a:endParaRPr lang="en-US" sz="1050" dirty="0"/>
          </a:p>
        </p:txBody>
      </p:sp>
      <p:sp>
        <p:nvSpPr>
          <p:cNvPr id="16" name="Shape 6"/>
          <p:cNvSpPr/>
          <p:nvPr/>
        </p:nvSpPr>
        <p:spPr>
          <a:xfrm>
            <a:off x="4185818" y="2633472"/>
            <a:ext cx="3820058" cy="2057400"/>
          </a:xfrm>
          <a:prstGeom prst="rect">
            <a:avLst/>
          </a:prstGeom>
          <a:solidFill>
            <a:srgbClr val="0F0B07">
              <a:alpha val="85000"/>
            </a:srgbClr>
          </a:solidFill>
          <a:ln w="10160">
            <a:solidFill>
              <a:srgbClr val="C8820A">
                <a:alpha val="25000"/>
              </a:srgbClr>
            </a:solidFill>
            <a:prstDash val="solid"/>
          </a:ln>
        </p:spPr>
      </p:sp>
      <p:sp>
        <p:nvSpPr>
          <p:cNvPr id="17" name="Shape 7"/>
          <p:cNvSpPr/>
          <p:nvPr/>
        </p:nvSpPr>
        <p:spPr>
          <a:xfrm>
            <a:off x="4185818" y="2633472"/>
            <a:ext cx="3820058" cy="18288"/>
          </a:xfrm>
          <a:prstGeom prst="rect">
            <a:avLst/>
          </a:prstGeom>
          <a:solidFill>
            <a:srgbClr val="C8820A">
              <a:alpha val="50000"/>
            </a:srgbClr>
          </a:solidFill>
          <a:ln/>
        </p:spPr>
      </p:sp>
      <p:pic>
        <p:nvPicPr>
          <p:cNvPr id="18" name="Image 8" descr="preencoded.png">    </p:cNvPr>
          <p:cNvPicPr>
            <a:picLocks noChangeAspect="1"/>
          </p:cNvPicPr>
          <p:nvPr/>
        </p:nvPicPr>
        <p:blipFill>
          <a:blip r:embed="rId16">
            <a:extLs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4240682" y="2942082"/>
            <a:ext cx="36576" cy="1440180"/>
          </a:xfrm>
          <a:prstGeom prst="rect">
            <a:avLst/>
          </a:prstGeom>
        </p:spPr>
      </p:pic>
      <p:pic>
        <p:nvPicPr>
          <p:cNvPr id="19" name="Image 9" descr="preencoded.png">    </p:cNvPr>
          <p:cNvPicPr>
            <a:picLocks noChangeAspect="1"/>
          </p:cNvPicPr>
          <p:nvPr/>
        </p:nvPicPr>
        <p:blipFill>
          <a:blip r:embed="rId18">
            <a:extLst>
              <a:ext uri="{96DAC541-7B7A-43D3-8B79-37D633B846F1}">
                <asvg:svgBlip xmlns:asvg="http://schemas.microsoft.com/office/drawing/2016/SVG/main" r:embed="rId19"/>
              </a:ext>
            </a:extLst>
          </a:blip>
          <a:stretch>
            <a:fillRect/>
          </a:stretch>
        </p:blipFill>
        <p:spPr>
          <a:xfrm>
            <a:off x="4332122" y="2770632"/>
            <a:ext cx="347472" cy="347472"/>
          </a:xfrm>
          <a:prstGeom prst="rect">
            <a:avLst/>
          </a:prstGeom>
        </p:spPr>
      </p:pic>
      <p:sp>
        <p:nvSpPr>
          <p:cNvPr id="20" name="Text 8"/>
          <p:cNvSpPr/>
          <p:nvPr/>
        </p:nvSpPr>
        <p:spPr>
          <a:xfrm>
            <a:off x="4752746" y="2761488"/>
            <a:ext cx="316169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C8820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SOZIALFÜRSORGE</a:t>
            </a:r>
            <a:endParaRPr lang="en-US" sz="1050" dirty="0"/>
          </a:p>
        </p:txBody>
      </p:sp>
      <p:sp>
        <p:nvSpPr>
          <p:cNvPr id="21" name="Text 9"/>
          <p:cNvSpPr/>
          <p:nvPr/>
        </p:nvSpPr>
        <p:spPr>
          <a:xfrm>
            <a:off x="4332122" y="3163824"/>
            <a:ext cx="3582314" cy="1399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4A8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Erste Hospize &amp; Waisenhäuser (4. Jh.).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C4A8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Armenpflege als religiöse Pflicht — eine neue Idee.</a:t>
            </a:r>
            <a:endParaRPr lang="en-US" sz="1050" dirty="0"/>
          </a:p>
        </p:txBody>
      </p:sp>
      <p:sp>
        <p:nvSpPr>
          <p:cNvPr id="22" name="Shape 10"/>
          <p:cNvSpPr/>
          <p:nvPr/>
        </p:nvSpPr>
        <p:spPr>
          <a:xfrm>
            <a:off x="8097317" y="2633472"/>
            <a:ext cx="3820058" cy="2057400"/>
          </a:xfrm>
          <a:prstGeom prst="rect">
            <a:avLst/>
          </a:prstGeom>
          <a:solidFill>
            <a:srgbClr val="0F0B07">
              <a:alpha val="85000"/>
            </a:srgbClr>
          </a:solidFill>
          <a:ln w="10160">
            <a:solidFill>
              <a:srgbClr val="C8820A">
                <a:alpha val="25000"/>
              </a:srgbClr>
            </a:solidFill>
            <a:prstDash val="solid"/>
          </a:ln>
        </p:spPr>
      </p:sp>
      <p:sp>
        <p:nvSpPr>
          <p:cNvPr id="23" name="Shape 11"/>
          <p:cNvSpPr/>
          <p:nvPr/>
        </p:nvSpPr>
        <p:spPr>
          <a:xfrm>
            <a:off x="8097317" y="2633472"/>
            <a:ext cx="3820058" cy="18288"/>
          </a:xfrm>
          <a:prstGeom prst="rect">
            <a:avLst/>
          </a:prstGeom>
          <a:solidFill>
            <a:srgbClr val="C8820A">
              <a:alpha val="50000"/>
            </a:srgbClr>
          </a:solidFill>
          <a:ln/>
        </p:spPr>
      </p:sp>
      <p:pic>
        <p:nvPicPr>
          <p:cNvPr id="24" name="Image 10" descr="preencoded.png">    </p:cNvPr>
          <p:cNvPicPr>
            <a:picLocks noChangeAspect="1"/>
          </p:cNvPicPr>
          <p:nvPr/>
        </p:nvPicPr>
        <p:blipFill>
          <a:blip r:embed="rId20">
            <a:extLst>
              <a:ext uri="{96DAC541-7B7A-43D3-8B79-37D633B846F1}">
                <asvg:svgBlip xmlns:asvg="http://schemas.microsoft.com/office/drawing/2016/SVG/main" r:embed="rId21"/>
              </a:ext>
            </a:extLst>
          </a:blip>
          <a:stretch>
            <a:fillRect/>
          </a:stretch>
        </p:blipFill>
        <p:spPr>
          <a:xfrm>
            <a:off x="8152181" y="2942082"/>
            <a:ext cx="36576" cy="1440180"/>
          </a:xfrm>
          <a:prstGeom prst="rect">
            <a:avLst/>
          </a:prstGeom>
        </p:spPr>
      </p:pic>
      <p:pic>
        <p:nvPicPr>
          <p:cNvPr id="25" name="Image 11" descr="preencoded.png">    </p:cNvPr>
          <p:cNvPicPr>
            <a:picLocks noChangeAspect="1"/>
          </p:cNvPicPr>
          <p:nvPr/>
        </p:nvPicPr>
        <p:blipFill>
          <a:blip r:embed="rId22">
            <a:extLst>
              <a:ext uri="{96DAC541-7B7A-43D3-8B79-37D633B846F1}">
                <asvg:svgBlip xmlns:asvg="http://schemas.microsoft.com/office/drawing/2016/SVG/main" r:embed="rId23"/>
              </a:ext>
            </a:extLst>
          </a:blip>
          <a:stretch>
            <a:fillRect/>
          </a:stretch>
        </p:blipFill>
        <p:spPr>
          <a:xfrm>
            <a:off x="8243621" y="2770632"/>
            <a:ext cx="347472" cy="347472"/>
          </a:xfrm>
          <a:prstGeom prst="rect">
            <a:avLst/>
          </a:prstGeom>
        </p:spPr>
      </p:pic>
      <p:sp>
        <p:nvSpPr>
          <p:cNvPr id="26" name="Text 12"/>
          <p:cNvSpPr/>
          <p:nvPr/>
        </p:nvSpPr>
        <p:spPr>
          <a:xfrm>
            <a:off x="8664245" y="2761488"/>
            <a:ext cx="316169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C8820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BILDUNG &amp; WISSEN</a:t>
            </a:r>
            <a:endParaRPr lang="en-US" sz="1050" dirty="0"/>
          </a:p>
        </p:txBody>
      </p:sp>
      <p:sp>
        <p:nvSpPr>
          <p:cNvPr id="27" name="Text 13"/>
          <p:cNvSpPr/>
          <p:nvPr/>
        </p:nvSpPr>
        <p:spPr>
          <a:xfrm>
            <a:off x="8243621" y="3163824"/>
            <a:ext cx="3582314" cy="1399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4A8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Klöster kopierten antike Texte durch das Mittelalter.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C4A8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Ohne sie wäre griechische Philosophie verloren.</a:t>
            </a:r>
            <a:endParaRPr lang="en-US" sz="1050" dirty="0"/>
          </a:p>
        </p:txBody>
      </p:sp>
      <p:sp>
        <p:nvSpPr>
          <p:cNvPr id="28" name="Shape 14"/>
          <p:cNvSpPr/>
          <p:nvPr/>
        </p:nvSpPr>
        <p:spPr>
          <a:xfrm>
            <a:off x="274320" y="4782312"/>
            <a:ext cx="3820058" cy="2057400"/>
          </a:xfrm>
          <a:prstGeom prst="rect">
            <a:avLst/>
          </a:prstGeom>
          <a:solidFill>
            <a:srgbClr val="0F0B07">
              <a:alpha val="85000"/>
            </a:srgbClr>
          </a:solidFill>
          <a:ln w="10160">
            <a:solidFill>
              <a:srgbClr val="C8820A">
                <a:alpha val="25000"/>
              </a:srgbClr>
            </a:solidFill>
            <a:prstDash val="solid"/>
          </a:ln>
        </p:spPr>
      </p:sp>
      <p:sp>
        <p:nvSpPr>
          <p:cNvPr id="29" name="Shape 15"/>
          <p:cNvSpPr/>
          <p:nvPr/>
        </p:nvSpPr>
        <p:spPr>
          <a:xfrm>
            <a:off x="274320" y="4782312"/>
            <a:ext cx="3820058" cy="18288"/>
          </a:xfrm>
          <a:prstGeom prst="rect">
            <a:avLst/>
          </a:prstGeom>
          <a:solidFill>
            <a:srgbClr val="C8820A">
              <a:alpha val="50000"/>
            </a:srgbClr>
          </a:solidFill>
          <a:ln/>
        </p:spPr>
      </p:sp>
      <p:pic>
        <p:nvPicPr>
          <p:cNvPr id="30" name="Image 12" descr="preencoded.png">    </p:cNvPr>
          <p:cNvPicPr>
            <a:picLocks noChangeAspect="1"/>
          </p:cNvPicPr>
          <p:nvPr/>
        </p:nvPicPr>
        <p:blipFill>
          <a:blip r:embed="rId24">
            <a:extLst>
              <a:ext uri="{96DAC541-7B7A-43D3-8B79-37D633B846F1}">
                <asvg:svgBlip xmlns:asvg="http://schemas.microsoft.com/office/drawing/2016/SVG/main" r:embed="rId25"/>
              </a:ext>
            </a:extLst>
          </a:blip>
          <a:stretch>
            <a:fillRect/>
          </a:stretch>
        </p:blipFill>
        <p:spPr>
          <a:xfrm>
            <a:off x="329184" y="5090922"/>
            <a:ext cx="36576" cy="1440180"/>
          </a:xfrm>
          <a:prstGeom prst="rect">
            <a:avLst/>
          </a:prstGeom>
        </p:spPr>
      </p:pic>
      <p:pic>
        <p:nvPicPr>
          <p:cNvPr id="31" name="Image 13" descr="preencoded.png">    </p:cNvPr>
          <p:cNvPicPr>
            <a:picLocks noChangeAspect="1"/>
          </p:cNvPicPr>
          <p:nvPr/>
        </p:nvPicPr>
        <p:blipFill>
          <a:blip r:embed="rId26">
            <a:extLst>
              <a:ext uri="{96DAC541-7B7A-43D3-8B79-37D633B846F1}">
                <asvg:svgBlip xmlns:asvg="http://schemas.microsoft.com/office/drawing/2016/SVG/main" r:embed="rId27"/>
              </a:ext>
            </a:extLst>
          </a:blip>
          <a:stretch>
            <a:fillRect/>
          </a:stretch>
        </p:blipFill>
        <p:spPr>
          <a:xfrm>
            <a:off x="420624" y="4919472"/>
            <a:ext cx="347472" cy="347472"/>
          </a:xfrm>
          <a:prstGeom prst="rect">
            <a:avLst/>
          </a:prstGeom>
        </p:spPr>
      </p:pic>
      <p:sp>
        <p:nvSpPr>
          <p:cNvPr id="32" name="Text 16"/>
          <p:cNvSpPr/>
          <p:nvPr/>
        </p:nvSpPr>
        <p:spPr>
          <a:xfrm>
            <a:off x="841248" y="4910328"/>
            <a:ext cx="316169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C8820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ARCHITEKTUR</a:t>
            </a:r>
            <a:endParaRPr lang="en-US" sz="1050" dirty="0"/>
          </a:p>
        </p:txBody>
      </p:sp>
      <p:sp>
        <p:nvSpPr>
          <p:cNvPr id="33" name="Text 17"/>
          <p:cNvSpPr/>
          <p:nvPr/>
        </p:nvSpPr>
        <p:spPr>
          <a:xfrm>
            <a:off x="420624" y="5312664"/>
            <a:ext cx="3582314" cy="1399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4A8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Basilika-Bauform, Kuppeln, Kirchenfenster.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C4A8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Rom, Hagia Sophia — weltweit sichtbar.</a:t>
            </a:r>
            <a:endParaRPr lang="en-US" sz="1050" dirty="0"/>
          </a:p>
        </p:txBody>
      </p:sp>
      <p:sp>
        <p:nvSpPr>
          <p:cNvPr id="34" name="Shape 18"/>
          <p:cNvSpPr/>
          <p:nvPr/>
        </p:nvSpPr>
        <p:spPr>
          <a:xfrm>
            <a:off x="4185818" y="4782312"/>
            <a:ext cx="3820058" cy="2057400"/>
          </a:xfrm>
          <a:prstGeom prst="rect">
            <a:avLst/>
          </a:prstGeom>
          <a:solidFill>
            <a:srgbClr val="0F0B07">
              <a:alpha val="85000"/>
            </a:srgbClr>
          </a:solidFill>
          <a:ln w="10160">
            <a:solidFill>
              <a:srgbClr val="C8820A">
                <a:alpha val="25000"/>
              </a:srgbClr>
            </a:solidFill>
            <a:prstDash val="solid"/>
          </a:ln>
        </p:spPr>
      </p:sp>
      <p:sp>
        <p:nvSpPr>
          <p:cNvPr id="35" name="Shape 19"/>
          <p:cNvSpPr/>
          <p:nvPr/>
        </p:nvSpPr>
        <p:spPr>
          <a:xfrm>
            <a:off x="4185818" y="4782312"/>
            <a:ext cx="3820058" cy="18288"/>
          </a:xfrm>
          <a:prstGeom prst="rect">
            <a:avLst/>
          </a:prstGeom>
          <a:solidFill>
            <a:srgbClr val="C8820A">
              <a:alpha val="50000"/>
            </a:srgbClr>
          </a:solidFill>
          <a:ln/>
        </p:spPr>
      </p:sp>
      <p:pic>
        <p:nvPicPr>
          <p:cNvPr id="36" name="Image 14" descr="preencoded.png">    </p:cNvPr>
          <p:cNvPicPr>
            <a:picLocks noChangeAspect="1"/>
          </p:cNvPicPr>
          <p:nvPr/>
        </p:nvPicPr>
        <p:blipFill>
          <a:blip r:embed="rId28">
            <a:extLst>
              <a:ext uri="{96DAC541-7B7A-43D3-8B79-37D633B846F1}">
                <asvg:svgBlip xmlns:asvg="http://schemas.microsoft.com/office/drawing/2016/SVG/main" r:embed="rId29"/>
              </a:ext>
            </a:extLst>
          </a:blip>
          <a:stretch>
            <a:fillRect/>
          </a:stretch>
        </p:blipFill>
        <p:spPr>
          <a:xfrm>
            <a:off x="4240682" y="5090922"/>
            <a:ext cx="36576" cy="1440180"/>
          </a:xfrm>
          <a:prstGeom prst="rect">
            <a:avLst/>
          </a:prstGeom>
        </p:spPr>
      </p:pic>
      <p:pic>
        <p:nvPicPr>
          <p:cNvPr id="37" name="Image 15" descr="preencoded.png">    </p:cNvPr>
          <p:cNvPicPr>
            <a:picLocks noChangeAspect="1"/>
          </p:cNvPicPr>
          <p:nvPr/>
        </p:nvPicPr>
        <p:blipFill>
          <a:blip r:embed="rId30">
            <a:extLst>
              <a:ext uri="{96DAC541-7B7A-43D3-8B79-37D633B846F1}">
                <asvg:svgBlip xmlns:asvg="http://schemas.microsoft.com/office/drawing/2016/SVG/main" r:embed="rId31"/>
              </a:ext>
            </a:extLst>
          </a:blip>
          <a:stretch>
            <a:fillRect/>
          </a:stretch>
        </p:blipFill>
        <p:spPr>
          <a:xfrm>
            <a:off x="4332122" y="4919472"/>
            <a:ext cx="347472" cy="347472"/>
          </a:xfrm>
          <a:prstGeom prst="rect">
            <a:avLst/>
          </a:prstGeom>
        </p:spPr>
      </p:pic>
      <p:sp>
        <p:nvSpPr>
          <p:cNvPr id="38" name="Text 20"/>
          <p:cNvSpPr/>
          <p:nvPr/>
        </p:nvSpPr>
        <p:spPr>
          <a:xfrm>
            <a:off x="4752746" y="4910328"/>
            <a:ext cx="316169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C8820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ETHIK &amp; WÜRDE</a:t>
            </a:r>
            <a:endParaRPr lang="en-US" sz="1050" dirty="0"/>
          </a:p>
        </p:txBody>
      </p:sp>
      <p:sp>
        <p:nvSpPr>
          <p:cNvPr id="39" name="Text 21"/>
          <p:cNvSpPr/>
          <p:nvPr/>
        </p:nvSpPr>
        <p:spPr>
          <a:xfrm>
            <a:off x="4332122" y="5312664"/>
            <a:ext cx="3582314" cy="1399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4A8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Nächstenliebe als Pflicht. Menschenwürde für alle — auch Sklaven. Grundlage der westlichen Ethik.</a:t>
            </a:r>
            <a:endParaRPr lang="en-US" sz="1050" dirty="0"/>
          </a:p>
        </p:txBody>
      </p:sp>
      <p:sp>
        <p:nvSpPr>
          <p:cNvPr id="40" name="Shape 22"/>
          <p:cNvSpPr/>
          <p:nvPr/>
        </p:nvSpPr>
        <p:spPr>
          <a:xfrm>
            <a:off x="8097317" y="4782312"/>
            <a:ext cx="3820058" cy="2057400"/>
          </a:xfrm>
          <a:prstGeom prst="rect">
            <a:avLst/>
          </a:prstGeom>
          <a:solidFill>
            <a:srgbClr val="0F0B07">
              <a:alpha val="85000"/>
            </a:srgbClr>
          </a:solidFill>
          <a:ln w="10160">
            <a:solidFill>
              <a:srgbClr val="C8820A">
                <a:alpha val="25000"/>
              </a:srgbClr>
            </a:solidFill>
            <a:prstDash val="solid"/>
          </a:ln>
        </p:spPr>
      </p:sp>
      <p:sp>
        <p:nvSpPr>
          <p:cNvPr id="41" name="Shape 23"/>
          <p:cNvSpPr/>
          <p:nvPr/>
        </p:nvSpPr>
        <p:spPr>
          <a:xfrm>
            <a:off x="8097317" y="4782312"/>
            <a:ext cx="3820058" cy="18288"/>
          </a:xfrm>
          <a:prstGeom prst="rect">
            <a:avLst/>
          </a:prstGeom>
          <a:solidFill>
            <a:srgbClr val="C8820A">
              <a:alpha val="50000"/>
            </a:srgbClr>
          </a:solidFill>
          <a:ln/>
        </p:spPr>
      </p:sp>
      <p:pic>
        <p:nvPicPr>
          <p:cNvPr id="42" name="Image 16" descr="preencoded.png">    </p:cNvPr>
          <p:cNvPicPr>
            <a:picLocks noChangeAspect="1"/>
          </p:cNvPicPr>
          <p:nvPr/>
        </p:nvPicPr>
        <p:blipFill>
          <a:blip r:embed="rId32">
            <a:extLst>
              <a:ext uri="{96DAC541-7B7A-43D3-8B79-37D633B846F1}">
                <asvg:svgBlip xmlns:asvg="http://schemas.microsoft.com/office/drawing/2016/SVG/main" r:embed="rId33"/>
              </a:ext>
            </a:extLst>
          </a:blip>
          <a:stretch>
            <a:fillRect/>
          </a:stretch>
        </p:blipFill>
        <p:spPr>
          <a:xfrm>
            <a:off x="8152181" y="5090922"/>
            <a:ext cx="36576" cy="1440180"/>
          </a:xfrm>
          <a:prstGeom prst="rect">
            <a:avLst/>
          </a:prstGeom>
        </p:spPr>
      </p:pic>
      <p:pic>
        <p:nvPicPr>
          <p:cNvPr id="43" name="Image 17" descr="preencoded.png">    </p:cNvPr>
          <p:cNvPicPr>
            <a:picLocks noChangeAspect="1"/>
          </p:cNvPicPr>
          <p:nvPr/>
        </p:nvPicPr>
        <p:blipFill>
          <a:blip r:embed="rId34">
            <a:extLst>
              <a:ext uri="{96DAC541-7B7A-43D3-8B79-37D633B846F1}">
                <asvg:svgBlip xmlns:asvg="http://schemas.microsoft.com/office/drawing/2016/SVG/main" r:embed="rId35"/>
              </a:ext>
            </a:extLst>
          </a:blip>
          <a:stretch>
            <a:fillRect/>
          </a:stretch>
        </p:blipFill>
        <p:spPr>
          <a:xfrm>
            <a:off x="8243621" y="4919472"/>
            <a:ext cx="347472" cy="347472"/>
          </a:xfrm>
          <a:prstGeom prst="rect">
            <a:avLst/>
          </a:prstGeom>
        </p:spPr>
      </p:pic>
      <p:sp>
        <p:nvSpPr>
          <p:cNvPr id="44" name="Text 24"/>
          <p:cNvSpPr/>
          <p:nvPr/>
        </p:nvSpPr>
        <p:spPr>
          <a:xfrm>
            <a:off x="8664245" y="4910328"/>
            <a:ext cx="316169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C8820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FRAUEN &amp; NEUE ROLLEN</a:t>
            </a:r>
            <a:endParaRPr lang="en-US" sz="1050" dirty="0"/>
          </a:p>
        </p:txBody>
      </p:sp>
      <p:sp>
        <p:nvSpPr>
          <p:cNvPr id="45" name="Text 25"/>
          <p:cNvSpPr/>
          <p:nvPr/>
        </p:nvSpPr>
        <p:spPr>
          <a:xfrm>
            <a:off x="8243621" y="5312664"/>
            <a:ext cx="3582314" cy="1399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4A8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Witwen, Diakoninnen, Märtyrerinnen erhielten neue gesellschaftliche Bedeutung.</a:t>
            </a:r>
            <a:endParaRPr 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30201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5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6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7" name="Image 4" descr="preencoded.png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0" y="0"/>
            <a:ext cx="12191695" cy="36576"/>
          </a:xfrm>
          <a:prstGeom prst="rect">
            <a:avLst/>
          </a:prstGeom>
        </p:spPr>
      </p:pic>
      <p:pic>
        <p:nvPicPr>
          <p:cNvPr id="8" name="Image 5" descr="preencoded.png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0" y="6821424"/>
            <a:ext cx="12191695" cy="36576"/>
          </a:xfrm>
          <a:prstGeom prst="rect">
            <a:avLst/>
          </a:prstGeom>
        </p:spPr>
      </p:pic>
      <p:sp>
        <p:nvSpPr>
          <p:cNvPr id="9" name="Text 1"/>
          <p:cNvSpPr/>
          <p:nvPr/>
        </p:nvSpPr>
        <p:spPr>
          <a:xfrm>
            <a:off x="0" y="566928"/>
            <a:ext cx="12191695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spc="600" kern="0" dirty="0">
                <a:solidFill>
                  <a:srgbClr val="6B4A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ABSCHLUSSFRAGE —</a:t>
            </a:r>
            <a:endParaRPr lang="en-US" sz="1200" dirty="0"/>
          </a:p>
        </p:txBody>
      </p:sp>
      <p:sp>
        <p:nvSpPr>
          <p:cNvPr id="10" name="Text 2"/>
          <p:cNvSpPr/>
          <p:nvPr/>
        </p:nvSpPr>
        <p:spPr>
          <a:xfrm>
            <a:off x="731502" y="1024128"/>
            <a:ext cx="10728692" cy="2560320"/>
          </a:xfrm>
          <a:prstGeom prst="rect">
            <a:avLst/>
          </a:prstGeom>
          <a:noFill/>
          <a:ln/>
          <a:effectLst>
            <a:outerShdw sx="100000" sy="100000" kx="0" ky="0" algn="bl" rotWithShape="0" blurRad="381000" dist="50800" dir="16200000">
              <a:srgbClr val="C8820A">
                <a:alpha val="75000"/>
              </a:srgbClr>
            </a:outerShdw>
          </a:effectLst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600" b="1" i="1" dirty="0">
                <a:solidFill>
                  <a:srgbClr val="F5EBD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Wofür würdet</a:t>
            </a:r>
            <a:endParaRPr lang="en-US" sz="5600" dirty="0"/>
          </a:p>
          <a:p>
            <a:pPr algn="ctr" indent="0" marL="0">
              <a:buNone/>
            </a:pPr>
            <a:r>
              <a:rPr lang="en-US" sz="5600" b="1" i="1" dirty="0">
                <a:solidFill>
                  <a:srgbClr val="F5EBD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ihr heute sterben?</a:t>
            </a:r>
            <a:endParaRPr lang="en-US" sz="5600" dirty="0"/>
          </a:p>
        </p:txBody>
      </p:sp>
      <p:pic>
        <p:nvPicPr>
          <p:cNvPr id="11" name="Image 6" descr="preencoded.png">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3047924" y="3703320"/>
            <a:ext cx="6095848" cy="201168"/>
          </a:xfrm>
          <a:prstGeom prst="rect">
            <a:avLst/>
          </a:prstGeom>
        </p:spPr>
      </p:pic>
      <p:sp>
        <p:nvSpPr>
          <p:cNvPr id="12" name="Text 3"/>
          <p:cNvSpPr/>
          <p:nvPr/>
        </p:nvSpPr>
        <p:spPr>
          <a:xfrm>
            <a:off x="975336" y="4041648"/>
            <a:ext cx="1024102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C4A88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Die ersten Christen taten es — ohne Aussicht auf Belohnung in diesem Leben.</a:t>
            </a:r>
            <a:endParaRPr lang="en-US" sz="1600" dirty="0"/>
          </a:p>
        </p:txBody>
      </p:sp>
      <p:sp>
        <p:nvSpPr>
          <p:cNvPr id="13" name="Text 4"/>
          <p:cNvSpPr/>
          <p:nvPr/>
        </p:nvSpPr>
        <p:spPr>
          <a:xfrm>
            <a:off x="1219170" y="4590288"/>
            <a:ext cx="9753356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D9A44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Welche Idee, welcher Mensch, welcher Glaube wäre es euch wert?</a:t>
            </a:r>
            <a:endParaRPr lang="en-US" sz="1400" dirty="0"/>
          </a:p>
        </p:txBody>
      </p:sp>
      <p:sp>
        <p:nvSpPr>
          <p:cNvPr id="14" name="Text 5"/>
          <p:cNvSpPr/>
          <p:nvPr/>
        </p:nvSpPr>
        <p:spPr>
          <a:xfrm>
            <a:off x="1828754" y="5074920"/>
            <a:ext cx="8534187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6B4A0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Und wenn nichts — was sagt das über unsere Zeit?</a:t>
            </a:r>
            <a:endParaRPr lang="en-US" sz="1300" dirty="0"/>
          </a:p>
        </p:txBody>
      </p:sp>
      <p:sp>
        <p:nvSpPr>
          <p:cNvPr id="15" name="Text 6"/>
          <p:cNvSpPr/>
          <p:nvPr/>
        </p:nvSpPr>
        <p:spPr>
          <a:xfrm>
            <a:off x="0" y="6537960"/>
            <a:ext cx="12191695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spc="300" kern="0" dirty="0">
                <a:solidFill>
                  <a:srgbClr val="6B4A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SCHULPRÄSENTATION • OBERSTUFE • 2026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Die Anfänge der Kirche in der Antike</dc:title>
  <dc:subject>Geschichte • Religion • Antike</dc:subject>
  <dc:creator>Schulpräsentation Oberstufe 2026</dc:creator>
  <cp:lastModifiedBy>Schulpräsentation Oberstufe 2026</cp:lastModifiedBy>
  <cp:revision>1</cp:revision>
  <dcterms:created xsi:type="dcterms:W3CDTF">2026-05-28T04:13:41Z</dcterms:created>
  <dcterms:modified xsi:type="dcterms:W3CDTF">2026-05-28T04:13:41Z</dcterms:modified>
</cp:coreProperties>
</file>