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svg"/><Relationship Id="rId12" Type="http://schemas.openxmlformats.org/officeDocument/2006/relationships/image" Target="../media/image-1-12.png"/><Relationship Id="rId13" Type="http://schemas.openxmlformats.org/officeDocument/2006/relationships/image" Target="../media/image-1-13.sv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image" Target="../media/image-2-12.png"/><Relationship Id="rId13" Type="http://schemas.openxmlformats.org/officeDocument/2006/relationships/image" Target="../media/image-2-13.svg"/><Relationship Id="rId14" Type="http://schemas.openxmlformats.org/officeDocument/2006/relationships/image" Target="../media/image-2-14.png"/><Relationship Id="rId15" Type="http://schemas.openxmlformats.org/officeDocument/2006/relationships/image" Target="../media/image-2-15.svg"/><Relationship Id="rId16" Type="http://schemas.openxmlformats.org/officeDocument/2006/relationships/image" Target="../media/image-2-16.png"/><Relationship Id="rId17" Type="http://schemas.openxmlformats.org/officeDocument/2006/relationships/image" Target="../media/image-2-17.svg"/><Relationship Id="rId18" Type="http://schemas.openxmlformats.org/officeDocument/2006/relationships/image" Target="../media/image-2-18.png"/><Relationship Id="rId19" Type="http://schemas.openxmlformats.org/officeDocument/2006/relationships/image" Target="../media/image-2-19.svg"/><Relationship Id="rId20" Type="http://schemas.openxmlformats.org/officeDocument/2006/relationships/image" Target="../media/image-2-20.png"/><Relationship Id="rId21" Type="http://schemas.openxmlformats.org/officeDocument/2006/relationships/image" Target="../media/image-2-21.svg"/><Relationship Id="rId22" Type="http://schemas.openxmlformats.org/officeDocument/2006/relationships/image" Target="../media/image-2-22.png"/><Relationship Id="rId23" Type="http://schemas.openxmlformats.org/officeDocument/2006/relationships/image" Target="../media/image-2-23.svg"/><Relationship Id="rId24" Type="http://schemas.openxmlformats.org/officeDocument/2006/relationships/image" Target="../media/image-2-24.png"/><Relationship Id="rId25" Type="http://schemas.openxmlformats.org/officeDocument/2006/relationships/image" Target="../media/image-2-25.sv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svg"/><Relationship Id="rId14" Type="http://schemas.openxmlformats.org/officeDocument/2006/relationships/image" Target="../media/image-3-14.png"/><Relationship Id="rId15" Type="http://schemas.openxmlformats.org/officeDocument/2006/relationships/image" Target="../media/image-3-15.svg"/><Relationship Id="rId16" Type="http://schemas.openxmlformats.org/officeDocument/2006/relationships/image" Target="../media/image-3-16.png"/><Relationship Id="rId17" Type="http://schemas.openxmlformats.org/officeDocument/2006/relationships/image" Target="../media/image-3-17.svg"/><Relationship Id="rId18" Type="http://schemas.openxmlformats.org/officeDocument/2006/relationships/image" Target="../media/image-3-18.png"/><Relationship Id="rId19" Type="http://schemas.openxmlformats.org/officeDocument/2006/relationships/image" Target="../media/image-3-19.svg"/><Relationship Id="rId20" Type="http://schemas.openxmlformats.org/officeDocument/2006/relationships/image" Target="../media/image-3-20.png"/><Relationship Id="rId21" Type="http://schemas.openxmlformats.org/officeDocument/2006/relationships/image" Target="../media/image-3-21.svg"/><Relationship Id="rId22" Type="http://schemas.openxmlformats.org/officeDocument/2006/relationships/image" Target="../media/image-3-22.png"/><Relationship Id="rId23" Type="http://schemas.openxmlformats.org/officeDocument/2006/relationships/image" Target="../media/image-3-23.svg"/><Relationship Id="rId24" Type="http://schemas.openxmlformats.org/officeDocument/2006/relationships/image" Target="../media/image-3-24.png"/><Relationship Id="rId25" Type="http://schemas.openxmlformats.org/officeDocument/2006/relationships/image" Target="../media/image-3-25.svg"/><Relationship Id="rId26" Type="http://schemas.openxmlformats.org/officeDocument/2006/relationships/image" Target="../media/image-3-26.png"/><Relationship Id="rId27" Type="http://schemas.openxmlformats.org/officeDocument/2006/relationships/image" Target="../media/image-3-27.sv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image" Target="../media/image-4-14.png"/><Relationship Id="rId15" Type="http://schemas.openxmlformats.org/officeDocument/2006/relationships/image" Target="../media/image-4-15.svg"/><Relationship Id="rId16" Type="http://schemas.openxmlformats.org/officeDocument/2006/relationships/image" Target="../media/image-4-16.png"/><Relationship Id="rId17" Type="http://schemas.openxmlformats.org/officeDocument/2006/relationships/image" Target="../media/image-4-17.svg"/><Relationship Id="rId18" Type="http://schemas.openxmlformats.org/officeDocument/2006/relationships/image" Target="../media/image-4-18.png"/><Relationship Id="rId19" Type="http://schemas.openxmlformats.org/officeDocument/2006/relationships/image" Target="../media/image-4-19.svg"/><Relationship Id="rId20" Type="http://schemas.openxmlformats.org/officeDocument/2006/relationships/image" Target="../media/image-4-20.png"/><Relationship Id="rId21" Type="http://schemas.openxmlformats.org/officeDocument/2006/relationships/image" Target="../media/image-4-21.sv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image" Target="../media/image-5-14.png"/><Relationship Id="rId15" Type="http://schemas.openxmlformats.org/officeDocument/2006/relationships/image" Target="../media/image-5-15.svg"/><Relationship Id="rId16" Type="http://schemas.openxmlformats.org/officeDocument/2006/relationships/image" Target="../media/image-5-16.png"/><Relationship Id="rId17" Type="http://schemas.openxmlformats.org/officeDocument/2006/relationships/image" Target="../media/image-5-17.svg"/><Relationship Id="rId18" Type="http://schemas.openxmlformats.org/officeDocument/2006/relationships/image" Target="../media/image-5-18.png"/><Relationship Id="rId19" Type="http://schemas.openxmlformats.org/officeDocument/2006/relationships/image" Target="../media/image-5-19.svg"/><Relationship Id="rId20" Type="http://schemas.openxmlformats.org/officeDocument/2006/relationships/image" Target="../media/image-5-20.png"/><Relationship Id="rId21" Type="http://schemas.openxmlformats.org/officeDocument/2006/relationships/image" Target="../media/image-5-21.svg"/><Relationship Id="rId22" Type="http://schemas.openxmlformats.org/officeDocument/2006/relationships/image" Target="../media/image-5-22.png"/><Relationship Id="rId23" Type="http://schemas.openxmlformats.org/officeDocument/2006/relationships/image" Target="../media/image-5-23.sv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image" Target="../media/image-6-14.png"/><Relationship Id="rId15" Type="http://schemas.openxmlformats.org/officeDocument/2006/relationships/image" Target="../media/image-6-15.svg"/><Relationship Id="rId16" Type="http://schemas.openxmlformats.org/officeDocument/2006/relationships/image" Target="../media/image-6-16.png"/><Relationship Id="rId17" Type="http://schemas.openxmlformats.org/officeDocument/2006/relationships/image" Target="../media/image-6-17.svg"/><Relationship Id="rId18" Type="http://schemas.openxmlformats.org/officeDocument/2006/relationships/image" Target="../media/image-6-18.png"/><Relationship Id="rId19" Type="http://schemas.openxmlformats.org/officeDocument/2006/relationships/image" Target="../media/image-6-19.sv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image" Target="../media/image-7-12.png"/><Relationship Id="rId13" Type="http://schemas.openxmlformats.org/officeDocument/2006/relationships/image" Target="../media/image-7-13.svg"/><Relationship Id="rId14" Type="http://schemas.openxmlformats.org/officeDocument/2006/relationships/image" Target="../media/image-7-14.png"/><Relationship Id="rId15" Type="http://schemas.openxmlformats.org/officeDocument/2006/relationships/image" Target="../media/image-7-15.svg"/><Relationship Id="rId16" Type="http://schemas.openxmlformats.org/officeDocument/2006/relationships/image" Target="../media/image-7-16.png"/><Relationship Id="rId17" Type="http://schemas.openxmlformats.org/officeDocument/2006/relationships/image" Target="../media/image-7-17.svg"/><Relationship Id="rId18" Type="http://schemas.openxmlformats.org/officeDocument/2006/relationships/image" Target="../media/image-7-18.png"/><Relationship Id="rId19" Type="http://schemas.openxmlformats.org/officeDocument/2006/relationships/image" Target="../media/image-7-19.sv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svg"/><Relationship Id="rId12" Type="http://schemas.openxmlformats.org/officeDocument/2006/relationships/image" Target="../media/image-8-12.png"/><Relationship Id="rId13" Type="http://schemas.openxmlformats.org/officeDocument/2006/relationships/image" Target="../media/image-8-13.svg"/><Relationship Id="rId14" Type="http://schemas.openxmlformats.org/officeDocument/2006/relationships/image" Target="../media/image-8-14.png"/><Relationship Id="rId15" Type="http://schemas.openxmlformats.org/officeDocument/2006/relationships/image" Target="../media/image-8-15.svg"/><Relationship Id="rId16" Type="http://schemas.openxmlformats.org/officeDocument/2006/relationships/image" Target="../media/image-8-16.png"/><Relationship Id="rId17" Type="http://schemas.openxmlformats.org/officeDocument/2006/relationships/image" Target="../media/image-8-17.svg"/><Relationship Id="rId18" Type="http://schemas.openxmlformats.org/officeDocument/2006/relationships/image" Target="../media/image-8-18.png"/><Relationship Id="rId19" Type="http://schemas.openxmlformats.org/officeDocument/2006/relationships/image" Target="../media/image-8-19.svg"/><Relationship Id="rId20" Type="http://schemas.openxmlformats.org/officeDocument/2006/relationships/image" Target="../media/image-8-20.png"/><Relationship Id="rId21" Type="http://schemas.openxmlformats.org/officeDocument/2006/relationships/image" Target="../media/image-8-21.svg"/><Relationship Id="rId22" Type="http://schemas.openxmlformats.org/officeDocument/2006/relationships/image" Target="../media/image-8-22.png"/><Relationship Id="rId23" Type="http://schemas.openxmlformats.org/officeDocument/2006/relationships/image" Target="../media/image-8-23.svg"/><Relationship Id="rId24" Type="http://schemas.openxmlformats.org/officeDocument/2006/relationships/image" Target="../media/image-8-24.png"/><Relationship Id="rId25" Type="http://schemas.openxmlformats.org/officeDocument/2006/relationships/image" Target="../media/image-8-25.svg"/><Relationship Id="rId26" Type="http://schemas.openxmlformats.org/officeDocument/2006/relationships/image" Target="../media/image-8-26.png"/><Relationship Id="rId27" Type="http://schemas.openxmlformats.org/officeDocument/2006/relationships/image" Target="../media/image-8-27.sv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svg"/><Relationship Id="rId12" Type="http://schemas.openxmlformats.org/officeDocument/2006/relationships/image" Target="../media/image-9-12.png"/><Relationship Id="rId13" Type="http://schemas.openxmlformats.org/officeDocument/2006/relationships/image" Target="../media/image-9-13.svg"/><Relationship Id="rId14" Type="http://schemas.openxmlformats.org/officeDocument/2006/relationships/image" Target="../media/image-9-14.png"/><Relationship Id="rId15" Type="http://schemas.openxmlformats.org/officeDocument/2006/relationships/image" Target="../media/image-9-15.svg"/><Relationship Id="rId16" Type="http://schemas.openxmlformats.org/officeDocument/2006/relationships/image" Target="../media/image-9-16.png"/><Relationship Id="rId17" Type="http://schemas.openxmlformats.org/officeDocument/2006/relationships/image" Target="../media/image-9-17.svg"/><Relationship Id="rId18" Type="http://schemas.openxmlformats.org/officeDocument/2006/relationships/image" Target="../media/image-9-18.png"/><Relationship Id="rId19" Type="http://schemas.openxmlformats.org/officeDocument/2006/relationships/image" Target="../media/image-9-19.svg"/><Relationship Id="rId20" Type="http://schemas.openxmlformats.org/officeDocument/2006/relationships/image" Target="../media/image-9-20.png"/><Relationship Id="rId21" Type="http://schemas.openxmlformats.org/officeDocument/2006/relationships/image" Target="../media/image-9-21.svg"/><Relationship Id="rId22" Type="http://schemas.openxmlformats.org/officeDocument/2006/relationships/image" Target="../media/image-9-22.png"/><Relationship Id="rId23" Type="http://schemas.openxmlformats.org/officeDocument/2006/relationships/image" Target="../media/image-9-23.svg"/><Relationship Id="rId24" Type="http://schemas.openxmlformats.org/officeDocument/2006/relationships/image" Target="../media/image-9-24.png"/><Relationship Id="rId25" Type="http://schemas.openxmlformats.org/officeDocument/2006/relationships/image" Target="../media/image-9-25.svg"/><Relationship Id="rId26" Type="http://schemas.openxmlformats.org/officeDocument/2006/relationships/image" Target="../media/image-9-26.png"/><Relationship Id="rId27" Type="http://schemas.openxmlformats.org/officeDocument/2006/relationships/image" Target="../media/image-9-27.svg"/><Relationship Id="rId28" Type="http://schemas.openxmlformats.org/officeDocument/2006/relationships/image" Target="../media/image-9-28.png"/><Relationship Id="rId29" Type="http://schemas.openxmlformats.org/officeDocument/2006/relationships/image" Target="../media/image-9-29.svg"/><Relationship Id="rId30" Type="http://schemas.openxmlformats.org/officeDocument/2006/relationships/image" Target="../media/image-9-30.png"/><Relationship Id="rId31" Type="http://schemas.openxmlformats.org/officeDocument/2006/relationships/image" Target="../media/image-9-31.svg"/><Relationship Id="rId32" Type="http://schemas.openxmlformats.org/officeDocument/2006/relationships/image" Target="../media/image-9-32.png"/><Relationship Id="rId33" Type="http://schemas.openxmlformats.org/officeDocument/2006/relationships/image" Target="../media/image-9-33.svg"/><Relationship Id="rId34" Type="http://schemas.openxmlformats.org/officeDocument/2006/relationships/image" Target="../media/image-9-34.png"/><Relationship Id="rId35" Type="http://schemas.openxmlformats.org/officeDocument/2006/relationships/image" Target="../media/image-9-35.sv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2/panthe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24248" y="438912"/>
            <a:ext cx="2743200" cy="256032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0" y="822960"/>
            <a:ext cx="12191695" cy="1005840"/>
          </a:xfrm>
          <a:prstGeom prst="rect">
            <a:avLst/>
          </a:prstGeom>
          <a:noFill/>
          <a:ln/>
          <a:effectLst>
            <a:outerShdw sx="100000" sy="100000" kx="0" ky="0" algn="bl" rotWithShape="0" blurRad="317500" dist="50800" dir="16200000">
              <a:srgbClr val="C8820A">
                <a:alpha val="6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spc="100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ANFÄNGE</a:t>
            </a:r>
            <a:endParaRPr lang="en-US" sz="6800" dirty="0"/>
          </a:p>
        </p:txBody>
      </p:sp>
      <p:sp>
        <p:nvSpPr>
          <p:cNvPr id="8" name="Text 1"/>
          <p:cNvSpPr/>
          <p:nvPr/>
        </p:nvSpPr>
        <p:spPr>
          <a:xfrm>
            <a:off x="0" y="1783080"/>
            <a:ext cx="12191695" cy="68580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spc="8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KIRCHE IN DER ANTIKE</a:t>
            </a:r>
            <a:endParaRPr lang="en-US" sz="2600" dirty="0"/>
          </a:p>
        </p:txBody>
      </p:sp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28754" y="2578608"/>
            <a:ext cx="8534187" cy="32004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1463003" y="2788920"/>
            <a:ext cx="92656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12 Fischer aus Galiläa in 300 Jahren die größte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 der Welt begründeten — und dabei das Römische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 überlebten.</a:t>
            </a:r>
            <a:endParaRPr lang="en-US" sz="1500" dirty="0"/>
          </a:p>
        </p:txBody>
      </p:sp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28754" y="3886200"/>
            <a:ext cx="8534187" cy="32004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1828754" y="4023360"/>
            <a:ext cx="2844729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C8820A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 n. Chr.</a:t>
            </a:r>
            <a:endParaRPr lang="en-US" sz="1800" dirty="0"/>
          </a:p>
        </p:txBody>
      </p:sp>
      <p:sp>
        <p:nvSpPr>
          <p:cNvPr id="13" name="Text 4"/>
          <p:cNvSpPr/>
          <p:nvPr/>
        </p:nvSpPr>
        <p:spPr>
          <a:xfrm>
            <a:off x="1828754" y="4434840"/>
            <a:ext cx="28447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 in Jerusalem</a:t>
            </a:r>
            <a:endParaRPr lang="en-US" sz="1100" dirty="0"/>
          </a:p>
        </p:txBody>
      </p:sp>
      <p:sp>
        <p:nvSpPr>
          <p:cNvPr id="14" name="Text 5"/>
          <p:cNvSpPr/>
          <p:nvPr/>
        </p:nvSpPr>
        <p:spPr>
          <a:xfrm>
            <a:off x="4673483" y="4023360"/>
            <a:ext cx="2844729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C8820A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313 n. Chr.</a:t>
            </a:r>
            <a:endParaRPr lang="en-US" sz="1800" dirty="0"/>
          </a:p>
        </p:txBody>
      </p:sp>
      <p:sp>
        <p:nvSpPr>
          <p:cNvPr id="15" name="Text 6"/>
          <p:cNvSpPr/>
          <p:nvPr/>
        </p:nvSpPr>
        <p:spPr>
          <a:xfrm>
            <a:off x="4673483" y="4434840"/>
            <a:ext cx="28447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Religionsfreiheit</a:t>
            </a:r>
            <a:endParaRPr lang="en-US" sz="1100" dirty="0"/>
          </a:p>
        </p:txBody>
      </p:sp>
      <p:sp>
        <p:nvSpPr>
          <p:cNvPr id="16" name="Text 7"/>
          <p:cNvSpPr/>
          <p:nvPr/>
        </p:nvSpPr>
        <p:spPr>
          <a:xfrm>
            <a:off x="7518212" y="4023360"/>
            <a:ext cx="2844729" cy="4114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C8820A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380 n. Chr.</a:t>
            </a:r>
            <a:endParaRPr lang="en-US" sz="1800" dirty="0"/>
          </a:p>
        </p:txBody>
      </p:sp>
      <p:sp>
        <p:nvSpPr>
          <p:cNvPr id="17" name="Text 8"/>
          <p:cNvSpPr/>
          <p:nvPr/>
        </p:nvSpPr>
        <p:spPr>
          <a:xfrm>
            <a:off x="7518212" y="4434840"/>
            <a:ext cx="28447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Staatsreligion</a:t>
            </a:r>
            <a:endParaRPr lang="en-US" sz="1100" dirty="0"/>
          </a:p>
        </p:txBody>
      </p:sp>
      <p:sp>
        <p:nvSpPr>
          <p:cNvPr id="18" name="Text 9"/>
          <p:cNvSpPr/>
          <p:nvPr/>
        </p:nvSpPr>
        <p:spPr>
          <a:xfrm>
            <a:off x="0" y="6492240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SCHULPRÄSENTATION — KLASSE 11/12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2/foru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4320" y="256032"/>
            <a:ext cx="1463040" cy="24688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92608" y="621792"/>
            <a:ext cx="5120512" cy="201168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800" b="1" spc="10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Welt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800" b="1" spc="10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 dem</a:t>
            </a:r>
            <a:endParaRPr lang="en-US" sz="3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800" b="1" spc="10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Christentum</a:t>
            </a:r>
            <a:endParaRPr lang="en-US" sz="3800" dirty="0"/>
          </a:p>
        </p:txBody>
      </p:sp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2608" y="2697480"/>
            <a:ext cx="4876678" cy="32004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92608" y="2852928"/>
            <a:ext cx="512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Bevor die Kirche entstand, lebten über 50 Millionen Menschen im Römischen Reich — in einer Welt mit tausenden Göttern, strikter Hierarchie und Staatsreligion.</a:t>
            </a:r>
            <a:endParaRPr lang="en-US" sz="1300" dirty="0"/>
          </a:p>
        </p:txBody>
      </p:sp>
      <p:sp>
        <p:nvSpPr>
          <p:cNvPr id="10" name="Shape 2"/>
          <p:cNvSpPr/>
          <p:nvPr/>
        </p:nvSpPr>
        <p:spPr>
          <a:xfrm>
            <a:off x="5730097" y="347472"/>
            <a:ext cx="6187278" cy="1847088"/>
          </a:xfrm>
          <a:prstGeom prst="rect">
            <a:avLst/>
          </a:prstGeom>
          <a:solidFill>
            <a:srgbClr val="0F0B07">
              <a:alpha val="88000"/>
            </a:srgbClr>
          </a:solidFill>
          <a:ln w="10160">
            <a:solidFill>
              <a:srgbClr val="C8820A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50800" dir="16200000">
              <a:srgbClr val="C8820A">
                <a:alpha val="18000"/>
              </a:srgbClr>
            </a:outerShdw>
          </a:effectLst>
        </p:spPr>
      </p:sp>
      <p:sp>
        <p:nvSpPr>
          <p:cNvPr id="11" name="Shape 3"/>
          <p:cNvSpPr/>
          <p:nvPr/>
        </p:nvSpPr>
        <p:spPr>
          <a:xfrm>
            <a:off x="5730097" y="347472"/>
            <a:ext cx="618727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867257" y="475488"/>
            <a:ext cx="502920" cy="228600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6461617" y="466344"/>
            <a:ext cx="53185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POLYTHEISMUS</a:t>
            </a:r>
            <a:endParaRPr lang="en-US" sz="1150" dirty="0"/>
          </a:p>
        </p:txBody>
      </p:sp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67257" y="804672"/>
            <a:ext cx="5912958" cy="22860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5867257" y="914400"/>
            <a:ext cx="591295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Götter. Für jeden Bach, jeden Beruf, jede Stadt einen eigenen. Religion war keine persönliche Überzeugung — sondern öffentliche Pflicht.</a:t>
            </a:r>
            <a:endParaRPr lang="en-US" sz="1200" dirty="0"/>
          </a:p>
        </p:txBody>
      </p:sp>
      <p:sp>
        <p:nvSpPr>
          <p:cNvPr id="16" name="Shape 6"/>
          <p:cNvSpPr/>
          <p:nvPr/>
        </p:nvSpPr>
        <p:spPr>
          <a:xfrm>
            <a:off x="5730097" y="2377440"/>
            <a:ext cx="6187278" cy="1847088"/>
          </a:xfrm>
          <a:prstGeom prst="rect">
            <a:avLst/>
          </a:prstGeom>
          <a:solidFill>
            <a:srgbClr val="0F0B07">
              <a:alpha val="88000"/>
            </a:srgbClr>
          </a:solidFill>
          <a:ln w="10160">
            <a:solidFill>
              <a:srgbClr val="C8820A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50800" dir="16200000">
              <a:srgbClr val="C8820A">
                <a:alpha val="18000"/>
              </a:srgbClr>
            </a:outerShdw>
          </a:effectLst>
        </p:spPr>
      </p:sp>
      <p:sp>
        <p:nvSpPr>
          <p:cNvPr id="17" name="Shape 7"/>
          <p:cNvSpPr/>
          <p:nvPr/>
        </p:nvSpPr>
        <p:spPr>
          <a:xfrm>
            <a:off x="5730097" y="2377440"/>
            <a:ext cx="618727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67257" y="2505456"/>
            <a:ext cx="502920" cy="22860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6461617" y="2496312"/>
            <a:ext cx="53185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KAISERKULT</a:t>
            </a:r>
            <a:endParaRPr lang="en-US" sz="1150" dirty="0"/>
          </a:p>
        </p:txBody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67257" y="2834640"/>
            <a:ext cx="5912958" cy="2286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5867257" y="2944368"/>
            <a:ext cx="591295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Kaiser anzubeten war keine Wahl. Er war Pontifex Maximus — oberster Priester. Religion und Staat waren untrennbar.</a:t>
            </a:r>
            <a:endParaRPr lang="en-US" sz="1200" dirty="0"/>
          </a:p>
        </p:txBody>
      </p:sp>
      <p:sp>
        <p:nvSpPr>
          <p:cNvPr id="22" name="Shape 10"/>
          <p:cNvSpPr/>
          <p:nvPr/>
        </p:nvSpPr>
        <p:spPr>
          <a:xfrm>
            <a:off x="5730097" y="4407408"/>
            <a:ext cx="6187278" cy="1847088"/>
          </a:xfrm>
          <a:prstGeom prst="rect">
            <a:avLst/>
          </a:prstGeom>
          <a:solidFill>
            <a:srgbClr val="0F0B07">
              <a:alpha val="88000"/>
            </a:srgbClr>
          </a:solidFill>
          <a:ln w="10160">
            <a:solidFill>
              <a:srgbClr val="C8820A">
                <a:alpha val="35000"/>
              </a:srgbClr>
            </a:solidFill>
            <a:prstDash val="solid"/>
          </a:ln>
          <a:effectLst>
            <a:outerShdw sx="100000" sy="100000" kx="0" ky="0" algn="bl" rotWithShape="0" blurRad="254000" dist="50800" dir="16200000">
              <a:srgbClr val="C8820A">
                <a:alpha val="18000"/>
              </a:srgbClr>
            </a:outerShdw>
          </a:effectLst>
        </p:spPr>
      </p:sp>
      <p:sp>
        <p:nvSpPr>
          <p:cNvPr id="23" name="Shape 11"/>
          <p:cNvSpPr/>
          <p:nvPr/>
        </p:nvSpPr>
        <p:spPr>
          <a:xfrm>
            <a:off x="5730097" y="4407408"/>
            <a:ext cx="618727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867257" y="4535424"/>
            <a:ext cx="502920" cy="228600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6461617" y="4526280"/>
            <a:ext cx="53185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MYSTERIENKULTE</a:t>
            </a:r>
            <a:endParaRPr lang="en-US" sz="1150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67257" y="4864608"/>
            <a:ext cx="5912958" cy="22860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5867257" y="4974336"/>
            <a:ext cx="591295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Geheimreligionen wie Mithras und Isis versprachen persönliche Erlösung — genau das, was der Staatskult nicht bot. Eine Sehnsucht wuchs.</a:t>
            </a:r>
            <a:endParaRPr lang="en-US" sz="1200" dirty="0"/>
          </a:p>
        </p:txBody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74320" y="6419088"/>
            <a:ext cx="11643055" cy="18288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"Glaube als persönliche Beziehung? Diese Idee gab es im Jahr 30 n. Chr. noch nicht."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2/parthen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24248" y="256032"/>
            <a:ext cx="2743200" cy="24688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0" y="621792"/>
            <a:ext cx="12191695" cy="132588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"Ohne Alexander den Großen</a:t>
            </a:r>
            <a:endParaRPr lang="en-US" sz="2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kein Paulus in Athen."</a:t>
            </a:r>
            <a:endParaRPr lang="en-US" sz="2600" dirty="0"/>
          </a:p>
        </p:txBody>
      </p:sp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94505" y="2029968"/>
            <a:ext cx="7802685" cy="32004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219170" y="2176272"/>
            <a:ext cx="97533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der Große (356–323 v. Chr.) eroberte die halbe Welt — und hinterließ etwas Wichtigeres als Territorien: eine gemeinsame Sprache und Kultur. Das Christentum nutzte beides.</a:t>
            </a:r>
            <a:endParaRPr lang="en-US" sz="1350" dirty="0"/>
          </a:p>
        </p:txBody>
      </p:sp>
      <p:sp>
        <p:nvSpPr>
          <p:cNvPr id="10" name="Shape 2"/>
          <p:cNvSpPr/>
          <p:nvPr/>
        </p:nvSpPr>
        <p:spPr>
          <a:xfrm>
            <a:off x="274320" y="3127248"/>
            <a:ext cx="2865044" cy="3218688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30000"/>
              </a:srgbClr>
            </a:solidFill>
            <a:prstDash val="solid"/>
          </a:ln>
        </p:spPr>
      </p:sp>
      <p:sp>
        <p:nvSpPr>
          <p:cNvPr id="11" name="Shape 3"/>
          <p:cNvSpPr/>
          <p:nvPr/>
        </p:nvSpPr>
        <p:spPr>
          <a:xfrm>
            <a:off x="274320" y="3127248"/>
            <a:ext cx="2865044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12" name="Shape 4"/>
          <p:cNvSpPr/>
          <p:nvPr/>
        </p:nvSpPr>
        <p:spPr>
          <a:xfrm>
            <a:off x="274320" y="3127248"/>
            <a:ext cx="2865044" cy="45720"/>
          </a:xfrm>
          <a:prstGeom prst="rect">
            <a:avLst/>
          </a:prstGeom>
          <a:solidFill>
            <a:srgbClr val="C8820A">
              <a:alpha val="70000"/>
            </a:srgbClr>
          </a:solidFill>
          <a:ln/>
        </p:spPr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14818" y="3236976"/>
            <a:ext cx="384048" cy="384048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347472" y="3712464"/>
            <a:ext cx="271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GRIECHISCHE SPRACHE</a:t>
            </a:r>
            <a:endParaRPr lang="en-US" sz="95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1480" y="4133088"/>
            <a:ext cx="2590724" cy="18288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365760" y="4242816"/>
            <a:ext cx="2682164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Koine-Griechisch war die Verkehrssprache des ganzen Ostens. Das Neue Testament wird auf Griechisch geschrieben — damit alle es lesen können.</a:t>
            </a:r>
            <a:endParaRPr lang="en-US" sz="1100" dirty="0"/>
          </a:p>
        </p:txBody>
      </p:sp>
      <p:sp>
        <p:nvSpPr>
          <p:cNvPr id="17" name="Shape 7"/>
          <p:cNvSpPr/>
          <p:nvPr/>
        </p:nvSpPr>
        <p:spPr>
          <a:xfrm>
            <a:off x="3200629" y="3127248"/>
            <a:ext cx="2865044" cy="3218688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30000"/>
              </a:srgbClr>
            </a:solidFill>
            <a:prstDash val="solid"/>
          </a:ln>
        </p:spPr>
      </p:sp>
      <p:sp>
        <p:nvSpPr>
          <p:cNvPr id="18" name="Shape 8"/>
          <p:cNvSpPr/>
          <p:nvPr/>
        </p:nvSpPr>
        <p:spPr>
          <a:xfrm>
            <a:off x="3200629" y="3127248"/>
            <a:ext cx="2865044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19" name="Shape 9"/>
          <p:cNvSpPr/>
          <p:nvPr/>
        </p:nvSpPr>
        <p:spPr>
          <a:xfrm>
            <a:off x="3200629" y="3127248"/>
            <a:ext cx="2865044" cy="45720"/>
          </a:xfrm>
          <a:prstGeom prst="rect">
            <a:avLst/>
          </a:prstGeom>
          <a:solidFill>
            <a:srgbClr val="C8820A">
              <a:alpha val="70000"/>
            </a:srgbClr>
          </a:solidFill>
          <a:ln/>
        </p:spPr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441127" y="3236976"/>
            <a:ext cx="384048" cy="38404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3273781" y="3712464"/>
            <a:ext cx="271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BIBEL AUF GRIECHISCH</a:t>
            </a:r>
            <a:endParaRPr lang="en-US" sz="95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337789" y="4133088"/>
            <a:ext cx="2590724" cy="1828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292069" y="4242816"/>
            <a:ext cx="2682164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Septuaginta (~250 v. Chr.): Jüdische Schriften werden ins Griechische übersetzt. Das Fundament für das NT existiert schon Jahrhunderte früher.</a:t>
            </a:r>
            <a:endParaRPr lang="en-US" sz="1100" dirty="0"/>
          </a:p>
        </p:txBody>
      </p:sp>
      <p:sp>
        <p:nvSpPr>
          <p:cNvPr id="24" name="Shape 12"/>
          <p:cNvSpPr/>
          <p:nvPr/>
        </p:nvSpPr>
        <p:spPr>
          <a:xfrm>
            <a:off x="6126937" y="3127248"/>
            <a:ext cx="2865044" cy="3218688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30000"/>
              </a:srgbClr>
            </a:solidFill>
            <a:prstDash val="solid"/>
          </a:ln>
        </p:spPr>
      </p:sp>
      <p:sp>
        <p:nvSpPr>
          <p:cNvPr id="25" name="Shape 13"/>
          <p:cNvSpPr/>
          <p:nvPr/>
        </p:nvSpPr>
        <p:spPr>
          <a:xfrm>
            <a:off x="6126937" y="3127248"/>
            <a:ext cx="2865044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26" name="Shape 14"/>
          <p:cNvSpPr/>
          <p:nvPr/>
        </p:nvSpPr>
        <p:spPr>
          <a:xfrm>
            <a:off x="6126937" y="3127248"/>
            <a:ext cx="2865044" cy="45720"/>
          </a:xfrm>
          <a:prstGeom prst="rect">
            <a:avLst/>
          </a:prstGeom>
          <a:solidFill>
            <a:srgbClr val="C8820A">
              <a:alpha val="70000"/>
            </a:srgbClr>
          </a:solidFill>
          <a:ln/>
        </p:spPr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367435" y="3236976"/>
            <a:ext cx="384048" cy="384048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6200089" y="3712464"/>
            <a:ext cx="271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PHILOSOPHIE &amp; LOGOS</a:t>
            </a:r>
            <a:endParaRPr lang="en-US" sz="95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264097" y="4133088"/>
            <a:ext cx="2590724" cy="18288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6218377" y="4242816"/>
            <a:ext cx="2682164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Platon und die Stoa sprechen vom "Logos" — dem göttlichen Vernunftprinzip. Johannes greift es auf: "Im Anfang war der Logos." (Joh 1,1)</a:t>
            </a:r>
            <a:endParaRPr lang="en-US" sz="1100" dirty="0"/>
          </a:p>
        </p:txBody>
      </p:sp>
      <p:sp>
        <p:nvSpPr>
          <p:cNvPr id="31" name="Shape 17"/>
          <p:cNvSpPr/>
          <p:nvPr/>
        </p:nvSpPr>
        <p:spPr>
          <a:xfrm>
            <a:off x="9053246" y="3127248"/>
            <a:ext cx="2865044" cy="3218688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30000"/>
              </a:srgbClr>
            </a:solidFill>
            <a:prstDash val="solid"/>
          </a:ln>
        </p:spPr>
      </p:sp>
      <p:sp>
        <p:nvSpPr>
          <p:cNvPr id="32" name="Shape 18"/>
          <p:cNvSpPr/>
          <p:nvPr/>
        </p:nvSpPr>
        <p:spPr>
          <a:xfrm>
            <a:off x="9053246" y="3127248"/>
            <a:ext cx="2865044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33" name="Shape 19"/>
          <p:cNvSpPr/>
          <p:nvPr/>
        </p:nvSpPr>
        <p:spPr>
          <a:xfrm>
            <a:off x="9053246" y="3127248"/>
            <a:ext cx="2865044" cy="45720"/>
          </a:xfrm>
          <a:prstGeom prst="rect">
            <a:avLst/>
          </a:prstGeom>
          <a:solidFill>
            <a:srgbClr val="C8820A">
              <a:alpha val="70000"/>
            </a:srgbClr>
          </a:solidFill>
          <a:ln/>
        </p:spPr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293744" y="3236976"/>
            <a:ext cx="384048" cy="384048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9126398" y="3712464"/>
            <a:ext cx="27187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STÄDTENETZ</a:t>
            </a:r>
            <a:endParaRPr lang="en-US" sz="95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190406" y="4133088"/>
            <a:ext cx="2590724" cy="18288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9144686" y="4242816"/>
            <a:ext cx="2682164" cy="1938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hinterlässt ein Netz aus Handelsstädten: Antiochia, Ephesus, Alexandria. Genau auf diesen Routen reist Paulus 300 Jahre später.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2/catacomb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4320" y="256032"/>
            <a:ext cx="1645920" cy="24688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92608" y="640080"/>
            <a:ext cx="5852014" cy="59436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 n. Chr.</a:t>
            </a:r>
            <a:endParaRPr lang="en-US" sz="1400" dirty="0"/>
          </a:p>
        </p:txBody>
      </p:sp>
      <p:sp>
        <p:nvSpPr>
          <p:cNvPr id="8" name="Text 1"/>
          <p:cNvSpPr/>
          <p:nvPr/>
        </p:nvSpPr>
        <p:spPr>
          <a:xfrm>
            <a:off x="292608" y="1170432"/>
            <a:ext cx="5852014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spc="5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Wanderprediger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000" b="1" spc="5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 Galiläa wird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000" b="1" spc="5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hingerichtet.</a:t>
            </a:r>
            <a:endParaRPr lang="en-US" sz="3000" dirty="0"/>
          </a:p>
        </p:txBody>
      </p:sp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2608" y="2670048"/>
            <a:ext cx="5486263" cy="32004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292608" y="2816352"/>
            <a:ext cx="56081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C4A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Tage später behaupten seine Anhänger: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C4A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ist zurück. Diese Behauptung verändert die Weltgeschichte.</a:t>
            </a:r>
            <a:endParaRPr lang="en-US" sz="1400" dirty="0"/>
          </a:p>
        </p:txBody>
      </p:sp>
      <p:sp>
        <p:nvSpPr>
          <p:cNvPr id="11" name="Shape 3"/>
          <p:cNvSpPr/>
          <p:nvPr/>
        </p:nvSpPr>
        <p:spPr>
          <a:xfrm>
            <a:off x="292608" y="3730752"/>
            <a:ext cx="5608180" cy="896112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40000"/>
              </a:srgbClr>
            </a:solidFill>
            <a:prstDash val="solid"/>
          </a:ln>
        </p:spPr>
      </p:sp>
      <p:sp>
        <p:nvSpPr>
          <p:cNvPr id="12" name="Shape 4"/>
          <p:cNvSpPr/>
          <p:nvPr/>
        </p:nvSpPr>
        <p:spPr>
          <a:xfrm>
            <a:off x="292608" y="3730752"/>
            <a:ext cx="5608180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13" name="Text 5"/>
          <p:cNvSpPr/>
          <p:nvPr/>
        </p:nvSpPr>
        <p:spPr>
          <a:xfrm>
            <a:off x="411480" y="3794760"/>
            <a:ext cx="512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WAR JESUS? — KURZ ERKLÄRT</a:t>
            </a:r>
            <a:endParaRPr lang="en-US" sz="1000" dirty="0"/>
          </a:p>
        </p:txBody>
      </p:sp>
      <p:sp>
        <p:nvSpPr>
          <p:cNvPr id="14" name="Text 6"/>
          <p:cNvSpPr/>
          <p:nvPr/>
        </p:nvSpPr>
        <p:spPr>
          <a:xfrm>
            <a:off x="411480" y="4078224"/>
            <a:ext cx="51205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Jüdischer Wanderprediger, ca. 4 v. Chr.–30 n. Chr., aus Nazareth (Galiläa). Predigte Nächstenliebe, Vergebung und die Nähe Gottes. Wurde als Staatsfeind unter Pontius Pilatus gekreuzigt.</a:t>
            </a:r>
            <a:endParaRPr lang="en-US" sz="1150" dirty="0"/>
          </a:p>
        </p:txBody>
      </p:sp>
      <p:sp>
        <p:nvSpPr>
          <p:cNvPr id="15" name="Text 7"/>
          <p:cNvSpPr/>
          <p:nvPr/>
        </p:nvSpPr>
        <p:spPr>
          <a:xfrm>
            <a:off x="6339682" y="256032"/>
            <a:ext cx="56081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3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ERSTEN SCHRITTE</a:t>
            </a:r>
            <a:endParaRPr lang="en-US" sz="11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31122" y="694944"/>
            <a:ext cx="402336" cy="402336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6632290" y="1097280"/>
            <a:ext cx="0" cy="658368"/>
          </a:xfrm>
          <a:prstGeom prst="line">
            <a:avLst/>
          </a:prstGeom>
          <a:noFill/>
          <a:ln w="12700">
            <a:solidFill>
              <a:srgbClr val="6B4A0F"/>
            </a:solidFill>
            <a:prstDash val="dash"/>
          </a:ln>
        </p:spPr>
      </p:sp>
      <p:sp>
        <p:nvSpPr>
          <p:cNvPr id="18" name="Text 9"/>
          <p:cNvSpPr/>
          <p:nvPr/>
        </p:nvSpPr>
        <p:spPr>
          <a:xfrm>
            <a:off x="6970618" y="6949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 n. Chr.</a:t>
            </a:r>
            <a:endParaRPr lang="en-US" sz="1200" dirty="0"/>
          </a:p>
        </p:txBody>
      </p:sp>
      <p:sp>
        <p:nvSpPr>
          <p:cNvPr id="19" name="Text 10"/>
          <p:cNvSpPr/>
          <p:nvPr/>
        </p:nvSpPr>
        <p:spPr>
          <a:xfrm>
            <a:off x="6970618" y="950976"/>
            <a:ext cx="512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Kreuzigung. Grab drei Tage später leer — laut Berichten der Jünger.</a:t>
            </a:r>
            <a:endParaRPr lang="en-US" sz="11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31122" y="1792224"/>
            <a:ext cx="402336" cy="402336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6632290" y="2194560"/>
            <a:ext cx="0" cy="658368"/>
          </a:xfrm>
          <a:prstGeom prst="line">
            <a:avLst/>
          </a:prstGeom>
          <a:noFill/>
          <a:ln w="12700">
            <a:solidFill>
              <a:srgbClr val="6B4A0F"/>
            </a:solidFill>
            <a:prstDash val="dash"/>
          </a:ln>
        </p:spPr>
      </p:sp>
      <p:sp>
        <p:nvSpPr>
          <p:cNvPr id="22" name="Text 12"/>
          <p:cNvSpPr/>
          <p:nvPr/>
        </p:nvSpPr>
        <p:spPr>
          <a:xfrm>
            <a:off x="6970618" y="17922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Pfingsten (30)</a:t>
            </a:r>
            <a:endParaRPr lang="en-US" sz="1200" dirty="0"/>
          </a:p>
        </p:txBody>
      </p:sp>
      <p:sp>
        <p:nvSpPr>
          <p:cNvPr id="23" name="Text 13"/>
          <p:cNvSpPr/>
          <p:nvPr/>
        </p:nvSpPr>
        <p:spPr>
          <a:xfrm>
            <a:off x="6970618" y="2048256"/>
            <a:ext cx="512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Ersterfahrung des Heiligen Geistes. ~120 Anhänger in Jerusalem.</a:t>
            </a:r>
            <a:endParaRPr lang="en-US" sz="11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31122" y="2889504"/>
            <a:ext cx="402336" cy="402336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6632290" y="3291840"/>
            <a:ext cx="0" cy="658368"/>
          </a:xfrm>
          <a:prstGeom prst="line">
            <a:avLst/>
          </a:prstGeom>
          <a:noFill/>
          <a:ln w="12700">
            <a:solidFill>
              <a:srgbClr val="6B4A0F"/>
            </a:solidFill>
            <a:prstDash val="dash"/>
          </a:ln>
        </p:spPr>
      </p:sp>
      <p:sp>
        <p:nvSpPr>
          <p:cNvPr id="26" name="Text 15"/>
          <p:cNvSpPr/>
          <p:nvPr/>
        </p:nvSpPr>
        <p:spPr>
          <a:xfrm>
            <a:off x="6970618" y="28895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30–50 n. Chr.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6970618" y="3145536"/>
            <a:ext cx="512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Gemeinden. Gütergemeinschaft. Sehen sich noch als Juden.</a:t>
            </a:r>
            <a:endParaRPr lang="en-US" sz="11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31122" y="3986784"/>
            <a:ext cx="402336" cy="402336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6632290" y="4389120"/>
            <a:ext cx="0" cy="658368"/>
          </a:xfrm>
          <a:prstGeom prst="line">
            <a:avLst/>
          </a:prstGeom>
          <a:noFill/>
          <a:ln w="12700">
            <a:solidFill>
              <a:srgbClr val="6B4A0F"/>
            </a:solidFill>
            <a:prstDash val="dash"/>
          </a:ln>
        </p:spPr>
      </p:sp>
      <p:sp>
        <p:nvSpPr>
          <p:cNvPr id="30" name="Text 18"/>
          <p:cNvSpPr/>
          <p:nvPr/>
        </p:nvSpPr>
        <p:spPr>
          <a:xfrm>
            <a:off x="6970618" y="39867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 n. Chr.</a:t>
            </a:r>
            <a:endParaRPr lang="en-US" sz="1200" dirty="0"/>
          </a:p>
        </p:txBody>
      </p:sp>
      <p:sp>
        <p:nvSpPr>
          <p:cNvPr id="31" name="Text 19"/>
          <p:cNvSpPr/>
          <p:nvPr/>
        </p:nvSpPr>
        <p:spPr>
          <a:xfrm>
            <a:off x="6970618" y="4242816"/>
            <a:ext cx="512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Paulus beginnt zu schreiben. Älteste NT-Texte entstehen.</a:t>
            </a:r>
            <a:endParaRPr lang="en-US" sz="115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31122" y="5084064"/>
            <a:ext cx="402336" cy="402336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970618" y="508406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~70 n. Chr.</a:t>
            </a:r>
            <a:endParaRPr lang="en-US" sz="1200" dirty="0"/>
          </a:p>
        </p:txBody>
      </p:sp>
      <p:sp>
        <p:nvSpPr>
          <p:cNvPr id="34" name="Text 21"/>
          <p:cNvSpPr/>
          <p:nvPr/>
        </p:nvSpPr>
        <p:spPr>
          <a:xfrm>
            <a:off x="6970618" y="5340096"/>
            <a:ext cx="5120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Zerstörung des Tempels in Jerusalem. Christentum trennt sich vom Judentum.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2/ost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4320" y="256032"/>
            <a:ext cx="1463040" cy="24688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92608" y="621792"/>
            <a:ext cx="5364346" cy="219456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"Der Mann, der</a:t>
            </a:r>
            <a:endParaRPr lang="en-US" sz="2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Christen jagte,</a:t>
            </a:r>
            <a:endParaRPr lang="en-US" sz="2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wurde ihr wichtigster</a:t>
            </a:r>
            <a:endParaRPr lang="en-US" sz="2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Missionar."</a:t>
            </a:r>
            <a:endParaRPr lang="en-US" sz="2400" dirty="0"/>
          </a:p>
        </p:txBody>
      </p:sp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2608" y="2926080"/>
            <a:ext cx="5120512" cy="32004"/>
          </a:xfrm>
          <a:prstGeom prst="rect">
            <a:avLst/>
          </a:prstGeom>
        </p:spPr>
      </p:pic>
      <p:sp>
        <p:nvSpPr>
          <p:cNvPr id="10" name="Shape 1"/>
          <p:cNvSpPr/>
          <p:nvPr/>
        </p:nvSpPr>
        <p:spPr>
          <a:xfrm>
            <a:off x="292608" y="3090672"/>
            <a:ext cx="5364346" cy="1024128"/>
          </a:xfrm>
          <a:prstGeom prst="rect">
            <a:avLst/>
          </a:prstGeom>
          <a:solidFill>
            <a:srgbClr val="0F0B07">
              <a:alpha val="88000"/>
            </a:srgbClr>
          </a:solidFill>
          <a:ln w="10160">
            <a:solidFill>
              <a:srgbClr val="C8820A">
                <a:alpha val="40000"/>
              </a:srgbClr>
            </a:solidFill>
            <a:prstDash val="solid"/>
          </a:ln>
        </p:spPr>
      </p:sp>
      <p:sp>
        <p:nvSpPr>
          <p:cNvPr id="11" name="Shape 2"/>
          <p:cNvSpPr/>
          <p:nvPr/>
        </p:nvSpPr>
        <p:spPr>
          <a:xfrm>
            <a:off x="292608" y="3090672"/>
            <a:ext cx="5364346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12" name="Text 3"/>
          <p:cNvSpPr/>
          <p:nvPr/>
        </p:nvSpPr>
        <p:spPr>
          <a:xfrm>
            <a:off x="411480" y="3154680"/>
            <a:ext cx="48766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WAR PAULUS? — KURZ ERKLÄRT</a:t>
            </a:r>
            <a:endParaRPr lang="en-US" sz="1000" dirty="0"/>
          </a:p>
        </p:txBody>
      </p:sp>
      <p:sp>
        <p:nvSpPr>
          <p:cNvPr id="13" name="Text 4"/>
          <p:cNvSpPr/>
          <p:nvPr/>
        </p:nvSpPr>
        <p:spPr>
          <a:xfrm>
            <a:off x="411480" y="3438144"/>
            <a:ext cx="512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Saulus von Tarsus (ca. 5–67 n. Chr.), gebildeter Jude und römischer Bürger. Verfolgte zunächst Christen — bis er auf dem Weg nach Damaskus eine Vision hatte (ca. 35 n. Chr.). Schrieb danach 13 der 27 NT-Bücher und bereiste das halbe Mittelmeer.</a:t>
            </a:r>
            <a:endParaRPr lang="en-US" sz="1150" dirty="0"/>
          </a:p>
        </p:txBody>
      </p:sp>
      <p:sp>
        <p:nvSpPr>
          <p:cNvPr id="14" name="Text 5"/>
          <p:cNvSpPr/>
          <p:nvPr/>
        </p:nvSpPr>
        <p:spPr>
          <a:xfrm>
            <a:off x="292608" y="4206240"/>
            <a:ext cx="53643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Missionsreisen · 13 NT-Briefe · Nie Jesus persönlich getroffen</a:t>
            </a:r>
            <a:endParaRPr lang="en-US" sz="1200" dirty="0"/>
          </a:p>
        </p:txBody>
      </p:sp>
      <p:sp>
        <p:nvSpPr>
          <p:cNvPr id="15" name="Text 6"/>
          <p:cNvSpPr/>
          <p:nvPr/>
        </p:nvSpPr>
        <p:spPr>
          <a:xfrm>
            <a:off x="6095848" y="256032"/>
            <a:ext cx="585201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3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SEINE STATIONEN</a:t>
            </a:r>
            <a:endParaRPr lang="en-US" sz="11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69000" y="713232"/>
            <a:ext cx="329184" cy="329184"/>
          </a:xfrm>
          <a:prstGeom prst="rect">
            <a:avLst/>
          </a:prstGeom>
        </p:spPr>
      </p:pic>
      <p:sp>
        <p:nvSpPr>
          <p:cNvPr id="17" name="Shape 7"/>
          <p:cNvSpPr/>
          <p:nvPr/>
        </p:nvSpPr>
        <p:spPr>
          <a:xfrm>
            <a:off x="6333592" y="1042416"/>
            <a:ext cx="0" cy="749808"/>
          </a:xfrm>
          <a:prstGeom prst="line">
            <a:avLst/>
          </a:prstGeom>
          <a:noFill/>
          <a:ln w="12700">
            <a:solidFill>
              <a:srgbClr val="6B4A0F"/>
            </a:solidFill>
            <a:prstDash val="dash"/>
          </a:ln>
        </p:spPr>
      </p:sp>
      <p:sp>
        <p:nvSpPr>
          <p:cNvPr id="18" name="Text 8"/>
          <p:cNvSpPr/>
          <p:nvPr/>
        </p:nvSpPr>
        <p:spPr>
          <a:xfrm>
            <a:off x="6598768" y="6949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ANTIOCHIA</a:t>
            </a:r>
            <a:endParaRPr lang="en-US" sz="1300" dirty="0"/>
          </a:p>
        </p:txBody>
      </p:sp>
      <p:sp>
        <p:nvSpPr>
          <p:cNvPr id="19" name="Text 9"/>
          <p:cNvSpPr/>
          <p:nvPr/>
        </p:nvSpPr>
        <p:spPr>
          <a:xfrm>
            <a:off x="6598768" y="978408"/>
            <a:ext cx="5501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werden Anhänger Jesu zum ersten Mal "Christen" genannt (~45 n. Chr.)</a:t>
            </a:r>
            <a:endParaRPr lang="en-US" sz="115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169000" y="1828800"/>
            <a:ext cx="329184" cy="329184"/>
          </a:xfrm>
          <a:prstGeom prst="rect">
            <a:avLst/>
          </a:prstGeom>
        </p:spPr>
      </p:pic>
      <p:sp>
        <p:nvSpPr>
          <p:cNvPr id="21" name="Shape 10"/>
          <p:cNvSpPr/>
          <p:nvPr/>
        </p:nvSpPr>
        <p:spPr>
          <a:xfrm>
            <a:off x="6333592" y="2157984"/>
            <a:ext cx="0" cy="749808"/>
          </a:xfrm>
          <a:prstGeom prst="line">
            <a:avLst/>
          </a:prstGeom>
          <a:noFill/>
          <a:ln w="12700">
            <a:solidFill>
              <a:srgbClr val="6B4A0F"/>
            </a:solidFill>
            <a:prstDash val="dash"/>
          </a:ln>
        </p:spPr>
      </p:sp>
      <p:sp>
        <p:nvSpPr>
          <p:cNvPr id="22" name="Text 11"/>
          <p:cNvSpPr/>
          <p:nvPr/>
        </p:nvSpPr>
        <p:spPr>
          <a:xfrm>
            <a:off x="6598768" y="18105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KORINTH</a:t>
            </a:r>
            <a:endParaRPr lang="en-US" sz="1300" dirty="0"/>
          </a:p>
        </p:txBody>
      </p:sp>
      <p:sp>
        <p:nvSpPr>
          <p:cNvPr id="23" name="Text 12"/>
          <p:cNvSpPr/>
          <p:nvPr/>
        </p:nvSpPr>
        <p:spPr>
          <a:xfrm>
            <a:off x="6598768" y="2093976"/>
            <a:ext cx="5501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Monate. Wichtigste Handelsstadt des Ostens. Wichtige Gemeinde entsteht.</a:t>
            </a:r>
            <a:endParaRPr lang="en-US" sz="11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169000" y="2944368"/>
            <a:ext cx="329184" cy="329184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6333592" y="3273552"/>
            <a:ext cx="0" cy="749808"/>
          </a:xfrm>
          <a:prstGeom prst="line">
            <a:avLst/>
          </a:prstGeom>
          <a:noFill/>
          <a:ln w="12700">
            <a:solidFill>
              <a:srgbClr val="6B4A0F"/>
            </a:solidFill>
            <a:prstDash val="dash"/>
          </a:ln>
        </p:spPr>
      </p:sp>
      <p:sp>
        <p:nvSpPr>
          <p:cNvPr id="26" name="Text 14"/>
          <p:cNvSpPr/>
          <p:nvPr/>
        </p:nvSpPr>
        <p:spPr>
          <a:xfrm>
            <a:off x="6598768" y="292608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ATHEN</a:t>
            </a:r>
            <a:endParaRPr lang="en-US" sz="1300" dirty="0"/>
          </a:p>
        </p:txBody>
      </p:sp>
      <p:sp>
        <p:nvSpPr>
          <p:cNvPr id="27" name="Text 15"/>
          <p:cNvSpPr/>
          <p:nvPr/>
        </p:nvSpPr>
        <p:spPr>
          <a:xfrm>
            <a:off x="6598768" y="3209544"/>
            <a:ext cx="5501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Areopag-Rede: Er zitiert griechische Dichter und trifft Philosophen auf ihrem Boden.</a:t>
            </a:r>
            <a:endParaRPr lang="en-US" sz="115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69000" y="4059936"/>
            <a:ext cx="329184" cy="329184"/>
          </a:xfrm>
          <a:prstGeom prst="rect">
            <a:avLst/>
          </a:prstGeom>
        </p:spPr>
      </p:pic>
      <p:sp>
        <p:nvSpPr>
          <p:cNvPr id="29" name="Shape 16"/>
          <p:cNvSpPr/>
          <p:nvPr/>
        </p:nvSpPr>
        <p:spPr>
          <a:xfrm>
            <a:off x="6333592" y="4389120"/>
            <a:ext cx="0" cy="749808"/>
          </a:xfrm>
          <a:prstGeom prst="line">
            <a:avLst/>
          </a:prstGeom>
          <a:noFill/>
          <a:ln w="12700">
            <a:solidFill>
              <a:srgbClr val="6B4A0F"/>
            </a:solidFill>
            <a:prstDash val="dash"/>
          </a:ln>
        </p:spPr>
      </p:sp>
      <p:sp>
        <p:nvSpPr>
          <p:cNvPr id="30" name="Text 17"/>
          <p:cNvSpPr/>
          <p:nvPr/>
        </p:nvSpPr>
        <p:spPr>
          <a:xfrm>
            <a:off x="6598768" y="40416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EPHESUS</a:t>
            </a:r>
            <a:endParaRPr lang="en-US" sz="1300" dirty="0"/>
          </a:p>
        </p:txBody>
      </p:sp>
      <p:sp>
        <p:nvSpPr>
          <p:cNvPr id="31" name="Text 18"/>
          <p:cNvSpPr/>
          <p:nvPr/>
        </p:nvSpPr>
        <p:spPr>
          <a:xfrm>
            <a:off x="6598768" y="4325112"/>
            <a:ext cx="5501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Jahre. Missioniert gegen den Artemis-Kult. Beinahe-Aufstand der Silberschmiede.</a:t>
            </a:r>
            <a:endParaRPr lang="en-US" sz="115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169000" y="5175504"/>
            <a:ext cx="329184" cy="329184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598768" y="51572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</a:t>
            </a:r>
            <a:endParaRPr lang="en-US" sz="1300" dirty="0"/>
          </a:p>
        </p:txBody>
      </p:sp>
      <p:sp>
        <p:nvSpPr>
          <p:cNvPr id="34" name="Text 20"/>
          <p:cNvSpPr/>
          <p:nvPr/>
        </p:nvSpPr>
        <p:spPr>
          <a:xfrm>
            <a:off x="6598768" y="5440680"/>
            <a:ext cx="550148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Stirbt dort ~67 n. Chr. unter Kaiser Nero. Heute steht dort sein Grab.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2/colosseu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98568" y="256032"/>
            <a:ext cx="2194560" cy="24688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0" y="621792"/>
            <a:ext cx="12191695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"Wie tötet man eine Religion?</a:t>
            </a:r>
            <a:endParaRPr lang="en-US" sz="2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8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Antwort: Man kann nicht."</a:t>
            </a:r>
            <a:endParaRPr lang="en-US" sz="2800" dirty="0"/>
          </a:p>
        </p:txBody>
      </p:sp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63003" y="1920240"/>
            <a:ext cx="9265688" cy="32004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975336" y="2057400"/>
            <a:ext cx="102410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Christen weigerten sich, den Kaiser zu verehren. Das war politische Subversion.</a:t>
            </a:r>
            <a:endParaRPr lang="en-US" sz="13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Mal versuchte Rom, sie zu vernichten. Drei Mal scheiterte es.</a:t>
            </a:r>
            <a:endParaRPr lang="en-US" sz="1350" dirty="0"/>
          </a:p>
        </p:txBody>
      </p:sp>
      <p:sp>
        <p:nvSpPr>
          <p:cNvPr id="11" name="Shape 2"/>
          <p:cNvSpPr/>
          <p:nvPr/>
        </p:nvSpPr>
        <p:spPr>
          <a:xfrm>
            <a:off x="274320" y="2852928"/>
            <a:ext cx="3789578" cy="3401568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0" dist="50800" dir="16200000">
              <a:srgbClr val="C8820A">
                <a:alpha val="18000"/>
              </a:srgbClr>
            </a:outerShdw>
          </a:effectLst>
        </p:spPr>
      </p:sp>
      <p:sp>
        <p:nvSpPr>
          <p:cNvPr id="12" name="Shape 3"/>
          <p:cNvSpPr/>
          <p:nvPr/>
        </p:nvSpPr>
        <p:spPr>
          <a:xfrm>
            <a:off x="274320" y="2852928"/>
            <a:ext cx="378957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13" name="Shape 4"/>
          <p:cNvSpPr/>
          <p:nvPr/>
        </p:nvSpPr>
        <p:spPr>
          <a:xfrm>
            <a:off x="274320" y="2852928"/>
            <a:ext cx="3789578" cy="54864"/>
          </a:xfrm>
          <a:prstGeom prst="rect">
            <a:avLst/>
          </a:prstGeom>
          <a:solidFill>
            <a:srgbClr val="A0421A">
              <a:alpha val="80000"/>
            </a:srgbClr>
          </a:solidFill>
          <a:ln/>
        </p:spPr>
      </p:sp>
      <p:sp>
        <p:nvSpPr>
          <p:cNvPr id="14" name="Text 5"/>
          <p:cNvSpPr/>
          <p:nvPr/>
        </p:nvSpPr>
        <p:spPr>
          <a:xfrm>
            <a:off x="411480" y="2980944"/>
            <a:ext cx="3515258" cy="384048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 n. Chr.</a:t>
            </a:r>
            <a:endParaRPr lang="en-US" sz="2000" dirty="0"/>
          </a:p>
        </p:txBody>
      </p:sp>
      <p:sp>
        <p:nvSpPr>
          <p:cNvPr id="15" name="Text 6"/>
          <p:cNvSpPr/>
          <p:nvPr/>
        </p:nvSpPr>
        <p:spPr>
          <a:xfrm>
            <a:off x="411480" y="3364992"/>
            <a:ext cx="3515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NERO</a:t>
            </a:r>
            <a:endParaRPr lang="en-US" sz="1400" dirty="0"/>
          </a:p>
        </p:txBody>
      </p:sp>
      <p:sp>
        <p:nvSpPr>
          <p:cNvPr id="16" name="Text 7"/>
          <p:cNvSpPr/>
          <p:nvPr/>
        </p:nvSpPr>
        <p:spPr>
          <a:xfrm>
            <a:off x="411480" y="3657600"/>
            <a:ext cx="351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erste Angriff</a:t>
            </a:r>
            <a:endParaRPr lang="en-US" sz="11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1480" y="3968496"/>
            <a:ext cx="3515258" cy="18288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11480" y="4087368"/>
            <a:ext cx="351525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dem Brand Roms macht Nero die Christen zum Sündenbock. Petrus und Paulus sterben. Erstmals werden Christen im Kolosseum hingerichtet.</a:t>
            </a:r>
            <a:endParaRPr lang="en-US" sz="1200" dirty="0"/>
          </a:p>
        </p:txBody>
      </p:sp>
      <p:sp>
        <p:nvSpPr>
          <p:cNvPr id="19" name="Shape 9"/>
          <p:cNvSpPr/>
          <p:nvPr/>
        </p:nvSpPr>
        <p:spPr>
          <a:xfrm>
            <a:off x="4201058" y="2852928"/>
            <a:ext cx="3789578" cy="3401568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0" dist="50800" dir="16200000">
              <a:srgbClr val="C8820A">
                <a:alpha val="18000"/>
              </a:srgbClr>
            </a:outerShdw>
          </a:effectLst>
        </p:spPr>
      </p:sp>
      <p:sp>
        <p:nvSpPr>
          <p:cNvPr id="20" name="Shape 10"/>
          <p:cNvSpPr/>
          <p:nvPr/>
        </p:nvSpPr>
        <p:spPr>
          <a:xfrm>
            <a:off x="4201058" y="2852928"/>
            <a:ext cx="378957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21" name="Shape 11"/>
          <p:cNvSpPr/>
          <p:nvPr/>
        </p:nvSpPr>
        <p:spPr>
          <a:xfrm>
            <a:off x="4201058" y="2852928"/>
            <a:ext cx="3789578" cy="54864"/>
          </a:xfrm>
          <a:prstGeom prst="rect">
            <a:avLst/>
          </a:prstGeom>
          <a:solidFill>
            <a:srgbClr val="A0421A">
              <a:alpha val="80000"/>
            </a:srgbClr>
          </a:solidFill>
          <a:ln/>
        </p:spPr>
      </p:sp>
      <p:sp>
        <p:nvSpPr>
          <p:cNvPr id="22" name="Text 12"/>
          <p:cNvSpPr/>
          <p:nvPr/>
        </p:nvSpPr>
        <p:spPr>
          <a:xfrm>
            <a:off x="4338218" y="2980944"/>
            <a:ext cx="3515258" cy="384048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 n. Chr.</a:t>
            </a:r>
            <a:endParaRPr lang="en-US" sz="2000" dirty="0"/>
          </a:p>
        </p:txBody>
      </p:sp>
      <p:sp>
        <p:nvSpPr>
          <p:cNvPr id="23" name="Text 13"/>
          <p:cNvSpPr/>
          <p:nvPr/>
        </p:nvSpPr>
        <p:spPr>
          <a:xfrm>
            <a:off x="4338218" y="3364992"/>
            <a:ext cx="3515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DECIUS</a:t>
            </a:r>
            <a:endParaRPr lang="en-US" sz="1400" dirty="0"/>
          </a:p>
        </p:txBody>
      </p:sp>
      <p:sp>
        <p:nvSpPr>
          <p:cNvPr id="24" name="Text 14"/>
          <p:cNvSpPr/>
          <p:nvPr/>
        </p:nvSpPr>
        <p:spPr>
          <a:xfrm>
            <a:off x="4338218" y="3657600"/>
            <a:ext cx="351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erste Reichsverfolgung</a:t>
            </a:r>
            <a:endParaRPr lang="en-US" sz="11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38218" y="3968496"/>
            <a:ext cx="3515258" cy="18288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4338218" y="4087368"/>
            <a:ext cx="351525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Bürger muss dem Kaiser opfern und einen Zettel als Beweis vorweisen. Wer sich weigert, stirbt. Erste staatsorganisierte Christenverfolgung im gesamten Reich.</a:t>
            </a:r>
            <a:endParaRPr lang="en-US" sz="1200" dirty="0"/>
          </a:p>
        </p:txBody>
      </p:sp>
      <p:sp>
        <p:nvSpPr>
          <p:cNvPr id="27" name="Shape 16"/>
          <p:cNvSpPr/>
          <p:nvPr/>
        </p:nvSpPr>
        <p:spPr>
          <a:xfrm>
            <a:off x="8127797" y="2852928"/>
            <a:ext cx="3789578" cy="3401568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45000"/>
              </a:srgbClr>
            </a:solidFill>
            <a:prstDash val="solid"/>
          </a:ln>
          <a:effectLst>
            <a:outerShdw sx="100000" sy="100000" kx="0" ky="0" algn="bl" rotWithShape="0" blurRad="254000" dist="50800" dir="16200000">
              <a:srgbClr val="C8820A">
                <a:alpha val="18000"/>
              </a:srgbClr>
            </a:outerShdw>
          </a:effectLst>
        </p:spPr>
      </p:sp>
      <p:sp>
        <p:nvSpPr>
          <p:cNvPr id="28" name="Shape 17"/>
          <p:cNvSpPr/>
          <p:nvPr/>
        </p:nvSpPr>
        <p:spPr>
          <a:xfrm>
            <a:off x="8127797" y="2852928"/>
            <a:ext cx="378957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29" name="Shape 18"/>
          <p:cNvSpPr/>
          <p:nvPr/>
        </p:nvSpPr>
        <p:spPr>
          <a:xfrm>
            <a:off x="8127797" y="2852928"/>
            <a:ext cx="3789578" cy="54864"/>
          </a:xfrm>
          <a:prstGeom prst="rect">
            <a:avLst/>
          </a:prstGeom>
          <a:solidFill>
            <a:srgbClr val="A0421A">
              <a:alpha val="80000"/>
            </a:srgbClr>
          </a:solidFill>
          <a:ln/>
        </p:spPr>
      </p:sp>
      <p:sp>
        <p:nvSpPr>
          <p:cNvPr id="30" name="Text 19"/>
          <p:cNvSpPr/>
          <p:nvPr/>
        </p:nvSpPr>
        <p:spPr>
          <a:xfrm>
            <a:off x="8264957" y="2980944"/>
            <a:ext cx="3515258" cy="384048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303 n. Chr.</a:t>
            </a:r>
            <a:endParaRPr lang="en-US" sz="2000" dirty="0"/>
          </a:p>
        </p:txBody>
      </p:sp>
      <p:sp>
        <p:nvSpPr>
          <p:cNvPr id="31" name="Text 20"/>
          <p:cNvSpPr/>
          <p:nvPr/>
        </p:nvSpPr>
        <p:spPr>
          <a:xfrm>
            <a:off x="8264957" y="3364992"/>
            <a:ext cx="35152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DIOKLETIAN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8264957" y="3657600"/>
            <a:ext cx="35152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schwerste Welle</a:t>
            </a:r>
            <a:endParaRPr lang="en-US" sz="11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64957" y="3968496"/>
            <a:ext cx="3515258" cy="1828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8264957" y="4087368"/>
            <a:ext cx="351525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Kirchen werden zerstört, Schriften verbrannt, tausende getötet. Die härteste Verfolgung — ausgelöst kurz bevor Konstantin alles ändern wird.</a:t>
            </a:r>
            <a:endParaRPr lang="en-US" sz="1200" dirty="0"/>
          </a:p>
        </p:txBody>
      </p:sp>
      <p:sp>
        <p:nvSpPr>
          <p:cNvPr id="35" name="Text 23"/>
          <p:cNvSpPr/>
          <p:nvPr/>
        </p:nvSpPr>
        <p:spPr>
          <a:xfrm>
            <a:off x="0" y="6510528"/>
            <a:ext cx="12191695" cy="2743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C8820A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"Das Blut der Märtyrer ist Same der Kirche." — Tertullian, ~200 n. Chr.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2/constantine_arc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4320" y="256032"/>
            <a:ext cx="1645920" cy="24688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92608" y="621792"/>
            <a:ext cx="5364346" cy="164592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spc="5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312 n. Chr.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000" b="1" spc="5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Kaiser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000" b="1" spc="50" kern="0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hat einen Traum.</a:t>
            </a:r>
            <a:endParaRPr lang="en-US" sz="3000" dirty="0"/>
          </a:p>
        </p:txBody>
      </p:sp>
      <p:sp>
        <p:nvSpPr>
          <p:cNvPr id="9" name="Text 1"/>
          <p:cNvSpPr/>
          <p:nvPr/>
        </p:nvSpPr>
        <p:spPr>
          <a:xfrm>
            <a:off x="292608" y="2331720"/>
            <a:ext cx="536434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 350 Jahre Christenverfolgung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enden innerhalb weniger Monate.</a:t>
            </a:r>
            <a:endParaRPr lang="en-US" sz="1500" dirty="0"/>
          </a:p>
        </p:txBody>
      </p:sp>
      <p:sp>
        <p:nvSpPr>
          <p:cNvPr id="10" name="Shape 2"/>
          <p:cNvSpPr/>
          <p:nvPr/>
        </p:nvSpPr>
        <p:spPr>
          <a:xfrm>
            <a:off x="292608" y="3154680"/>
            <a:ext cx="5364346" cy="1207008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C8820A">
                <a:alpha val="40000"/>
              </a:srgbClr>
            </a:solidFill>
            <a:prstDash val="solid"/>
          </a:ln>
        </p:spPr>
      </p:sp>
      <p:sp>
        <p:nvSpPr>
          <p:cNvPr id="11" name="Shape 3"/>
          <p:cNvSpPr/>
          <p:nvPr/>
        </p:nvSpPr>
        <p:spPr>
          <a:xfrm>
            <a:off x="292608" y="3154680"/>
            <a:ext cx="5364346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12" name="Text 4"/>
          <p:cNvSpPr/>
          <p:nvPr/>
        </p:nvSpPr>
        <p:spPr>
          <a:xfrm>
            <a:off x="411480" y="3218688"/>
            <a:ext cx="487667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8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GENAU PASSIERTE?</a:t>
            </a:r>
            <a:endParaRPr lang="en-US" sz="1000" dirty="0"/>
          </a:p>
        </p:txBody>
      </p:sp>
      <p:sp>
        <p:nvSpPr>
          <p:cNvPr id="13" name="Text 5"/>
          <p:cNvSpPr/>
          <p:nvPr/>
        </p:nvSpPr>
        <p:spPr>
          <a:xfrm>
            <a:off x="411480" y="3502152"/>
            <a:ext cx="51205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der Schlacht an der Milvischen Brücke (312) sah Konstantin ein Kreuz-Symbol am Himmel mit der Botschaft "In diesem Zeichen wirst du siegen." Er ließ das Chi-Rho-Symbol (☧) auf seine Schilder malen — und gewann. Ob Vision oder politisches Kalkül: Die Folgen waren real.</a:t>
            </a:r>
            <a:endParaRPr lang="en-US" sz="1150" dirty="0"/>
          </a:p>
        </p:txBody>
      </p:sp>
      <p:sp>
        <p:nvSpPr>
          <p:cNvPr id="14" name="Text 6"/>
          <p:cNvSpPr/>
          <p:nvPr/>
        </p:nvSpPr>
        <p:spPr>
          <a:xfrm>
            <a:off x="6339682" y="256032"/>
            <a:ext cx="56081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spc="3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DREI MEILENSTEINE</a:t>
            </a:r>
            <a:endParaRPr lang="en-US" sz="1100" dirty="0"/>
          </a:p>
        </p:txBody>
      </p:sp>
      <p:sp>
        <p:nvSpPr>
          <p:cNvPr id="15" name="Shape 7"/>
          <p:cNvSpPr/>
          <p:nvPr/>
        </p:nvSpPr>
        <p:spPr>
          <a:xfrm>
            <a:off x="6339682" y="621792"/>
            <a:ext cx="5577694" cy="1755648"/>
          </a:xfrm>
          <a:prstGeom prst="rect">
            <a:avLst/>
          </a:prstGeom>
          <a:solidFill>
            <a:srgbClr val="0F0B07">
              <a:alpha val="92000"/>
            </a:srgbClr>
          </a:solidFill>
          <a:ln w="10160">
            <a:solidFill>
              <a:srgbClr val="C8820A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50800" dir="16200000">
              <a:srgbClr val="C8820A">
                <a:alpha val="18000"/>
              </a:srgbClr>
            </a:outerShdw>
          </a:effectLst>
        </p:spPr>
      </p:sp>
      <p:sp>
        <p:nvSpPr>
          <p:cNvPr id="16" name="Shape 8"/>
          <p:cNvSpPr/>
          <p:nvPr/>
        </p:nvSpPr>
        <p:spPr>
          <a:xfrm>
            <a:off x="6339682" y="621792"/>
            <a:ext cx="5577694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17" name="Text 9"/>
          <p:cNvSpPr/>
          <p:nvPr/>
        </p:nvSpPr>
        <p:spPr>
          <a:xfrm>
            <a:off x="6476842" y="731520"/>
            <a:ext cx="2011680" cy="329184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312 n. Chr.</a:t>
            </a:r>
            <a:endParaRPr lang="en-US" sz="1800" dirty="0"/>
          </a:p>
        </p:txBody>
      </p:sp>
      <p:sp>
        <p:nvSpPr>
          <p:cNvPr id="18" name="Text 10"/>
          <p:cNvSpPr/>
          <p:nvPr/>
        </p:nvSpPr>
        <p:spPr>
          <a:xfrm>
            <a:off x="6476842" y="1078992"/>
            <a:ext cx="53948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MILVISCHE BRÜCKE</a:t>
            </a:r>
            <a:endParaRPr lang="en-US" sz="11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6842" y="1389888"/>
            <a:ext cx="5394814" cy="1828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476842" y="1499616"/>
            <a:ext cx="544053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Konstantin siegt unter dem Chi-Rho. Er schreibt den Sieg dem christlichen Gott zu.</a:t>
            </a:r>
            <a:endParaRPr lang="en-US" sz="1200" dirty="0"/>
          </a:p>
        </p:txBody>
      </p:sp>
      <p:sp>
        <p:nvSpPr>
          <p:cNvPr id="21" name="Shape 12"/>
          <p:cNvSpPr/>
          <p:nvPr/>
        </p:nvSpPr>
        <p:spPr>
          <a:xfrm>
            <a:off x="6339682" y="2542032"/>
            <a:ext cx="5577694" cy="1755648"/>
          </a:xfrm>
          <a:prstGeom prst="rect">
            <a:avLst/>
          </a:prstGeom>
          <a:solidFill>
            <a:srgbClr val="0F0B07">
              <a:alpha val="92000"/>
            </a:srgbClr>
          </a:solidFill>
          <a:ln w="10160">
            <a:solidFill>
              <a:srgbClr val="C8820A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50800" dir="16200000">
              <a:srgbClr val="C8820A">
                <a:alpha val="18000"/>
              </a:srgbClr>
            </a:outerShdw>
          </a:effectLst>
        </p:spPr>
      </p:sp>
      <p:sp>
        <p:nvSpPr>
          <p:cNvPr id="22" name="Shape 13"/>
          <p:cNvSpPr/>
          <p:nvPr/>
        </p:nvSpPr>
        <p:spPr>
          <a:xfrm>
            <a:off x="6339682" y="2542032"/>
            <a:ext cx="5577694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23" name="Text 14"/>
          <p:cNvSpPr/>
          <p:nvPr/>
        </p:nvSpPr>
        <p:spPr>
          <a:xfrm>
            <a:off x="6476842" y="2651760"/>
            <a:ext cx="2011680" cy="329184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313 n. Chr.</a:t>
            </a:r>
            <a:endParaRPr lang="en-US" sz="1800" dirty="0"/>
          </a:p>
        </p:txBody>
      </p:sp>
      <p:sp>
        <p:nvSpPr>
          <p:cNvPr id="24" name="Text 15"/>
          <p:cNvSpPr/>
          <p:nvPr/>
        </p:nvSpPr>
        <p:spPr>
          <a:xfrm>
            <a:off x="6476842" y="2999232"/>
            <a:ext cx="53948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MAILÄNDER VEREINBARUNG</a:t>
            </a:r>
            <a:endParaRPr lang="en-US" sz="11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6842" y="3310128"/>
            <a:ext cx="5394814" cy="1828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476842" y="3419856"/>
            <a:ext cx="544053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Religionsfreiheit für alle. Kirchen werden zurückgegeben. Christen dürfen offen leben.</a:t>
            </a:r>
            <a:endParaRPr lang="en-US" sz="1200" dirty="0"/>
          </a:p>
        </p:txBody>
      </p:sp>
      <p:sp>
        <p:nvSpPr>
          <p:cNvPr id="27" name="Shape 17"/>
          <p:cNvSpPr/>
          <p:nvPr/>
        </p:nvSpPr>
        <p:spPr>
          <a:xfrm>
            <a:off x="6339682" y="4462272"/>
            <a:ext cx="5577694" cy="1755648"/>
          </a:xfrm>
          <a:prstGeom prst="rect">
            <a:avLst/>
          </a:prstGeom>
          <a:solidFill>
            <a:srgbClr val="0F0B07">
              <a:alpha val="92000"/>
            </a:srgbClr>
          </a:solidFill>
          <a:ln w="10160">
            <a:solidFill>
              <a:srgbClr val="C8820A">
                <a:alpha val="42000"/>
              </a:srgbClr>
            </a:solidFill>
            <a:prstDash val="solid"/>
          </a:ln>
          <a:effectLst>
            <a:outerShdw sx="100000" sy="100000" kx="0" ky="0" algn="bl" rotWithShape="0" blurRad="254000" dist="50800" dir="16200000">
              <a:srgbClr val="C8820A">
                <a:alpha val="18000"/>
              </a:srgbClr>
            </a:outerShdw>
          </a:effectLst>
        </p:spPr>
      </p:sp>
      <p:sp>
        <p:nvSpPr>
          <p:cNvPr id="28" name="Shape 18"/>
          <p:cNvSpPr/>
          <p:nvPr/>
        </p:nvSpPr>
        <p:spPr>
          <a:xfrm>
            <a:off x="6339682" y="4462272"/>
            <a:ext cx="5577694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sp>
        <p:nvSpPr>
          <p:cNvPr id="29" name="Text 19"/>
          <p:cNvSpPr/>
          <p:nvPr/>
        </p:nvSpPr>
        <p:spPr>
          <a:xfrm>
            <a:off x="6476842" y="4572000"/>
            <a:ext cx="2011680" cy="329184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325 n. Chr.</a:t>
            </a:r>
            <a:endParaRPr lang="en-US" sz="1800" dirty="0"/>
          </a:p>
        </p:txBody>
      </p:sp>
      <p:sp>
        <p:nvSpPr>
          <p:cNvPr id="30" name="Text 20"/>
          <p:cNvSpPr/>
          <p:nvPr/>
        </p:nvSpPr>
        <p:spPr>
          <a:xfrm>
            <a:off x="6476842" y="4919472"/>
            <a:ext cx="53948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KONZIL VON NICÄA</a:t>
            </a:r>
            <a:endParaRPr lang="en-US" sz="11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76842" y="5230368"/>
            <a:ext cx="5394814" cy="1828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476842" y="5340096"/>
            <a:ext cx="544053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Reichssynode. Glaubensbekenntnis entsteht. Bis heute in vielen Kirchen gesprochen.</a:t>
            </a:r>
            <a:endParaRPr lang="en-US" sz="12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74320" y="6455664"/>
            <a:ext cx="11643055" cy="1828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0" y="6492240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Verfolgten sitzen jetzt am Tisch des Kaisers.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2/hagia_soph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4320" y="256032"/>
            <a:ext cx="1645920" cy="24688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92608" y="621792"/>
            <a:ext cx="5364346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2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"Plötzlich ist es</a:t>
            </a:r>
            <a:endParaRPr lang="en-US" sz="3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2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umgekehrt."</a:t>
            </a:r>
            <a:endParaRPr lang="en-US" sz="3200" dirty="0"/>
          </a:p>
        </p:txBody>
      </p:sp>
      <p:sp>
        <p:nvSpPr>
          <p:cNvPr id="9" name="Text 1"/>
          <p:cNvSpPr/>
          <p:nvPr/>
        </p:nvSpPr>
        <p:spPr>
          <a:xfrm>
            <a:off x="292608" y="1783080"/>
            <a:ext cx="56081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spc="50" kern="0" dirty="0">
                <a:solidFill>
                  <a:srgbClr val="A04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 NICHT Christ ist,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spc="50" kern="0" dirty="0">
                <a:solidFill>
                  <a:srgbClr val="A04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wird jetzt verfolgt.</a:t>
            </a:r>
            <a:endParaRPr lang="en-US" sz="1800" dirty="0"/>
          </a:p>
        </p:txBody>
      </p:sp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92608" y="2697480"/>
            <a:ext cx="5608180" cy="32004"/>
          </a:xfrm>
          <a:prstGeom prst="rect">
            <a:avLst/>
          </a:prstGeom>
        </p:spPr>
      </p:pic>
      <p:sp>
        <p:nvSpPr>
          <p:cNvPr id="11" name="Text 2"/>
          <p:cNvSpPr/>
          <p:nvPr/>
        </p:nvSpPr>
        <p:spPr>
          <a:xfrm>
            <a:off x="292608" y="2852928"/>
            <a:ext cx="56081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Kaiser Konstantin hatte den Stein ins Rollen gebracht. Aber die Kirche entwickelte schnell politische Macht — und mit Macht kam auch Ausgrenzung.</a:t>
            </a:r>
            <a:endParaRPr lang="en-US" sz="1300" dirty="0"/>
          </a:p>
        </p:txBody>
      </p:sp>
      <p:sp>
        <p:nvSpPr>
          <p:cNvPr id="12" name="Shape 3"/>
          <p:cNvSpPr/>
          <p:nvPr/>
        </p:nvSpPr>
        <p:spPr>
          <a:xfrm>
            <a:off x="292608" y="3703320"/>
            <a:ext cx="5608180" cy="1115568"/>
          </a:xfrm>
          <a:prstGeom prst="rect">
            <a:avLst/>
          </a:prstGeom>
          <a:solidFill>
            <a:srgbClr val="0F0B07">
              <a:alpha val="90000"/>
            </a:srgbClr>
          </a:solidFill>
          <a:ln w="10160">
            <a:solidFill>
              <a:srgbClr val="A0421A">
                <a:alpha val="40000"/>
              </a:srgbClr>
            </a:solidFill>
            <a:prstDash val="solid"/>
          </a:ln>
        </p:spPr>
      </p:sp>
      <p:sp>
        <p:nvSpPr>
          <p:cNvPr id="13" name="Shape 4"/>
          <p:cNvSpPr/>
          <p:nvPr/>
        </p:nvSpPr>
        <p:spPr>
          <a:xfrm>
            <a:off x="292608" y="3703320"/>
            <a:ext cx="5608180" cy="18288"/>
          </a:xfrm>
          <a:prstGeom prst="rect">
            <a:avLst/>
          </a:prstGeom>
          <a:solidFill>
            <a:srgbClr val="A0421A">
              <a:alpha val="50000"/>
            </a:srgbClr>
          </a:solidFill>
          <a:ln/>
        </p:spPr>
      </p:sp>
      <p:sp>
        <p:nvSpPr>
          <p:cNvPr id="14" name="Text 5"/>
          <p:cNvSpPr/>
          <p:nvPr/>
        </p:nvSpPr>
        <p:spPr>
          <a:xfrm>
            <a:off x="411480" y="3767328"/>
            <a:ext cx="512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A0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 ZU VERSTEHEN</a:t>
            </a:r>
            <a:endParaRPr lang="en-US" sz="1000" dirty="0"/>
          </a:p>
        </p:txBody>
      </p:sp>
      <p:sp>
        <p:nvSpPr>
          <p:cNvPr id="15" name="Text 6"/>
          <p:cNvSpPr/>
          <p:nvPr/>
        </p:nvSpPr>
        <p:spPr>
          <a:xfrm>
            <a:off x="411480" y="4050792"/>
            <a:ext cx="512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frühe Kirche war selbst Opfer gewesen. Jetzt, mit staatlicher Macht, wurden Teile von ihr zu Tätern. Das ist eine historische Ironie — und eine Warnung, die bis heute gilt.</a:t>
            </a:r>
            <a:endParaRPr lang="en-US" sz="1200" dirty="0"/>
          </a:p>
        </p:txBody>
      </p:sp>
      <p:sp>
        <p:nvSpPr>
          <p:cNvPr id="16" name="Text 7"/>
          <p:cNvSpPr/>
          <p:nvPr/>
        </p:nvSpPr>
        <p:spPr>
          <a:xfrm>
            <a:off x="6461598" y="256032"/>
            <a:ext cx="5486263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3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CHRONOLOGIE DER WENDE</a:t>
            </a:r>
            <a:endParaRPr lang="en-US" sz="10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34750" y="704088"/>
            <a:ext cx="310896" cy="310896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6690198" y="1014984"/>
            <a:ext cx="0" cy="530352"/>
          </a:xfrm>
          <a:prstGeom prst="line">
            <a:avLst/>
          </a:prstGeom>
          <a:noFill/>
          <a:ln w="12700">
            <a:solidFill>
              <a:srgbClr val="6B4A0F"/>
            </a:solidFill>
            <a:prstDash val="dash"/>
          </a:ln>
        </p:spPr>
      </p:sp>
      <p:sp>
        <p:nvSpPr>
          <p:cNvPr id="19" name="Text 9"/>
          <p:cNvSpPr/>
          <p:nvPr/>
        </p:nvSpPr>
        <p:spPr>
          <a:xfrm>
            <a:off x="6937086" y="6766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313 n. Chr.</a:t>
            </a:r>
            <a:endParaRPr lang="en-US" sz="1050" dirty="0"/>
          </a:p>
        </p:txBody>
      </p:sp>
      <p:sp>
        <p:nvSpPr>
          <p:cNvPr id="20" name="Text 10"/>
          <p:cNvSpPr/>
          <p:nvPr/>
        </p:nvSpPr>
        <p:spPr>
          <a:xfrm>
            <a:off x="8363550" y="676656"/>
            <a:ext cx="371841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Religionsfreiheit. Christen dürfen offen existieren.</a:t>
            </a:r>
            <a:endParaRPr lang="en-US" sz="11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34750" y="1572768"/>
            <a:ext cx="310896" cy="310896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6690198" y="1883664"/>
            <a:ext cx="0" cy="530352"/>
          </a:xfrm>
          <a:prstGeom prst="line">
            <a:avLst/>
          </a:prstGeom>
          <a:noFill/>
          <a:ln w="12700">
            <a:solidFill>
              <a:srgbClr val="6B4A0F"/>
            </a:solidFill>
            <a:prstDash val="dash"/>
          </a:ln>
        </p:spPr>
      </p:sp>
      <p:sp>
        <p:nvSpPr>
          <p:cNvPr id="23" name="Text 12"/>
          <p:cNvSpPr/>
          <p:nvPr/>
        </p:nvSpPr>
        <p:spPr>
          <a:xfrm>
            <a:off x="6937086" y="15453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321 n. Chr.</a:t>
            </a:r>
            <a:endParaRPr lang="en-US" sz="1050" dirty="0"/>
          </a:p>
        </p:txBody>
      </p:sp>
      <p:sp>
        <p:nvSpPr>
          <p:cNvPr id="24" name="Text 13"/>
          <p:cNvSpPr/>
          <p:nvPr/>
        </p:nvSpPr>
        <p:spPr>
          <a:xfrm>
            <a:off x="8363550" y="1545336"/>
            <a:ext cx="371841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Sonntag wird offizieller Ruhetag im Reich.</a:t>
            </a:r>
            <a:endParaRPr lang="en-US" sz="11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34750" y="2441448"/>
            <a:ext cx="310896" cy="310896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6690198" y="2752344"/>
            <a:ext cx="0" cy="530352"/>
          </a:xfrm>
          <a:prstGeom prst="line">
            <a:avLst/>
          </a:prstGeom>
          <a:noFill/>
          <a:ln w="12700">
            <a:solidFill>
              <a:srgbClr val="8B3A10"/>
            </a:solidFill>
            <a:prstDash val="dash"/>
          </a:ln>
        </p:spPr>
      </p:sp>
      <p:sp>
        <p:nvSpPr>
          <p:cNvPr id="27" name="Text 15"/>
          <p:cNvSpPr/>
          <p:nvPr/>
        </p:nvSpPr>
        <p:spPr>
          <a:xfrm>
            <a:off x="6937086" y="2414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380 n. Chr.</a:t>
            </a:r>
            <a:endParaRPr lang="en-US" sz="1050" dirty="0"/>
          </a:p>
        </p:txBody>
      </p:sp>
      <p:sp>
        <p:nvSpPr>
          <p:cNvPr id="28" name="Text 16"/>
          <p:cNvSpPr/>
          <p:nvPr/>
        </p:nvSpPr>
        <p:spPr>
          <a:xfrm>
            <a:off x="8363550" y="2414016"/>
            <a:ext cx="371841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Theodosius: Christentum wird zur Staatsreligion. Alle anderen sind Ketzer.</a:t>
            </a:r>
            <a:endParaRPr lang="en-US" sz="11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34750" y="3310128"/>
            <a:ext cx="310896" cy="310896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6690198" y="3621024"/>
            <a:ext cx="0" cy="530352"/>
          </a:xfrm>
          <a:prstGeom prst="line">
            <a:avLst/>
          </a:prstGeom>
          <a:noFill/>
          <a:ln w="12700">
            <a:solidFill>
              <a:srgbClr val="8B3A10"/>
            </a:solidFill>
            <a:prstDash val="dash"/>
          </a:ln>
        </p:spPr>
      </p:sp>
      <p:sp>
        <p:nvSpPr>
          <p:cNvPr id="31" name="Text 18"/>
          <p:cNvSpPr/>
          <p:nvPr/>
        </p:nvSpPr>
        <p:spPr>
          <a:xfrm>
            <a:off x="6937086" y="32826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391 n. Chr.</a:t>
            </a:r>
            <a:endParaRPr lang="en-US" sz="1050" dirty="0"/>
          </a:p>
        </p:txBody>
      </p:sp>
      <p:sp>
        <p:nvSpPr>
          <p:cNvPr id="32" name="Text 19"/>
          <p:cNvSpPr/>
          <p:nvPr/>
        </p:nvSpPr>
        <p:spPr>
          <a:xfrm>
            <a:off x="8363550" y="3282696"/>
            <a:ext cx="371841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Heidnische Kulte verboten. Opfer für andere Götter = Hochverrat.</a:t>
            </a:r>
            <a:endParaRPr lang="en-US" sz="11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534750" y="4178808"/>
            <a:ext cx="310896" cy="310896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6690198" y="4489704"/>
            <a:ext cx="0" cy="530352"/>
          </a:xfrm>
          <a:prstGeom prst="line">
            <a:avLst/>
          </a:prstGeom>
          <a:noFill/>
          <a:ln w="12700">
            <a:solidFill>
              <a:srgbClr val="8B3A10"/>
            </a:solidFill>
            <a:prstDash val="dash"/>
          </a:ln>
        </p:spPr>
      </p:sp>
      <p:sp>
        <p:nvSpPr>
          <p:cNvPr id="35" name="Text 21"/>
          <p:cNvSpPr/>
          <p:nvPr/>
        </p:nvSpPr>
        <p:spPr>
          <a:xfrm>
            <a:off x="6937086" y="4151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393 n. Chr.</a:t>
            </a:r>
            <a:endParaRPr lang="en-US" sz="1050" dirty="0"/>
          </a:p>
        </p:txBody>
      </p:sp>
      <p:sp>
        <p:nvSpPr>
          <p:cNvPr id="36" name="Text 22"/>
          <p:cNvSpPr/>
          <p:nvPr/>
        </p:nvSpPr>
        <p:spPr>
          <a:xfrm>
            <a:off x="8363550" y="4151376"/>
            <a:ext cx="371841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Letzte Olympische Spiele der Antike. Zeus-gewidmet, daher verboten.</a:t>
            </a:r>
            <a:endParaRPr lang="en-US" sz="110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34750" y="5047488"/>
            <a:ext cx="310896" cy="310896"/>
          </a:xfrm>
          <a:prstGeom prst="rect">
            <a:avLst/>
          </a:prstGeom>
        </p:spPr>
      </p:pic>
      <p:sp>
        <p:nvSpPr>
          <p:cNvPr id="38" name="Shape 23"/>
          <p:cNvSpPr/>
          <p:nvPr/>
        </p:nvSpPr>
        <p:spPr>
          <a:xfrm>
            <a:off x="6690198" y="5358384"/>
            <a:ext cx="0" cy="530352"/>
          </a:xfrm>
          <a:prstGeom prst="line">
            <a:avLst/>
          </a:prstGeom>
          <a:noFill/>
          <a:ln w="12700">
            <a:solidFill>
              <a:srgbClr val="8B3A10"/>
            </a:solidFill>
            <a:prstDash val="dash"/>
          </a:ln>
        </p:spPr>
      </p:sp>
      <p:sp>
        <p:nvSpPr>
          <p:cNvPr id="39" name="Text 24"/>
          <p:cNvSpPr/>
          <p:nvPr/>
        </p:nvSpPr>
        <p:spPr>
          <a:xfrm>
            <a:off x="6937086" y="50200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415 n. Chr.</a:t>
            </a:r>
            <a:endParaRPr lang="en-US" sz="1050" dirty="0"/>
          </a:p>
        </p:txBody>
      </p:sp>
      <p:sp>
        <p:nvSpPr>
          <p:cNvPr id="40" name="Text 25"/>
          <p:cNvSpPr/>
          <p:nvPr/>
        </p:nvSpPr>
        <p:spPr>
          <a:xfrm>
            <a:off x="8363550" y="5020056"/>
            <a:ext cx="371841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Hypatia, Philosophin in Alexandria, von christlichem Mob getötet.</a:t>
            </a:r>
            <a:endParaRPr lang="en-US" sz="1100" dirty="0"/>
          </a:p>
        </p:txBody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534750" y="5916168"/>
            <a:ext cx="310896" cy="310896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6937086" y="58887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042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529 n. Chr.</a:t>
            </a:r>
            <a:endParaRPr lang="en-US" sz="1050" dirty="0"/>
          </a:p>
        </p:txBody>
      </p:sp>
      <p:sp>
        <p:nvSpPr>
          <p:cNvPr id="43" name="Text 27"/>
          <p:cNvSpPr/>
          <p:nvPr/>
        </p:nvSpPr>
        <p:spPr>
          <a:xfrm>
            <a:off x="8363550" y="5888736"/>
            <a:ext cx="371841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Justinian schließt Platons Akademie in Athen. Ende der antiken Philosophie.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uwg_raesfeld_erle_website_repo/images_v2/basilic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67048" y="228600"/>
            <a:ext cx="3657600" cy="24688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0" y="594360"/>
            <a:ext cx="12191695" cy="1188720"/>
          </a:xfrm>
          <a:prstGeom prst="rect">
            <a:avLst/>
          </a:prstGeom>
          <a:noFill/>
          <a:ln/>
          <a:effectLst>
            <a:outerShdw sx="100000" sy="100000" kx="0" ky="0" algn="bl" rotWithShape="0" blurRad="152400" dist="50800" dir="16200000">
              <a:srgbClr val="C8820A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"Warum ist Sonntag frei?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schreiben wir 2026?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gibt es Krankenhäuser?"</a:t>
            </a:r>
            <a:endParaRPr lang="en-US" sz="2000" dirty="0"/>
          </a:p>
        </p:txBody>
      </p:sp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28754" y="1874520"/>
            <a:ext cx="8534187" cy="32004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975336" y="1993392"/>
            <a:ext cx="10241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frühe Christentum hat unsere Welt geformt — oft ohne dass wir es wissen. Sechs Bereiche, die wir dem frühen Christentum verdanken:</a:t>
            </a:r>
            <a:endParaRPr lang="en-US" sz="1300" dirty="0"/>
          </a:p>
        </p:txBody>
      </p:sp>
      <p:sp>
        <p:nvSpPr>
          <p:cNvPr id="10" name="Shape 2"/>
          <p:cNvSpPr/>
          <p:nvPr/>
        </p:nvSpPr>
        <p:spPr>
          <a:xfrm>
            <a:off x="274320" y="2633472"/>
            <a:ext cx="3820058" cy="2057400"/>
          </a:xfrm>
          <a:prstGeom prst="rect">
            <a:avLst/>
          </a:prstGeom>
          <a:solidFill>
            <a:srgbClr val="0F0B07">
              <a:alpha val="85000"/>
            </a:srgbClr>
          </a:solidFill>
          <a:ln w="10160">
            <a:solidFill>
              <a:srgbClr val="C8820A">
                <a:alpha val="25000"/>
              </a:srgbClr>
            </a:solidFill>
            <a:prstDash val="solid"/>
          </a:ln>
        </p:spPr>
      </p:sp>
      <p:sp>
        <p:nvSpPr>
          <p:cNvPr id="11" name="Shape 3"/>
          <p:cNvSpPr/>
          <p:nvPr/>
        </p:nvSpPr>
        <p:spPr>
          <a:xfrm>
            <a:off x="274320" y="2633472"/>
            <a:ext cx="382005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9184" y="2942082"/>
            <a:ext cx="36576" cy="1440180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0624" y="2770632"/>
            <a:ext cx="347472" cy="347472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841248" y="2761488"/>
            <a:ext cx="31616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KALENDER &amp; ZEIT</a:t>
            </a:r>
            <a:endParaRPr lang="en-US" sz="1050" dirty="0"/>
          </a:p>
        </p:txBody>
      </p:sp>
      <p:sp>
        <p:nvSpPr>
          <p:cNvPr id="15" name="Text 5"/>
          <p:cNvSpPr/>
          <p:nvPr/>
        </p:nvSpPr>
        <p:spPr>
          <a:xfrm>
            <a:off x="420624" y="3163824"/>
            <a:ext cx="3582314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Sonntag als Ruhetag (321 n. Chr.).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Kalender teilt Zeit in v. Chr. / n. Chr.</a:t>
            </a:r>
            <a:endParaRPr lang="en-US" sz="1050" dirty="0"/>
          </a:p>
        </p:txBody>
      </p:sp>
      <p:sp>
        <p:nvSpPr>
          <p:cNvPr id="16" name="Shape 6"/>
          <p:cNvSpPr/>
          <p:nvPr/>
        </p:nvSpPr>
        <p:spPr>
          <a:xfrm>
            <a:off x="4185818" y="2633472"/>
            <a:ext cx="3820058" cy="2057400"/>
          </a:xfrm>
          <a:prstGeom prst="rect">
            <a:avLst/>
          </a:prstGeom>
          <a:solidFill>
            <a:srgbClr val="0F0B07">
              <a:alpha val="85000"/>
            </a:srgbClr>
          </a:solidFill>
          <a:ln w="10160">
            <a:solidFill>
              <a:srgbClr val="C8820A">
                <a:alpha val="25000"/>
              </a:srgbClr>
            </a:solidFill>
            <a:prstDash val="solid"/>
          </a:ln>
        </p:spPr>
      </p:sp>
      <p:sp>
        <p:nvSpPr>
          <p:cNvPr id="17" name="Shape 7"/>
          <p:cNvSpPr/>
          <p:nvPr/>
        </p:nvSpPr>
        <p:spPr>
          <a:xfrm>
            <a:off x="4185818" y="2633472"/>
            <a:ext cx="382005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240682" y="2942082"/>
            <a:ext cx="36576" cy="1440180"/>
          </a:xfrm>
          <a:prstGeom prst="rect">
            <a:avLst/>
          </a:prstGeom>
        </p:spPr>
      </p:pic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332122" y="2770632"/>
            <a:ext cx="347472" cy="347472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4752746" y="2761488"/>
            <a:ext cx="31616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SOZIALFÜRSORGE</a:t>
            </a:r>
            <a:endParaRPr lang="en-US" sz="1050" dirty="0"/>
          </a:p>
        </p:txBody>
      </p:sp>
      <p:sp>
        <p:nvSpPr>
          <p:cNvPr id="21" name="Text 9"/>
          <p:cNvSpPr/>
          <p:nvPr/>
        </p:nvSpPr>
        <p:spPr>
          <a:xfrm>
            <a:off x="4332122" y="3163824"/>
            <a:ext cx="3582314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Hospize &amp; Waisenhäuser (4. Jh.).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Armenpflege als religiöse Pflicht — eine neue Idee.</a:t>
            </a:r>
            <a:endParaRPr lang="en-US" sz="1050" dirty="0"/>
          </a:p>
        </p:txBody>
      </p:sp>
      <p:sp>
        <p:nvSpPr>
          <p:cNvPr id="22" name="Shape 10"/>
          <p:cNvSpPr/>
          <p:nvPr/>
        </p:nvSpPr>
        <p:spPr>
          <a:xfrm>
            <a:off x="8097317" y="2633472"/>
            <a:ext cx="3820058" cy="2057400"/>
          </a:xfrm>
          <a:prstGeom prst="rect">
            <a:avLst/>
          </a:prstGeom>
          <a:solidFill>
            <a:srgbClr val="0F0B07">
              <a:alpha val="85000"/>
            </a:srgbClr>
          </a:solidFill>
          <a:ln w="10160">
            <a:solidFill>
              <a:srgbClr val="C8820A">
                <a:alpha val="25000"/>
              </a:srgbClr>
            </a:solidFill>
            <a:prstDash val="solid"/>
          </a:ln>
        </p:spPr>
      </p:sp>
      <p:sp>
        <p:nvSpPr>
          <p:cNvPr id="23" name="Shape 11"/>
          <p:cNvSpPr/>
          <p:nvPr/>
        </p:nvSpPr>
        <p:spPr>
          <a:xfrm>
            <a:off x="8097317" y="2633472"/>
            <a:ext cx="382005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52181" y="2942082"/>
            <a:ext cx="36576" cy="1440180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243621" y="2770632"/>
            <a:ext cx="347472" cy="347472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8664245" y="2761488"/>
            <a:ext cx="31616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BILDUNG &amp; WISSEN</a:t>
            </a:r>
            <a:endParaRPr lang="en-US" sz="1050" dirty="0"/>
          </a:p>
        </p:txBody>
      </p:sp>
      <p:sp>
        <p:nvSpPr>
          <p:cNvPr id="27" name="Text 13"/>
          <p:cNvSpPr/>
          <p:nvPr/>
        </p:nvSpPr>
        <p:spPr>
          <a:xfrm>
            <a:off x="8243621" y="3163824"/>
            <a:ext cx="3582314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Klöster kopierten antike Texte durch das Mittelalter.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sie wäre griechische Philosophie verloren.</a:t>
            </a:r>
            <a:endParaRPr lang="en-US" sz="1050" dirty="0"/>
          </a:p>
        </p:txBody>
      </p:sp>
      <p:sp>
        <p:nvSpPr>
          <p:cNvPr id="28" name="Shape 14"/>
          <p:cNvSpPr/>
          <p:nvPr/>
        </p:nvSpPr>
        <p:spPr>
          <a:xfrm>
            <a:off x="274320" y="4782312"/>
            <a:ext cx="3820058" cy="2057400"/>
          </a:xfrm>
          <a:prstGeom prst="rect">
            <a:avLst/>
          </a:prstGeom>
          <a:solidFill>
            <a:srgbClr val="0F0B07">
              <a:alpha val="85000"/>
            </a:srgbClr>
          </a:solidFill>
          <a:ln w="10160">
            <a:solidFill>
              <a:srgbClr val="C8820A">
                <a:alpha val="25000"/>
              </a:srgbClr>
            </a:solidFill>
            <a:prstDash val="solid"/>
          </a:ln>
        </p:spPr>
      </p:sp>
      <p:sp>
        <p:nvSpPr>
          <p:cNvPr id="29" name="Shape 15"/>
          <p:cNvSpPr/>
          <p:nvPr/>
        </p:nvSpPr>
        <p:spPr>
          <a:xfrm>
            <a:off x="274320" y="4782312"/>
            <a:ext cx="382005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29184" y="5090922"/>
            <a:ext cx="36576" cy="1440180"/>
          </a:xfrm>
          <a:prstGeom prst="rect">
            <a:avLst/>
          </a:prstGeom>
        </p:spPr>
      </p:pic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20624" y="4919472"/>
            <a:ext cx="347472" cy="347472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841248" y="4910328"/>
            <a:ext cx="31616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ARCHITEKTUR</a:t>
            </a:r>
            <a:endParaRPr lang="en-US" sz="1050" dirty="0"/>
          </a:p>
        </p:txBody>
      </p:sp>
      <p:sp>
        <p:nvSpPr>
          <p:cNvPr id="33" name="Text 17"/>
          <p:cNvSpPr/>
          <p:nvPr/>
        </p:nvSpPr>
        <p:spPr>
          <a:xfrm>
            <a:off x="420624" y="5312664"/>
            <a:ext cx="3582314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Basilika-Bauform, Kuppeln, Kirchenfenster.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Rom, Hagia Sophia — weltweit sichtbar.</a:t>
            </a:r>
            <a:endParaRPr lang="en-US" sz="1050" dirty="0"/>
          </a:p>
        </p:txBody>
      </p:sp>
      <p:sp>
        <p:nvSpPr>
          <p:cNvPr id="34" name="Shape 18"/>
          <p:cNvSpPr/>
          <p:nvPr/>
        </p:nvSpPr>
        <p:spPr>
          <a:xfrm>
            <a:off x="4185818" y="4782312"/>
            <a:ext cx="3820058" cy="2057400"/>
          </a:xfrm>
          <a:prstGeom prst="rect">
            <a:avLst/>
          </a:prstGeom>
          <a:solidFill>
            <a:srgbClr val="0F0B07">
              <a:alpha val="85000"/>
            </a:srgbClr>
          </a:solidFill>
          <a:ln w="10160">
            <a:solidFill>
              <a:srgbClr val="C8820A">
                <a:alpha val="25000"/>
              </a:srgbClr>
            </a:solidFill>
            <a:prstDash val="solid"/>
          </a:ln>
        </p:spPr>
      </p:sp>
      <p:sp>
        <p:nvSpPr>
          <p:cNvPr id="35" name="Shape 19"/>
          <p:cNvSpPr/>
          <p:nvPr/>
        </p:nvSpPr>
        <p:spPr>
          <a:xfrm>
            <a:off x="4185818" y="4782312"/>
            <a:ext cx="382005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pic>
        <p:nvPicPr>
          <p:cNvPr id="36" name="Image 14" descr="preencoded.png">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240682" y="5090922"/>
            <a:ext cx="36576" cy="1440180"/>
          </a:xfrm>
          <a:prstGeom prst="rect">
            <a:avLst/>
          </a:prstGeom>
        </p:spPr>
      </p:pic>
      <p:pic>
        <p:nvPicPr>
          <p:cNvPr id="37" name="Image 15" descr="preencoded.png">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332122" y="4919472"/>
            <a:ext cx="347472" cy="347472"/>
          </a:xfrm>
          <a:prstGeom prst="rect">
            <a:avLst/>
          </a:prstGeom>
        </p:spPr>
      </p:pic>
      <p:sp>
        <p:nvSpPr>
          <p:cNvPr id="38" name="Text 20"/>
          <p:cNvSpPr/>
          <p:nvPr/>
        </p:nvSpPr>
        <p:spPr>
          <a:xfrm>
            <a:off x="4752746" y="4910328"/>
            <a:ext cx="31616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ETHIK &amp; WÜRDE</a:t>
            </a:r>
            <a:endParaRPr lang="en-US" sz="1050" dirty="0"/>
          </a:p>
        </p:txBody>
      </p:sp>
      <p:sp>
        <p:nvSpPr>
          <p:cNvPr id="39" name="Text 21"/>
          <p:cNvSpPr/>
          <p:nvPr/>
        </p:nvSpPr>
        <p:spPr>
          <a:xfrm>
            <a:off x="4332122" y="5312664"/>
            <a:ext cx="3582314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Nächstenliebe als Pflicht. Menschenwürde für alle — auch Sklaven. Grundlage der westlichen Ethik.</a:t>
            </a:r>
            <a:endParaRPr lang="en-US" sz="1050" dirty="0"/>
          </a:p>
        </p:txBody>
      </p:sp>
      <p:sp>
        <p:nvSpPr>
          <p:cNvPr id="40" name="Shape 22"/>
          <p:cNvSpPr/>
          <p:nvPr/>
        </p:nvSpPr>
        <p:spPr>
          <a:xfrm>
            <a:off x="8097317" y="4782312"/>
            <a:ext cx="3820058" cy="2057400"/>
          </a:xfrm>
          <a:prstGeom prst="rect">
            <a:avLst/>
          </a:prstGeom>
          <a:solidFill>
            <a:srgbClr val="0F0B07">
              <a:alpha val="85000"/>
            </a:srgbClr>
          </a:solidFill>
          <a:ln w="10160">
            <a:solidFill>
              <a:srgbClr val="C8820A">
                <a:alpha val="25000"/>
              </a:srgbClr>
            </a:solidFill>
            <a:prstDash val="solid"/>
          </a:ln>
        </p:spPr>
      </p:sp>
      <p:sp>
        <p:nvSpPr>
          <p:cNvPr id="41" name="Shape 23"/>
          <p:cNvSpPr/>
          <p:nvPr/>
        </p:nvSpPr>
        <p:spPr>
          <a:xfrm>
            <a:off x="8097317" y="4782312"/>
            <a:ext cx="3820058" cy="18288"/>
          </a:xfrm>
          <a:prstGeom prst="rect">
            <a:avLst/>
          </a:prstGeom>
          <a:solidFill>
            <a:srgbClr val="C8820A">
              <a:alpha val="50000"/>
            </a:srgbClr>
          </a:solidFill>
          <a:ln/>
        </p:spPr>
      </p:sp>
      <p:pic>
        <p:nvPicPr>
          <p:cNvPr id="42" name="Image 16" descr="preencoded.png">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152181" y="5090922"/>
            <a:ext cx="36576" cy="1440180"/>
          </a:xfrm>
          <a:prstGeom prst="rect">
            <a:avLst/>
          </a:prstGeom>
        </p:spPr>
      </p:pic>
      <p:pic>
        <p:nvPicPr>
          <p:cNvPr id="43" name="Image 17" descr="preencoded.png">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243621" y="4919472"/>
            <a:ext cx="347472" cy="347472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8664245" y="4910328"/>
            <a:ext cx="31616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82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FRAUEN &amp; NEUE ROLLEN</a:t>
            </a:r>
            <a:endParaRPr lang="en-US" sz="1050" dirty="0"/>
          </a:p>
        </p:txBody>
      </p:sp>
      <p:sp>
        <p:nvSpPr>
          <p:cNvPr id="45" name="Text 25"/>
          <p:cNvSpPr/>
          <p:nvPr/>
        </p:nvSpPr>
        <p:spPr>
          <a:xfrm>
            <a:off x="8243621" y="5312664"/>
            <a:ext cx="3582314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Witwen, Diakoninnen, Märtyrerinnen erhielten neue gesellschaftliche Bedeutung.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20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0"/>
            <a:ext cx="12191695" cy="36576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6821424"/>
            <a:ext cx="12191695" cy="36576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0" y="566928"/>
            <a:ext cx="121916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6B4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ABSCHLUSSFRAGE —</a:t>
            </a:r>
            <a:endParaRPr lang="en-US" sz="1200" dirty="0"/>
          </a:p>
        </p:txBody>
      </p:sp>
      <p:sp>
        <p:nvSpPr>
          <p:cNvPr id="10" name="Text 2"/>
          <p:cNvSpPr/>
          <p:nvPr/>
        </p:nvSpPr>
        <p:spPr>
          <a:xfrm>
            <a:off x="731502" y="1024128"/>
            <a:ext cx="10728692" cy="2560320"/>
          </a:xfrm>
          <a:prstGeom prst="rect">
            <a:avLst/>
          </a:prstGeom>
          <a:noFill/>
          <a:ln/>
          <a:effectLst>
            <a:outerShdw sx="100000" sy="100000" kx="0" ky="0" algn="bl" rotWithShape="0" blurRad="381000" dist="50800" dir="16200000">
              <a:srgbClr val="C8820A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Wofür würdet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i="1" dirty="0">
                <a:solidFill>
                  <a:srgbClr val="F5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ihr heute sterben?</a:t>
            </a:r>
            <a:endParaRPr lang="en-US" sz="5600" dirty="0"/>
          </a:p>
        </p:txBody>
      </p:sp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047924" y="3703320"/>
            <a:ext cx="6095848" cy="201168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975336" y="4041648"/>
            <a:ext cx="10241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4A8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ersten Christen taten es — ohne Aussicht auf Belohnung in diesem Leben.</a:t>
            </a:r>
            <a:endParaRPr lang="en-US" sz="1600" dirty="0"/>
          </a:p>
        </p:txBody>
      </p:sp>
      <p:sp>
        <p:nvSpPr>
          <p:cNvPr id="13" name="Text 4"/>
          <p:cNvSpPr/>
          <p:nvPr/>
        </p:nvSpPr>
        <p:spPr>
          <a:xfrm>
            <a:off x="1219170" y="4590288"/>
            <a:ext cx="97533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Welche Idee, welcher Mensch, welcher Glaube wäre es euch wert?</a:t>
            </a:r>
            <a:endParaRPr lang="en-US" sz="1400" dirty="0"/>
          </a:p>
        </p:txBody>
      </p:sp>
      <p:sp>
        <p:nvSpPr>
          <p:cNvPr id="14" name="Text 5"/>
          <p:cNvSpPr/>
          <p:nvPr/>
        </p:nvSpPr>
        <p:spPr>
          <a:xfrm>
            <a:off x="1828754" y="5074920"/>
            <a:ext cx="853418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4A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 wenn nichts — was sagt das über unsere Zeit?</a:t>
            </a:r>
            <a:endParaRPr lang="en-US" sz="1300" dirty="0"/>
          </a:p>
        </p:txBody>
      </p:sp>
      <p:sp>
        <p:nvSpPr>
          <p:cNvPr id="15" name="Text 6"/>
          <p:cNvSpPr/>
          <p:nvPr/>
        </p:nvSpPr>
        <p:spPr>
          <a:xfrm>
            <a:off x="0" y="6537960"/>
            <a:ext cx="121916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6B4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SCHULPRÄSENTATION • OBERSTUFE •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 Anfänge der Kirche in der Antike</dc:title>
  <dc:subject>Geschichte • Religion • Antike</dc:subject>
  <dc:creator>Schulpräsentation Oberstufe 2026</dc:creator>
  <cp:lastModifiedBy>Schulpräsentation Oberstufe 2026</cp:lastModifiedBy>
  <cp:revision>1</cp:revision>
  <dcterms:created xsi:type="dcterms:W3CDTF">2026-05-27T23:48:18Z</dcterms:created>
  <dcterms:modified xsi:type="dcterms:W3CDTF">2026-05-27T23:48:18Z</dcterms:modified>
</cp:coreProperties>
</file>