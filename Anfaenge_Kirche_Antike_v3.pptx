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 (2–3 Min.)
• Einstiegsfrage: "Was wisst ihr über das frühe Christentum?" — Antworten sammeln.
• Kontext: 30 n. Chr. = winzige jüdische Randgruppe. 350 Jahre später = Staatsreligion.
• Die drei Daten (30 / 313 / 380) = die drei Akte — Folie für Folie werden wir sie durchgehen.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KONTEXT + GRIECHEN (4–5 Min.)
• Linke Seite: Polytheismus war NORMAL. Es waren die Christen, die als seltsam galten.
• GRIECHEN als bekanntestes Beispiel — das Bild im Hintergrund (Parthenon) sofort zeigen.
• Kernbotschaft: "Ohne die Griechen hätte Paulus in Athen einen Dolmetscher gebraucht."
• Koine-Griechisch: Das NT ist auf Griechisch — nicht auf Aramäisch (Jesu Muttersprache) oder Hebräisch.
• Septuaginta: Das theologische Fundament existiert 300 Jahre vor Christus — auf Griechisch.
• Frage an Klasse: "Kennt ihr moderne Beispiele von Staatsreligion?" (Iran, Israel, historisch England).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GEBURT (4 Min.)
• Historischer Kern: Kreuzigung ist gut belegt (Tacitus, Josephus). Auferstehung ist Glaubensfrage.
• Als Historiker sagen wir nur: etwas hat die Jünger so überzeugt, dass sie dafür ihr Leben riskierten.
• Diskussionsfrage: "Was würde euch so überzeugen, dass ihr alles aufgebt?"
• Gütergemeinschaft = radikales soziales Experiment — betonen!
• Apostelkonzil 48/49: Die Schicksalsfrage. Ohne Paulus wäre Christentum eine jüdische Sekte geblieben.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PAULUS (3–4 Min.)
• Pointe: Er hat Jesus nie persönlich getroffen — trotzdem schrieb er ~50% des NT.
• Areopag-Rede: Musterstück der Inkulturation. Er zitiert griechische Dichter, nicht jüdische Schriften.
• Warum bedeutsam: Vor Paulus = Judäa. Nach Paulus = Mittelmeerraum. Das ist eine Revolution.
• Frage: "Kann man überzeugend für etwas eintreten, das man nicht aus eigener Erfahrung kennt?"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VERFOLGUNG (3–4 Min.)
• Tertullian-Zitat: Märtyrer wirkten als lebende Werbung. Wer stirbt ohne zu widerrufen, muss etwas Echtes glauben.
• Diokletian-Verfolgung (303): Die härteste — NUR 10 Jahre vor Konstantins Wende.
• Frage: "Warum kann man eine Idee nicht mit Gewalt töten?"
• Historiographische Debatte: Wie viele starben wirklich? Zahlen sehr umstritten (früher übertrieben).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KONSTANTIN (4 Min.)
• Ob Konstantin wirklich Christ wurde oder es politisches Kalkül war — bis heute umstritten.
• Argument für echt: Ließ sich kurz vor dem Tod taufen. Hielt am Glauben bis zum Ende.
• Argument für politisch: Christentum wuchs am schnellsten — gute Wette für einen Kaiser.
• Konzil von Nicäa: Nizänisches Glaubensbekenntnis — bis heute in Gottesdiensten.
• BRÜCKE: "Konstantin öffnet die Tür — was passiert, wenn die Kirche hindurchtritt?"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WENDE (4 Min.)
• Die unbequeme Wahrheit der Kirchengeschichte.
• Hypatia (415): Erste bekannte weibliche Mathematikerin der Antike, von christlichem Mob getötet.
• Olympische Spiele: 393 verboten wegen Zeus-Kult — 1896 wiederbelebt.
• Diskussionsfrage: "Liegt es in der Natur jeder Macht, andere zu unterdrücken? Hätte es anders gehen können?"
• Verbindung zu heute: Religionsfreiheit als Grundrecht ist DIREKTE Reaktion auf diese Geschichte.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ERBE &amp; ABSCHLUSSDISKUSSION (5–10 Min.)
• Erbe-Punkte kurz interaktiv abfragen: "Wusstet ihr, dass...?" — Schüler oft überrascht vom Sonntag und Krankenhaus.
• STILLE LASSEN. Die große Frage mindestens 5 Sekunden wirken lassen.
• Einstieg: "Gibt es heute Menschen, die für ihre Überzeugungen sterben?" (Whistleblower, Aktivisten)
• "Was unterscheidet 'Wofür man stirbt' von 'Wofür man lebt'?"
• Keine richtigen/falschen Antworten. Ziel: reflektiertes Denken über Werte und Überzeugungen.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image" Target="../media/image-2-18.png"/><Relationship Id="rId19" Type="http://schemas.openxmlformats.org/officeDocument/2006/relationships/image" Target="../media/image-2-19.svg"/><Relationship Id="rId20" Type="http://schemas.openxmlformats.org/officeDocument/2006/relationships/image" Target="../media/image-2-20.png"/><Relationship Id="rId21" Type="http://schemas.openxmlformats.org/officeDocument/2006/relationships/image" Target="../media/image-2-21.svg"/><Relationship Id="rId22" Type="http://schemas.openxmlformats.org/officeDocument/2006/relationships/image" Target="../media/image-2-22.png"/><Relationship Id="rId23" Type="http://schemas.openxmlformats.org/officeDocument/2006/relationships/image" Target="../media/image-2-23.svg"/><Relationship Id="rId24" Type="http://schemas.openxmlformats.org/officeDocument/2006/relationships/image" Target="../media/image-2-24.png"/><Relationship Id="rId25" Type="http://schemas.openxmlformats.org/officeDocument/2006/relationships/image" Target="../media/image-2-25.svg"/><Relationship Id="rId26" Type="http://schemas.openxmlformats.org/officeDocument/2006/relationships/image" Target="../media/image-2-26.png"/><Relationship Id="rId27" Type="http://schemas.openxmlformats.org/officeDocument/2006/relationships/image" Target="../media/image-2-27.svg"/><Relationship Id="rId28" Type="http://schemas.openxmlformats.org/officeDocument/2006/relationships/image" Target="../media/image-2-28.png"/><Relationship Id="rId29" Type="http://schemas.openxmlformats.org/officeDocument/2006/relationships/image" Target="../media/image-2-29.svg"/><Relationship Id="rId30" Type="http://schemas.openxmlformats.org/officeDocument/2006/relationships/image" Target="../media/image-2-30.png"/><Relationship Id="rId31" Type="http://schemas.openxmlformats.org/officeDocument/2006/relationships/image" Target="../media/image-2-31.svg"/><Relationship Id="rId32" Type="http://schemas.openxmlformats.org/officeDocument/2006/relationships/image" Target="../media/image-2-32.png"/><Relationship Id="rId33" Type="http://schemas.openxmlformats.org/officeDocument/2006/relationships/image" Target="../media/image-2-33.svg"/><Relationship Id="rId34" Type="http://schemas.openxmlformats.org/officeDocument/2006/relationships/image" Target="../media/image-2-34.png"/><Relationship Id="rId35" Type="http://schemas.openxmlformats.org/officeDocument/2006/relationships/image" Target="../media/image-2-35.svg"/><Relationship Id="rId36" Type="http://schemas.openxmlformats.org/officeDocument/2006/relationships/image" Target="../media/image-2-36.png"/><Relationship Id="rId37" Type="http://schemas.openxmlformats.org/officeDocument/2006/relationships/image" Target="../media/image-2-37.sv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image" Target="../media/image-4-18.png"/><Relationship Id="rId19" Type="http://schemas.openxmlformats.org/officeDocument/2006/relationships/image" Target="../media/image-4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svg"/><Relationship Id="rId18" Type="http://schemas.openxmlformats.org/officeDocument/2006/relationships/image" Target="../media/image-7-18.png"/><Relationship Id="rId19" Type="http://schemas.openxmlformats.org/officeDocument/2006/relationships/image" Target="../media/image-7-19.svg"/><Relationship Id="rId20" Type="http://schemas.openxmlformats.org/officeDocument/2006/relationships/image" Target="../media/image-7-20.png"/><Relationship Id="rId21" Type="http://schemas.openxmlformats.org/officeDocument/2006/relationships/image" Target="../media/image-7-21.svg"/><Relationship Id="rId22" Type="http://schemas.openxmlformats.org/officeDocument/2006/relationships/image" Target="../media/image-7-22.png"/><Relationship Id="rId23" Type="http://schemas.openxmlformats.org/officeDocument/2006/relationships/image" Target="../media/image-7-23.sv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image" Target="../media/image-8-14.png"/><Relationship Id="rId15" Type="http://schemas.openxmlformats.org/officeDocument/2006/relationships/image" Target="../media/image-8-15.svg"/><Relationship Id="rId16" Type="http://schemas.openxmlformats.org/officeDocument/2006/relationships/image" Target="../media/image-8-16.png"/><Relationship Id="rId17" Type="http://schemas.openxmlformats.org/officeDocument/2006/relationships/image" Target="../media/image-8-17.svg"/><Relationship Id="rId18" Type="http://schemas.openxmlformats.org/officeDocument/2006/relationships/image" Target="../media/image-8-18.png"/><Relationship Id="rId19" Type="http://schemas.openxmlformats.org/officeDocument/2006/relationships/image" Target="../media/image-8-19.svg"/><Relationship Id="rId20" Type="http://schemas.openxmlformats.org/officeDocument/2006/relationships/image" Target="../media/image-8-20.png"/><Relationship Id="rId21" Type="http://schemas.openxmlformats.org/officeDocument/2006/relationships/image" Target="../media/image-8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3/for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822960"/>
            <a:ext cx="12191695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16200000">
              <a:srgbClr val="C8820A">
                <a:alpha val="5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spc="100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ANFÄNGE</a:t>
            </a:r>
            <a:endParaRPr lang="en-US" sz="6800" dirty="0"/>
          </a:p>
        </p:txBody>
      </p:sp>
      <p:sp>
        <p:nvSpPr>
          <p:cNvPr id="6" name="Text 1"/>
          <p:cNvSpPr/>
          <p:nvPr/>
        </p:nvSpPr>
        <p:spPr>
          <a:xfrm>
            <a:off x="0" y="1783080"/>
            <a:ext cx="12191695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C8820A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spc="8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KIRCHE IN DER ANTIKE</a:t>
            </a:r>
            <a:endParaRPr lang="en-US" sz="26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28754" y="2578608"/>
            <a:ext cx="8534187" cy="3200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463003" y="2788920"/>
            <a:ext cx="92656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12 Fischer aus Galiläa in 300 Jahren die größte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der Welt begründeten — und dabei das Römische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 überlebten.</a:t>
            </a:r>
            <a:endParaRPr lang="en-US" sz="15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28754" y="3886200"/>
            <a:ext cx="8534187" cy="3200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828754" y="4023360"/>
            <a:ext cx="2844729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3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 n. Chr.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1828754" y="4434840"/>
            <a:ext cx="28447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 in Jerusalem</a:t>
            </a:r>
            <a:endParaRPr lang="en-US" sz="1100" dirty="0"/>
          </a:p>
        </p:txBody>
      </p:sp>
      <p:sp>
        <p:nvSpPr>
          <p:cNvPr id="12" name="Text 5"/>
          <p:cNvSpPr/>
          <p:nvPr/>
        </p:nvSpPr>
        <p:spPr>
          <a:xfrm>
            <a:off x="4673483" y="4023360"/>
            <a:ext cx="2844729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3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313 n. Chr.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4673483" y="4434840"/>
            <a:ext cx="28447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Religionsfreiheit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7518212" y="4023360"/>
            <a:ext cx="2844729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3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380 n. Chr.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7518212" y="4434840"/>
            <a:ext cx="28447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Staatsreligion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0" y="6492240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SCHULPRÄSENTATION — KLASSE 11/12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3/parthenon_r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320" y="237744"/>
            <a:ext cx="2560320" cy="24688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74320" y="594360"/>
            <a:ext cx="5242429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16200000">
              <a:srgbClr val="C8820A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welcher Welt entstand das Christentum?</a:t>
            </a:r>
            <a:endParaRPr lang="en-US" sz="2000" dirty="0"/>
          </a:p>
        </p:txBody>
      </p:sp>
      <p:sp>
        <p:nvSpPr>
          <p:cNvPr id="8" name="Text 2"/>
          <p:cNvSpPr/>
          <p:nvPr/>
        </p:nvSpPr>
        <p:spPr>
          <a:xfrm>
            <a:off x="274320" y="1207008"/>
            <a:ext cx="52424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Millionen Menschen, tausende Götter — und kein Platz für persönlichen Glauben. Das Christentum betrat eine Welt voller religiöser Pflicht, nicht religiöser Freiheit.</a:t>
            </a:r>
            <a:endParaRPr lang="en-US" sz="1250" dirty="0"/>
          </a:p>
        </p:txBody>
      </p:sp>
      <p:sp>
        <p:nvSpPr>
          <p:cNvPr id="9" name="Shape 3"/>
          <p:cNvSpPr/>
          <p:nvPr/>
        </p:nvSpPr>
        <p:spPr>
          <a:xfrm>
            <a:off x="274320" y="2084832"/>
            <a:ext cx="5242429" cy="1243584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3200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274320" y="2084832"/>
            <a:ext cx="5242429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336" y="2212848"/>
            <a:ext cx="475488" cy="21945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50976" y="2194560"/>
            <a:ext cx="416343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POLYTHEISMUS</a:t>
            </a:r>
            <a:endParaRPr lang="en-US" sz="10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2336" y="2505456"/>
            <a:ext cx="4986397" cy="2011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02336" y="2615184"/>
            <a:ext cx="498639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Götter — für jeden Bach, Beruf und jede Stadt. Glaube war öffentliche Pflicht, keine persönliche Wahl.</a:t>
            </a:r>
            <a:endParaRPr lang="en-US" sz="1150" dirty="0"/>
          </a:p>
        </p:txBody>
      </p:sp>
      <p:sp>
        <p:nvSpPr>
          <p:cNvPr id="15" name="Shape 7"/>
          <p:cNvSpPr/>
          <p:nvPr/>
        </p:nvSpPr>
        <p:spPr>
          <a:xfrm>
            <a:off x="274320" y="3474720"/>
            <a:ext cx="5242429" cy="1243584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32000"/>
              </a:srgbClr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274320" y="3474720"/>
            <a:ext cx="5242429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2336" y="3602736"/>
            <a:ext cx="475488" cy="21945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50976" y="3584448"/>
            <a:ext cx="416343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KAISERKULT</a:t>
            </a:r>
            <a:endParaRPr lang="en-US" sz="10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2336" y="3895344"/>
            <a:ext cx="4986397" cy="2011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02336" y="4005072"/>
            <a:ext cx="498639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Kaiser als Gott zu verehren war Gesetz. Pontifex Maximus — oberster Priester und Herrscher in einem.</a:t>
            </a:r>
            <a:endParaRPr lang="en-US" sz="1150" dirty="0"/>
          </a:p>
        </p:txBody>
      </p:sp>
      <p:sp>
        <p:nvSpPr>
          <p:cNvPr id="21" name="Shape 11"/>
          <p:cNvSpPr/>
          <p:nvPr/>
        </p:nvSpPr>
        <p:spPr>
          <a:xfrm>
            <a:off x="274320" y="4864608"/>
            <a:ext cx="5242429" cy="1243584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32000"/>
              </a:srgbClr>
            </a:solidFill>
            <a:prstDash val="solid"/>
          </a:ln>
        </p:spPr>
      </p:sp>
      <p:sp>
        <p:nvSpPr>
          <p:cNvPr id="22" name="Shape 12"/>
          <p:cNvSpPr/>
          <p:nvPr/>
        </p:nvSpPr>
        <p:spPr>
          <a:xfrm>
            <a:off x="274320" y="4864608"/>
            <a:ext cx="5242429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2336" y="4992624"/>
            <a:ext cx="475488" cy="219456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950976" y="4974336"/>
            <a:ext cx="416343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PAX ROMANA &amp; INFRASTRUKTUR</a:t>
            </a:r>
            <a:endParaRPr lang="en-US" sz="10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02336" y="5285232"/>
            <a:ext cx="4986397" cy="20117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402336" y="5394960"/>
            <a:ext cx="498639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km Straßen, eine Amtssprache, offene Grenzen. Was für Legionen gebaut wurde, nutzten Missionare.</a:t>
            </a:r>
            <a:endParaRPr lang="en-US" sz="1150" dirty="0"/>
          </a:p>
        </p:txBody>
      </p:sp>
      <p:sp>
        <p:nvSpPr>
          <p:cNvPr id="27" name="Shape 15"/>
          <p:cNvSpPr/>
          <p:nvPr/>
        </p:nvSpPr>
        <p:spPr>
          <a:xfrm>
            <a:off x="5547221" y="237744"/>
            <a:ext cx="0" cy="6382512"/>
          </a:xfrm>
          <a:prstGeom prst="line">
            <a:avLst/>
          </a:prstGeom>
          <a:noFill/>
          <a:ln w="10160">
            <a:solidFill>
              <a:srgbClr val="6B4A0F">
                <a:alpha val="60000"/>
              </a:srgbClr>
            </a:solidFill>
            <a:prstDash val="solid"/>
          </a:ln>
        </p:spPr>
      </p:sp>
      <p:sp>
        <p:nvSpPr>
          <p:cNvPr id="28" name="Shape 16"/>
          <p:cNvSpPr/>
          <p:nvPr/>
        </p:nvSpPr>
        <p:spPr>
          <a:xfrm>
            <a:off x="5754480" y="237744"/>
            <a:ext cx="6181183" cy="365760"/>
          </a:xfrm>
          <a:prstGeom prst="rect">
            <a:avLst/>
          </a:prstGeom>
          <a:solidFill>
            <a:srgbClr val="C8820A">
              <a:alpha val="28000"/>
            </a:srgbClr>
          </a:solidFill>
          <a:ln w="10160">
            <a:solidFill>
              <a:srgbClr val="C8820A">
                <a:alpha val="65000"/>
              </a:srgbClr>
            </a:solidFill>
            <a:prstDash val="solid"/>
          </a:ln>
        </p:spPr>
      </p:sp>
      <p:sp>
        <p:nvSpPr>
          <p:cNvPr id="29" name="Text 17"/>
          <p:cNvSpPr/>
          <p:nvPr/>
        </p:nvSpPr>
        <p:spPr>
          <a:xfrm>
            <a:off x="5845920" y="256032"/>
            <a:ext cx="59983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GRIECHEN — DAS BEKANNTESTE BEISPIEL</a:t>
            </a:r>
            <a:endParaRPr lang="en-US" sz="1050" dirty="0"/>
          </a:p>
        </p:txBody>
      </p:sp>
      <p:sp>
        <p:nvSpPr>
          <p:cNvPr id="30" name="Text 18"/>
          <p:cNvSpPr/>
          <p:nvPr/>
        </p:nvSpPr>
        <p:spPr>
          <a:xfrm>
            <a:off x="5754480" y="694944"/>
            <a:ext cx="6181183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C8820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"Ohne Alexander den Großen hätte Paulus in Athen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einen Dolmetscher gebraucht."</a:t>
            </a:r>
            <a:endParaRPr lang="en-US" sz="14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754480" y="1572768"/>
            <a:ext cx="6181183" cy="32004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5754480" y="1737360"/>
            <a:ext cx="3017440" cy="2084832"/>
          </a:xfrm>
          <a:prstGeom prst="rect">
            <a:avLst/>
          </a:prstGeom>
          <a:solidFill>
            <a:srgbClr val="0F0B07">
              <a:alpha val="92000"/>
            </a:srgbClr>
          </a:solidFill>
          <a:ln w="10160">
            <a:solidFill>
              <a:srgbClr val="C8820A">
                <a:alpha val="40000"/>
              </a:srgbClr>
            </a:solidFill>
            <a:prstDash val="solid"/>
          </a:ln>
        </p:spPr>
      </p:sp>
      <p:sp>
        <p:nvSpPr>
          <p:cNvPr id="33" name="Shape 20"/>
          <p:cNvSpPr/>
          <p:nvPr/>
        </p:nvSpPr>
        <p:spPr>
          <a:xfrm>
            <a:off x="5754480" y="1737360"/>
            <a:ext cx="3017440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34" name="Shape 21"/>
          <p:cNvSpPr/>
          <p:nvPr/>
        </p:nvSpPr>
        <p:spPr>
          <a:xfrm>
            <a:off x="5754480" y="1737360"/>
            <a:ext cx="3017440" cy="43891"/>
          </a:xfrm>
          <a:prstGeom prst="rect">
            <a:avLst/>
          </a:prstGeom>
          <a:solidFill>
            <a:srgbClr val="D9A441">
              <a:alpha val="75000"/>
            </a:srgbClr>
          </a:solidFill>
          <a:ln/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89464" y="1847088"/>
            <a:ext cx="347472" cy="34747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827632" y="2286000"/>
            <a:ext cx="287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KOINE-GRIECHISCH</a:t>
            </a:r>
            <a:endParaRPr lang="en-US" sz="9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882496" y="2670048"/>
            <a:ext cx="2761408" cy="1828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845920" y="2779776"/>
            <a:ext cx="2834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(323 v.Chr.) hinterlässt eine Weltsprache. Das NT wird auf Griechisch verfasst — nicht auf Jesu Aramäisch.</a:t>
            </a:r>
            <a:endParaRPr lang="en-US" sz="1100" dirty="0"/>
          </a:p>
        </p:txBody>
      </p:sp>
      <p:sp>
        <p:nvSpPr>
          <p:cNvPr id="39" name="Shape 24"/>
          <p:cNvSpPr/>
          <p:nvPr/>
        </p:nvSpPr>
        <p:spPr>
          <a:xfrm>
            <a:off x="8918224" y="1737360"/>
            <a:ext cx="3017440" cy="2084832"/>
          </a:xfrm>
          <a:prstGeom prst="rect">
            <a:avLst/>
          </a:prstGeom>
          <a:solidFill>
            <a:srgbClr val="0F0B07">
              <a:alpha val="92000"/>
            </a:srgbClr>
          </a:solidFill>
          <a:ln w="10160">
            <a:solidFill>
              <a:srgbClr val="C8820A">
                <a:alpha val="40000"/>
              </a:srgbClr>
            </a:solidFill>
            <a:prstDash val="solid"/>
          </a:ln>
        </p:spPr>
      </p:sp>
      <p:sp>
        <p:nvSpPr>
          <p:cNvPr id="40" name="Shape 25"/>
          <p:cNvSpPr/>
          <p:nvPr/>
        </p:nvSpPr>
        <p:spPr>
          <a:xfrm>
            <a:off x="8918224" y="1737360"/>
            <a:ext cx="3017440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41" name="Shape 26"/>
          <p:cNvSpPr/>
          <p:nvPr/>
        </p:nvSpPr>
        <p:spPr>
          <a:xfrm>
            <a:off x="8918224" y="1737360"/>
            <a:ext cx="3017440" cy="43891"/>
          </a:xfrm>
          <a:prstGeom prst="rect">
            <a:avLst/>
          </a:prstGeom>
          <a:solidFill>
            <a:srgbClr val="D9A441">
              <a:alpha val="75000"/>
            </a:srgbClr>
          </a:solidFill>
          <a:ln/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53207" y="1847088"/>
            <a:ext cx="347472" cy="347472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8991376" y="2286000"/>
            <a:ext cx="287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SEPTUAGINTA</a:t>
            </a:r>
            <a:endParaRPr lang="en-US" sz="95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46240" y="2670048"/>
            <a:ext cx="2761408" cy="18288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9009664" y="2779776"/>
            <a:ext cx="2834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v.Chr.: Das AT auf Griechisch. Das theologische Fundament des NT existiert schon Jahrhunderte vor Christus.</a:t>
            </a:r>
            <a:endParaRPr lang="en-US" sz="1100" dirty="0"/>
          </a:p>
        </p:txBody>
      </p:sp>
      <p:sp>
        <p:nvSpPr>
          <p:cNvPr id="46" name="Shape 29"/>
          <p:cNvSpPr/>
          <p:nvPr/>
        </p:nvSpPr>
        <p:spPr>
          <a:xfrm>
            <a:off x="5754480" y="3968496"/>
            <a:ext cx="3017440" cy="2084832"/>
          </a:xfrm>
          <a:prstGeom prst="rect">
            <a:avLst/>
          </a:prstGeom>
          <a:solidFill>
            <a:srgbClr val="0F0B07">
              <a:alpha val="92000"/>
            </a:srgbClr>
          </a:solidFill>
          <a:ln w="10160">
            <a:solidFill>
              <a:srgbClr val="C8820A">
                <a:alpha val="40000"/>
              </a:srgbClr>
            </a:solidFill>
            <a:prstDash val="solid"/>
          </a:ln>
        </p:spPr>
      </p:sp>
      <p:sp>
        <p:nvSpPr>
          <p:cNvPr id="47" name="Shape 30"/>
          <p:cNvSpPr/>
          <p:nvPr/>
        </p:nvSpPr>
        <p:spPr>
          <a:xfrm>
            <a:off x="5754480" y="3968496"/>
            <a:ext cx="3017440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5754480" y="3968496"/>
            <a:ext cx="3017440" cy="43891"/>
          </a:xfrm>
          <a:prstGeom prst="rect">
            <a:avLst/>
          </a:prstGeom>
          <a:solidFill>
            <a:srgbClr val="D9A441">
              <a:alpha val="75000"/>
            </a:srgbClr>
          </a:solidFill>
          <a:ln/>
        </p:spPr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089464" y="4078224"/>
            <a:ext cx="347472" cy="347472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5827632" y="4517136"/>
            <a:ext cx="287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STÄDTENETZ</a:t>
            </a:r>
            <a:endParaRPr lang="en-US" sz="950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882496" y="4901184"/>
            <a:ext cx="2761408" cy="18288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5845920" y="5010912"/>
            <a:ext cx="2834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Antiochia · Ephesus · Alexandria. Alexanders Handelsstädte werden Paulus’ Missionsstützpunkte.</a:t>
            </a:r>
            <a:endParaRPr lang="en-US" sz="1100" dirty="0"/>
          </a:p>
        </p:txBody>
      </p:sp>
      <p:sp>
        <p:nvSpPr>
          <p:cNvPr id="53" name="Shape 34"/>
          <p:cNvSpPr/>
          <p:nvPr/>
        </p:nvSpPr>
        <p:spPr>
          <a:xfrm>
            <a:off x="8918224" y="3968496"/>
            <a:ext cx="3017440" cy="2084832"/>
          </a:xfrm>
          <a:prstGeom prst="rect">
            <a:avLst/>
          </a:prstGeom>
          <a:solidFill>
            <a:srgbClr val="0F0B07">
              <a:alpha val="92000"/>
            </a:srgbClr>
          </a:solidFill>
          <a:ln w="10160">
            <a:solidFill>
              <a:srgbClr val="C8820A">
                <a:alpha val="40000"/>
              </a:srgbClr>
            </a:solidFill>
            <a:prstDash val="solid"/>
          </a:ln>
        </p:spPr>
      </p:sp>
      <p:sp>
        <p:nvSpPr>
          <p:cNvPr id="54" name="Shape 35"/>
          <p:cNvSpPr/>
          <p:nvPr/>
        </p:nvSpPr>
        <p:spPr>
          <a:xfrm>
            <a:off x="8918224" y="3968496"/>
            <a:ext cx="3017440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55" name="Shape 36"/>
          <p:cNvSpPr/>
          <p:nvPr/>
        </p:nvSpPr>
        <p:spPr>
          <a:xfrm>
            <a:off x="8918224" y="3968496"/>
            <a:ext cx="3017440" cy="43891"/>
          </a:xfrm>
          <a:prstGeom prst="rect">
            <a:avLst/>
          </a:prstGeom>
          <a:solidFill>
            <a:srgbClr val="D9A441">
              <a:alpha val="75000"/>
            </a:srgbClr>
          </a:solidFill>
          <a:ln/>
        </p:spPr>
      </p:sp>
      <p:pic>
        <p:nvPicPr>
          <p:cNvPr id="56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253207" y="4078224"/>
            <a:ext cx="347472" cy="347472"/>
          </a:xfrm>
          <a:prstGeom prst="rect">
            <a:avLst/>
          </a:prstGeom>
        </p:spPr>
      </p:pic>
      <p:sp>
        <p:nvSpPr>
          <p:cNvPr id="57" name="Text 37"/>
          <p:cNvSpPr/>
          <p:nvPr/>
        </p:nvSpPr>
        <p:spPr>
          <a:xfrm>
            <a:off x="8991376" y="4517136"/>
            <a:ext cx="287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LOGOS-BEGRIFF</a:t>
            </a:r>
            <a:endParaRPr lang="en-US" sz="950" dirty="0"/>
          </a:p>
        </p:txBody>
      </p:sp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046240" y="4901184"/>
            <a:ext cx="2761408" cy="18288"/>
          </a:xfrm>
          <a:prstGeom prst="rect">
            <a:avLst/>
          </a:prstGeom>
        </p:spPr>
      </p:pic>
      <p:sp>
        <p:nvSpPr>
          <p:cNvPr id="59" name="Text 38"/>
          <p:cNvSpPr/>
          <p:nvPr/>
        </p:nvSpPr>
        <p:spPr>
          <a:xfrm>
            <a:off x="9009664" y="5010912"/>
            <a:ext cx="2834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Platon &amp; die Stoa: "Logos" = göttliches Vernunftprinzip. Johannes übernimmt es: "Im Anfang war das Wort." (Joh 1,1)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3/ark_jesu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320" y="256032"/>
            <a:ext cx="2011680" cy="24688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92608" y="640080"/>
            <a:ext cx="5730097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 n. Chr.</a:t>
            </a:r>
            <a:endParaRPr lang="en-US" sz="1400" dirty="0"/>
          </a:p>
        </p:txBody>
      </p:sp>
      <p:sp>
        <p:nvSpPr>
          <p:cNvPr id="8" name="Text 2"/>
          <p:cNvSpPr/>
          <p:nvPr/>
        </p:nvSpPr>
        <p:spPr>
          <a:xfrm>
            <a:off x="292608" y="1115568"/>
            <a:ext cx="5852014" cy="13258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16200000">
              <a:srgbClr val="C8820A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Wanderprediger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 Galiläa wird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hingerichtet.</a:t>
            </a:r>
            <a:endParaRPr lang="en-US" sz="30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608" y="2578608"/>
            <a:ext cx="5364346" cy="3200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92608" y="2724912"/>
            <a:ext cx="56081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Tage später behaupten seine Anhänger: Er ist zurück.</a:t>
            </a:r>
            <a:endParaRPr lang="en-US" sz="13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Behauptung verändert die Weltgeschichte.</a:t>
            </a:r>
            <a:endParaRPr lang="en-US" sz="1350" dirty="0"/>
          </a:p>
        </p:txBody>
      </p:sp>
      <p:sp>
        <p:nvSpPr>
          <p:cNvPr id="11" name="Shape 4"/>
          <p:cNvSpPr/>
          <p:nvPr/>
        </p:nvSpPr>
        <p:spPr>
          <a:xfrm>
            <a:off x="292608" y="3566160"/>
            <a:ext cx="5364346" cy="1143000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200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292608" y="3566160"/>
            <a:ext cx="5364346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3" name="Text 6"/>
          <p:cNvSpPr/>
          <p:nvPr/>
        </p:nvSpPr>
        <p:spPr>
          <a:xfrm>
            <a:off x="420624" y="3630168"/>
            <a:ext cx="48766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 GESICHERT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420624" y="3904488"/>
            <a:ext cx="48766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Kreuzigung ist historisch gut belegt (Tacitus Ann. 15,44 · Josephus Ant. 18,3). Die Auferstehung ist Glaubensfrage — historisch können wir nur sagen: etwas hat die Jünger so überzeugt, dass sie dafür ihr Leben riskierten.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6095848" y="256032"/>
            <a:ext cx="582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ERSTE GEMEINDE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6095848" y="658368"/>
            <a:ext cx="5821528" cy="138988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3500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6095848" y="658368"/>
            <a:ext cx="582152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6233008" y="749808"/>
            <a:ext cx="5638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JERUSALEM, ca. 33–40 n. Chr.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3008" y="1060704"/>
            <a:ext cx="5638648" cy="182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33008" y="1170432"/>
            <a:ext cx="56843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Apostel als Zeugen. Gemeinschaft aus ~120 Anhängern (Apg 1,15). Gütergemeinschaft — ein radikales soziales Experiment.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6095848" y="2176272"/>
            <a:ext cx="5821528" cy="138988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3500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095848" y="2176272"/>
            <a:ext cx="582152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3" name="Text 15"/>
          <p:cNvSpPr/>
          <p:nvPr/>
        </p:nvSpPr>
        <p:spPr>
          <a:xfrm>
            <a:off x="6233008" y="2267712"/>
            <a:ext cx="5638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GRIECHISCHE DIASPORA</a:t>
            </a:r>
            <a:endParaRPr lang="en-US" sz="10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33008" y="2578608"/>
            <a:ext cx="5638648" cy="182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33008" y="2688336"/>
            <a:ext cx="56843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Stephanus, der erste Märtyrer (Apg 7), gehört zur griechischsprachigen Gruppe. Spannungen entstehen — die Kirche ist von Anfang an divers.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095848" y="3694176"/>
            <a:ext cx="5821528" cy="138988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35000"/>
              </a:srgbClr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6095848" y="3694176"/>
            <a:ext cx="582152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8" name="Text 19"/>
          <p:cNvSpPr/>
          <p:nvPr/>
        </p:nvSpPr>
        <p:spPr>
          <a:xfrm>
            <a:off x="6233008" y="3785616"/>
            <a:ext cx="5638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ANTIOCHIEN, ca. 43 n. Chr.</a:t>
            </a:r>
            <a:endParaRPr lang="en-US" sz="10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33008" y="4096512"/>
            <a:ext cx="5638648" cy="1828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233008" y="4206240"/>
            <a:ext cx="56843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werden die Anhänger Jesu erstmals "Christen" genannt. Der Name bleibt — und mit ihm die Mission.</a:t>
            </a:r>
            <a:endParaRPr lang="en-US" sz="1150" dirty="0"/>
          </a:p>
        </p:txBody>
      </p:sp>
      <p:sp>
        <p:nvSpPr>
          <p:cNvPr id="31" name="Shape 21"/>
          <p:cNvSpPr/>
          <p:nvPr/>
        </p:nvSpPr>
        <p:spPr>
          <a:xfrm>
            <a:off x="6095848" y="5212080"/>
            <a:ext cx="5821528" cy="138988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3500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095848" y="5212080"/>
            <a:ext cx="582152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33" name="Text 23"/>
          <p:cNvSpPr/>
          <p:nvPr/>
        </p:nvSpPr>
        <p:spPr>
          <a:xfrm>
            <a:off x="6233008" y="5303520"/>
            <a:ext cx="5638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APOSTELKONZIL, 48/49 n. Chr.</a:t>
            </a:r>
            <a:endParaRPr lang="en-US" sz="105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33008" y="5614416"/>
            <a:ext cx="5638648" cy="1828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233008" y="5724144"/>
            <a:ext cx="56843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Schicksalsfrage: Muss man erst Jude werden, um Christ sein zu können? Paulus setzt sich durch: Nein. Das Christentum öffnet sich der Welt.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3/desert_paulu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320" y="256032"/>
            <a:ext cx="2194560" cy="24688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92608" y="621792"/>
            <a:ext cx="5486263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Architekt.</a:t>
            </a:r>
            <a:endParaRPr lang="en-US" sz="3600" dirty="0"/>
          </a:p>
        </p:txBody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608" y="1234440"/>
            <a:ext cx="5364346" cy="3200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292608" y="1353312"/>
            <a:ext cx="536434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Saulus von Tarsus (ca. 5–67 n. Chr.) — gebildeter Jude, römischer Bürger, zunächst Christenverfolger. Nach einer Vision auf dem Weg nach Damaskus (ca. 35 n. Chr.) schreibt er 13 NT-Bücher und bereist das halbe Mittelmeer. Ohne je Jesus persönlich getroffen zu haben.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292608" y="2423160"/>
            <a:ext cx="53643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Missionsreisen · 13 NT-Briefe · nie Jesus persönlich getroffen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292608" y="2788920"/>
            <a:ext cx="5364346" cy="1170432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000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292608" y="2788920"/>
            <a:ext cx="5364346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3" name="Text 6"/>
          <p:cNvSpPr/>
          <p:nvPr/>
        </p:nvSpPr>
        <p:spPr>
          <a:xfrm>
            <a:off x="411480" y="2852928"/>
            <a:ext cx="48766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PAULUS ENTSCHEIDEND WAR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411480" y="3127248"/>
            <a:ext cx="499859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Paulus: Christentum = jüdische Sekte in Judäa.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Paulus: Weltweite Bewegung mit Gemeinden von Jerusalem bis Rom.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Areopag-Rede in Athen: Er zitiert griechische Dichter, um Griechen zu erreichen — Inkulturation als Methode.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6095848" y="256032"/>
            <a:ext cx="582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PAULUS’ MISSIONSSTATIONEN (45–67 n. Chr.)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69000" y="713232"/>
            <a:ext cx="329184" cy="329184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333592" y="1042416"/>
            <a:ext cx="0" cy="768096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18" name="Text 10"/>
          <p:cNvSpPr/>
          <p:nvPr/>
        </p:nvSpPr>
        <p:spPr>
          <a:xfrm>
            <a:off x="6598768" y="694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ANTIOCHIA</a:t>
            </a:r>
            <a:endParaRPr lang="en-US" sz="1250" dirty="0"/>
          </a:p>
        </p:txBody>
      </p:sp>
      <p:sp>
        <p:nvSpPr>
          <p:cNvPr id="19" name="Text 11"/>
          <p:cNvSpPr/>
          <p:nvPr/>
        </p:nvSpPr>
        <p:spPr>
          <a:xfrm>
            <a:off x="6598768" y="969264"/>
            <a:ext cx="531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werden Anhänger Jesu erstmals "Christen" genannt (~45 n. Chr.).</a:t>
            </a:r>
            <a:endParaRPr lang="en-US" sz="11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69000" y="1847088"/>
            <a:ext cx="329184" cy="32918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333592" y="2176272"/>
            <a:ext cx="0" cy="768096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22" name="Text 13"/>
          <p:cNvSpPr/>
          <p:nvPr/>
        </p:nvSpPr>
        <p:spPr>
          <a:xfrm>
            <a:off x="6598768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ATHEN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6598768" y="2103120"/>
            <a:ext cx="531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Areopag-Rede: zitiert Epimenides &amp; Aratos. Trifft Philosophen auf ihrem eigenen Terrain.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69000" y="2980944"/>
            <a:ext cx="329184" cy="329184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6333592" y="3310128"/>
            <a:ext cx="0" cy="768096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26" name="Text 16"/>
          <p:cNvSpPr/>
          <p:nvPr/>
        </p:nvSpPr>
        <p:spPr>
          <a:xfrm>
            <a:off x="6598768" y="2962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KORINTH</a:t>
            </a:r>
            <a:endParaRPr lang="en-US" sz="1250" dirty="0"/>
          </a:p>
        </p:txBody>
      </p:sp>
      <p:sp>
        <p:nvSpPr>
          <p:cNvPr id="27" name="Text 17"/>
          <p:cNvSpPr/>
          <p:nvPr/>
        </p:nvSpPr>
        <p:spPr>
          <a:xfrm>
            <a:off x="6598768" y="3236976"/>
            <a:ext cx="531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Monate. Wichtigste Handelsstadt. Brief an die Korinther folgt Jahre später.</a:t>
            </a:r>
            <a:endParaRPr lang="en-US" sz="11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69000" y="4114800"/>
            <a:ext cx="329184" cy="329184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333592" y="4443984"/>
            <a:ext cx="0" cy="768096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30" name="Text 19"/>
          <p:cNvSpPr/>
          <p:nvPr/>
        </p:nvSpPr>
        <p:spPr>
          <a:xfrm>
            <a:off x="6598768" y="4096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EPHESUS</a:t>
            </a:r>
            <a:endParaRPr lang="en-US" sz="1250" dirty="0"/>
          </a:p>
        </p:txBody>
      </p:sp>
      <p:sp>
        <p:nvSpPr>
          <p:cNvPr id="31" name="Text 20"/>
          <p:cNvSpPr/>
          <p:nvPr/>
        </p:nvSpPr>
        <p:spPr>
          <a:xfrm>
            <a:off x="6598768" y="4370832"/>
            <a:ext cx="531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Jahre Mission gegen den Artemis-Kult. Beinahe-Aufstand der Silberschmiede.</a:t>
            </a:r>
            <a:endParaRPr lang="en-US" sz="11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69000" y="5248656"/>
            <a:ext cx="329184" cy="32918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598768" y="5230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</a:t>
            </a:r>
            <a:endParaRPr lang="en-US" sz="1250" dirty="0"/>
          </a:p>
        </p:txBody>
      </p:sp>
      <p:sp>
        <p:nvSpPr>
          <p:cNvPr id="34" name="Text 22"/>
          <p:cNvSpPr/>
          <p:nvPr/>
        </p:nvSpPr>
        <p:spPr>
          <a:xfrm>
            <a:off x="6598768" y="5504688"/>
            <a:ext cx="531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Stirbt dort ~67 n. Chr. unter Kaiser Nero. Sein Grab: unter dem Petersdom.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3/forest_persecu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9928" y="256032"/>
            <a:ext cx="3291840" cy="24688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0" y="621792"/>
            <a:ext cx="12191695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C8820A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"Wie tötet man eine Religion?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Antwort: Man kann nicht."</a:t>
            </a:r>
            <a:endParaRPr lang="en-US" sz="2800" dirty="0"/>
          </a:p>
        </p:txBody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3003" y="1920240"/>
            <a:ext cx="9265688" cy="3200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75336" y="2057400"/>
            <a:ext cx="10241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Christen weigerten sich, den Kaiser zu verehren. Das war politische Subversion.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Mal versuchte Rom, sie zu vernichten. Drei Mal scheiterte es.</a:t>
            </a:r>
            <a:endParaRPr lang="en-US" sz="1350" dirty="0"/>
          </a:p>
        </p:txBody>
      </p:sp>
      <p:sp>
        <p:nvSpPr>
          <p:cNvPr id="10" name="Shape 3"/>
          <p:cNvSpPr/>
          <p:nvPr/>
        </p:nvSpPr>
        <p:spPr>
          <a:xfrm>
            <a:off x="274320" y="2834640"/>
            <a:ext cx="3789578" cy="3419856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C8820A">
                <a:alpha val="15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274320" y="2834640"/>
            <a:ext cx="378957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2" name="Shape 5"/>
          <p:cNvSpPr/>
          <p:nvPr/>
        </p:nvSpPr>
        <p:spPr>
          <a:xfrm>
            <a:off x="274320" y="2834640"/>
            <a:ext cx="3789578" cy="50292"/>
          </a:xfrm>
          <a:prstGeom prst="rect">
            <a:avLst/>
          </a:prstGeom>
          <a:solidFill>
            <a:srgbClr val="A0421A">
              <a:alpha val="80000"/>
            </a:srgbClr>
          </a:solidFill>
          <a:ln/>
        </p:spPr>
      </p:sp>
      <p:sp>
        <p:nvSpPr>
          <p:cNvPr id="13" name="Text 6"/>
          <p:cNvSpPr/>
          <p:nvPr/>
        </p:nvSpPr>
        <p:spPr>
          <a:xfrm>
            <a:off x="411480" y="2962656"/>
            <a:ext cx="3515258" cy="38404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 n. Chr.</a:t>
            </a:r>
            <a:endParaRPr lang="en-US" sz="2000" dirty="0"/>
          </a:p>
        </p:txBody>
      </p:sp>
      <p:sp>
        <p:nvSpPr>
          <p:cNvPr id="14" name="Text 7"/>
          <p:cNvSpPr/>
          <p:nvPr/>
        </p:nvSpPr>
        <p:spPr>
          <a:xfrm>
            <a:off x="411480" y="3346704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NERO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411480" y="3621024"/>
            <a:ext cx="3515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erste Angriff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1480" y="3913632"/>
            <a:ext cx="3515258" cy="182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11480" y="4023360"/>
            <a:ext cx="351525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Brandstiftung als Vorwand. Christen im Kolosseum hingerichtet. Petrus und Paulus sterben in Rom.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4201058" y="2834640"/>
            <a:ext cx="3789578" cy="3419856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C8820A">
                <a:alpha val="15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4201058" y="2834640"/>
            <a:ext cx="378957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0" name="Shape 12"/>
          <p:cNvSpPr/>
          <p:nvPr/>
        </p:nvSpPr>
        <p:spPr>
          <a:xfrm>
            <a:off x="4201058" y="2834640"/>
            <a:ext cx="3789578" cy="50292"/>
          </a:xfrm>
          <a:prstGeom prst="rect">
            <a:avLst/>
          </a:prstGeom>
          <a:solidFill>
            <a:srgbClr val="A0421A">
              <a:alpha val="80000"/>
            </a:srgbClr>
          </a:solidFill>
          <a:ln/>
        </p:spPr>
      </p:sp>
      <p:sp>
        <p:nvSpPr>
          <p:cNvPr id="21" name="Text 13"/>
          <p:cNvSpPr/>
          <p:nvPr/>
        </p:nvSpPr>
        <p:spPr>
          <a:xfrm>
            <a:off x="4338218" y="2962656"/>
            <a:ext cx="3515258" cy="38404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n. Chr.</a:t>
            </a:r>
            <a:endParaRPr lang="en-US" sz="2000" dirty="0"/>
          </a:p>
        </p:txBody>
      </p:sp>
      <p:sp>
        <p:nvSpPr>
          <p:cNvPr id="22" name="Text 14"/>
          <p:cNvSpPr/>
          <p:nvPr/>
        </p:nvSpPr>
        <p:spPr>
          <a:xfrm>
            <a:off x="4338218" y="3346704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DECIUS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4338218" y="3621024"/>
            <a:ext cx="3515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Reichsverfolgung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38218" y="3913632"/>
            <a:ext cx="3515258" cy="182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338218" y="4023360"/>
            <a:ext cx="351525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Bürger muss dem Kaiser opfern und einen Nachweis vorlegen. Wer sich weigert, stirbt.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8127797" y="2834640"/>
            <a:ext cx="3789578" cy="3419856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C8820A">
                <a:alpha val="15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8127797" y="2834640"/>
            <a:ext cx="378957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8" name="Shape 19"/>
          <p:cNvSpPr/>
          <p:nvPr/>
        </p:nvSpPr>
        <p:spPr>
          <a:xfrm>
            <a:off x="8127797" y="2834640"/>
            <a:ext cx="3789578" cy="50292"/>
          </a:xfrm>
          <a:prstGeom prst="rect">
            <a:avLst/>
          </a:prstGeom>
          <a:solidFill>
            <a:srgbClr val="A0421A">
              <a:alpha val="80000"/>
            </a:srgbClr>
          </a:solidFill>
          <a:ln/>
        </p:spPr>
      </p:sp>
      <p:sp>
        <p:nvSpPr>
          <p:cNvPr id="29" name="Text 20"/>
          <p:cNvSpPr/>
          <p:nvPr/>
        </p:nvSpPr>
        <p:spPr>
          <a:xfrm>
            <a:off x="8264957" y="2962656"/>
            <a:ext cx="3515258" cy="38404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303 n. Chr.</a:t>
            </a:r>
            <a:endParaRPr lang="en-US" sz="2000" dirty="0"/>
          </a:p>
        </p:txBody>
      </p:sp>
      <p:sp>
        <p:nvSpPr>
          <p:cNvPr id="30" name="Text 21"/>
          <p:cNvSpPr/>
          <p:nvPr/>
        </p:nvSpPr>
        <p:spPr>
          <a:xfrm>
            <a:off x="8264957" y="3346704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DIOKLETIAN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8264957" y="3621024"/>
            <a:ext cx="3515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schwerste Welle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64957" y="3913632"/>
            <a:ext cx="3515258" cy="1828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264957" y="4023360"/>
            <a:ext cx="351525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Kirchen zerstört, Schriften verbrannt, Tausende getötet — kurz bevor Konstantin alles ändert.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0" y="6510528"/>
            <a:ext cx="12191695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C8820A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"Das Blut der Märtyrer ist Same der Kirche." — Tertullian, ~200 n. Chr.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3/colosseum_r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320" y="256032"/>
            <a:ext cx="2560320" cy="24688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92608" y="621792"/>
            <a:ext cx="5364346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16200000">
              <a:srgbClr val="C8820A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 n. Chr.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Kaiser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 einen Traum.</a:t>
            </a:r>
            <a:endParaRPr lang="en-US" sz="3000" dirty="0"/>
          </a:p>
        </p:txBody>
      </p:sp>
      <p:sp>
        <p:nvSpPr>
          <p:cNvPr id="8" name="Text 2"/>
          <p:cNvSpPr/>
          <p:nvPr/>
        </p:nvSpPr>
        <p:spPr>
          <a:xfrm>
            <a:off x="292608" y="2331720"/>
            <a:ext cx="536434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350 Jahre Christenverfolgung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enden innerhalb weniger Monate.</a:t>
            </a:r>
            <a:endParaRPr lang="en-US" sz="1500" dirty="0"/>
          </a:p>
        </p:txBody>
      </p:sp>
      <p:sp>
        <p:nvSpPr>
          <p:cNvPr id="9" name="Shape 3"/>
          <p:cNvSpPr/>
          <p:nvPr/>
        </p:nvSpPr>
        <p:spPr>
          <a:xfrm>
            <a:off x="292608" y="3154680"/>
            <a:ext cx="5364346" cy="120700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000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292608" y="3154680"/>
            <a:ext cx="5364346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1" name="Text 5"/>
          <p:cNvSpPr/>
          <p:nvPr/>
        </p:nvSpPr>
        <p:spPr>
          <a:xfrm>
            <a:off x="411480" y="3218688"/>
            <a:ext cx="48766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GENAU PASSIERTE?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411480" y="3502152"/>
            <a:ext cx="512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der Milvischen Brücke (312) soll Konstantin ein Kreuz-Symbol am Himmel gesehen haben: "In diesem Zeichen wirst du siegen." Das Chi-Rho-Symbol (☧) auf die Schilder gemalt — und er gewann. Ob echte Vision oder politisches Kalkül: die Folgen waren real.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6339682" y="256032"/>
            <a:ext cx="55776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SCHLÜSSELEREIGNISSE (312–325)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6339682" y="621792"/>
            <a:ext cx="5577694" cy="1755648"/>
          </a:xfrm>
          <a:prstGeom prst="rect">
            <a:avLst/>
          </a:prstGeom>
          <a:solidFill>
            <a:srgbClr val="0F0B07">
              <a:alpha val="92000"/>
            </a:srgbClr>
          </a:solidFill>
          <a:ln w="10160">
            <a:solidFill>
              <a:srgbClr val="C8820A">
                <a:alpha val="42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C8820A">
                <a:alpha val="1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6339682" y="621792"/>
            <a:ext cx="557769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6476842" y="731520"/>
            <a:ext cx="2011680" cy="329184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C8820A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 n. Chr.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476842" y="1078992"/>
            <a:ext cx="53948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MILVISCHE BRÜCKE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6842" y="1371600"/>
            <a:ext cx="5394814" cy="182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76842" y="1481328"/>
            <a:ext cx="544053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Konstantin siegt unter dem Chi-Rho. Er schreibt den Sieg dem christlichen Gott zu.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339682" y="2542032"/>
            <a:ext cx="5577694" cy="1755648"/>
          </a:xfrm>
          <a:prstGeom prst="rect">
            <a:avLst/>
          </a:prstGeom>
          <a:solidFill>
            <a:srgbClr val="0F0B07">
              <a:alpha val="92000"/>
            </a:srgbClr>
          </a:solidFill>
          <a:ln w="10160">
            <a:solidFill>
              <a:srgbClr val="C8820A">
                <a:alpha val="42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C8820A">
                <a:alpha val="1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339682" y="2542032"/>
            <a:ext cx="557769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6476842" y="2651760"/>
            <a:ext cx="2011680" cy="329184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C8820A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313 n. Chr.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6476842" y="2999232"/>
            <a:ext cx="53948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MAILÄNDER VEREINBARUNG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6842" y="3291840"/>
            <a:ext cx="5394814" cy="182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76842" y="3401568"/>
            <a:ext cx="544053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Religionsfreiheit für alle. Kirchen werden zurückgegeben. Christen dürfen offen leben.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339682" y="4462272"/>
            <a:ext cx="5577694" cy="1755648"/>
          </a:xfrm>
          <a:prstGeom prst="rect">
            <a:avLst/>
          </a:prstGeom>
          <a:solidFill>
            <a:srgbClr val="0F0B07">
              <a:alpha val="92000"/>
            </a:srgbClr>
          </a:solidFill>
          <a:ln w="10160">
            <a:solidFill>
              <a:srgbClr val="C8820A">
                <a:alpha val="42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C8820A">
                <a:alpha val="1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339682" y="4462272"/>
            <a:ext cx="557769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6476842" y="4572000"/>
            <a:ext cx="2011680" cy="329184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C8820A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325 n. Chr.</a:t>
            </a:r>
            <a:endParaRPr lang="en-US" sz="1800" dirty="0"/>
          </a:p>
        </p:txBody>
      </p:sp>
      <p:sp>
        <p:nvSpPr>
          <p:cNvPr id="29" name="Text 21"/>
          <p:cNvSpPr/>
          <p:nvPr/>
        </p:nvSpPr>
        <p:spPr>
          <a:xfrm>
            <a:off x="6476842" y="4919472"/>
            <a:ext cx="53948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KONZIL VON NICÄA</a:t>
            </a:r>
            <a:endParaRPr lang="en-US" sz="11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6842" y="5212080"/>
            <a:ext cx="5394814" cy="182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76842" y="5321808"/>
            <a:ext cx="544053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Reichssynode. Glaubensbekenntnis entsteht — bis heute in vielen Kirchen gesprochen.</a:t>
            </a:r>
            <a:endParaRPr lang="en-US" sz="12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4320" y="6382512"/>
            <a:ext cx="11643055" cy="1828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74320" y="6419088"/>
            <a:ext cx="116430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Verfolgten sitzen jetzt am Tisch des Kaisers. → Folie VI: Was passiert, wenn die Kirche die Macht bekommt?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3/cathedral_wen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320" y="256032"/>
            <a:ext cx="2560320" cy="24688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92608" y="621792"/>
            <a:ext cx="5486263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"Plötzlich ist es umgekehrt."</a:t>
            </a:r>
            <a:endParaRPr lang="en-US" sz="2800" dirty="0"/>
          </a:p>
        </p:txBody>
      </p:sp>
      <p:sp>
        <p:nvSpPr>
          <p:cNvPr id="8" name="Text 2"/>
          <p:cNvSpPr/>
          <p:nvPr/>
        </p:nvSpPr>
        <p:spPr>
          <a:xfrm>
            <a:off x="292608" y="1444752"/>
            <a:ext cx="560818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A0421A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NICHT Christ ist,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wird jetzt verfolgt.</a:t>
            </a:r>
            <a:endParaRPr lang="en-US" sz="18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608" y="2331720"/>
            <a:ext cx="5608180" cy="3200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92608" y="2468880"/>
            <a:ext cx="56081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Kirche war selbst Opfer gewesen. Mit staatlicher Macht wurde ein Teil von ihr zum Täter. Eine historische Ironie — und eine Warnung, die bis heute gilt.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292608" y="3337560"/>
            <a:ext cx="5608180" cy="1143000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A0421A">
                <a:alpha val="4200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292608" y="3337560"/>
            <a:ext cx="5608180" cy="18288"/>
          </a:xfrm>
          <a:prstGeom prst="rect">
            <a:avLst/>
          </a:prstGeom>
          <a:solidFill>
            <a:srgbClr val="A0421A">
              <a:alpha val="50000"/>
            </a:srgbClr>
          </a:solidFill>
          <a:ln/>
        </p:spPr>
      </p:sp>
      <p:sp>
        <p:nvSpPr>
          <p:cNvPr id="13" name="Text 6"/>
          <p:cNvSpPr/>
          <p:nvPr/>
        </p:nvSpPr>
        <p:spPr>
          <a:xfrm>
            <a:off x="411480" y="3401568"/>
            <a:ext cx="512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0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 ZU VERSTEHEN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411480" y="3694176"/>
            <a:ext cx="499859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Religionsfreiheit als Grundrecht ist eine direkte Reaktion auf diese Geschichte. Artikel 18 der UN-Menschenrechtserklärung existiert, weil Europa erlebt hat, was passiert, wenn der Staat Religion vorschreibt.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6339682" y="256032"/>
            <a:ext cx="56081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DER MACHTWENDE (313–529)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2834" y="704088"/>
            <a:ext cx="310896" cy="310896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568282" y="1014984"/>
            <a:ext cx="0" cy="530352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18" name="Text 10"/>
          <p:cNvSpPr/>
          <p:nvPr/>
        </p:nvSpPr>
        <p:spPr>
          <a:xfrm>
            <a:off x="6815170" y="6766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313 n. Chr.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8333074" y="676656"/>
            <a:ext cx="356601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Mailand: Religionsfreiheit. Christen dürfen offen existieren.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2834" y="1572768"/>
            <a:ext cx="310896" cy="310896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568282" y="1883664"/>
            <a:ext cx="0" cy="530352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22" name="Text 13"/>
          <p:cNvSpPr/>
          <p:nvPr/>
        </p:nvSpPr>
        <p:spPr>
          <a:xfrm>
            <a:off x="6815170" y="15453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321 n. Chr.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8333074" y="1545336"/>
            <a:ext cx="356601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Sonntag wird offizieller Ruhetag im Römischen Reich.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12834" y="2441448"/>
            <a:ext cx="310896" cy="310896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6568282" y="2752344"/>
            <a:ext cx="0" cy="530352"/>
          </a:xfrm>
          <a:prstGeom prst="line">
            <a:avLst/>
          </a:prstGeom>
          <a:noFill/>
          <a:ln w="12700">
            <a:solidFill>
              <a:srgbClr val="8B3A10"/>
            </a:solidFill>
            <a:prstDash val="dash"/>
          </a:ln>
        </p:spPr>
      </p:sp>
      <p:sp>
        <p:nvSpPr>
          <p:cNvPr id="26" name="Text 16"/>
          <p:cNvSpPr/>
          <p:nvPr/>
        </p:nvSpPr>
        <p:spPr>
          <a:xfrm>
            <a:off x="6815170" y="24140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380 n. Chr.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8333074" y="2414016"/>
            <a:ext cx="356601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Theodosius: Christentum = Staatsreligion. Andere Kulte = Ketzerei.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12834" y="3310128"/>
            <a:ext cx="310896" cy="310896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568282" y="3621024"/>
            <a:ext cx="0" cy="530352"/>
          </a:xfrm>
          <a:prstGeom prst="line">
            <a:avLst/>
          </a:prstGeom>
          <a:noFill/>
          <a:ln w="12700">
            <a:solidFill>
              <a:srgbClr val="8B3A10"/>
            </a:solidFill>
            <a:prstDash val="dash"/>
          </a:ln>
        </p:spPr>
      </p:sp>
      <p:sp>
        <p:nvSpPr>
          <p:cNvPr id="30" name="Text 19"/>
          <p:cNvSpPr/>
          <p:nvPr/>
        </p:nvSpPr>
        <p:spPr>
          <a:xfrm>
            <a:off x="6815170" y="32826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391 n. Chr.</a:t>
            </a:r>
            <a:endParaRPr lang="en-US" sz="1050" dirty="0"/>
          </a:p>
        </p:txBody>
      </p:sp>
      <p:sp>
        <p:nvSpPr>
          <p:cNvPr id="31" name="Text 20"/>
          <p:cNvSpPr/>
          <p:nvPr/>
        </p:nvSpPr>
        <p:spPr>
          <a:xfrm>
            <a:off x="8333074" y="3282696"/>
            <a:ext cx="356601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Heidnische Kulte verboten. Opfer für andere Götter = Hochverrat.</a:t>
            </a:r>
            <a:endParaRPr lang="en-US" sz="11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12834" y="4178808"/>
            <a:ext cx="310896" cy="310896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6568282" y="4489704"/>
            <a:ext cx="0" cy="530352"/>
          </a:xfrm>
          <a:prstGeom prst="line">
            <a:avLst/>
          </a:prstGeom>
          <a:noFill/>
          <a:ln w="12700">
            <a:solidFill>
              <a:srgbClr val="8B3A10"/>
            </a:solidFill>
            <a:prstDash val="dash"/>
          </a:ln>
        </p:spPr>
      </p:sp>
      <p:sp>
        <p:nvSpPr>
          <p:cNvPr id="34" name="Text 22"/>
          <p:cNvSpPr/>
          <p:nvPr/>
        </p:nvSpPr>
        <p:spPr>
          <a:xfrm>
            <a:off x="6815170" y="41513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393 n. Chr.</a:t>
            </a:r>
            <a:endParaRPr lang="en-US" sz="1050" dirty="0"/>
          </a:p>
        </p:txBody>
      </p:sp>
      <p:sp>
        <p:nvSpPr>
          <p:cNvPr id="35" name="Text 23"/>
          <p:cNvSpPr/>
          <p:nvPr/>
        </p:nvSpPr>
        <p:spPr>
          <a:xfrm>
            <a:off x="8333074" y="4151376"/>
            <a:ext cx="356601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 antike Olympische Spiele. Zeus-gewidmet — daher verboten.</a:t>
            </a:r>
            <a:endParaRPr lang="en-US" sz="11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12834" y="5047488"/>
            <a:ext cx="310896" cy="310896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6568282" y="5358384"/>
            <a:ext cx="0" cy="530352"/>
          </a:xfrm>
          <a:prstGeom prst="line">
            <a:avLst/>
          </a:prstGeom>
          <a:noFill/>
          <a:ln w="12700">
            <a:solidFill>
              <a:srgbClr val="8B3A10"/>
            </a:solidFill>
            <a:prstDash val="dash"/>
          </a:ln>
        </p:spPr>
      </p:sp>
      <p:sp>
        <p:nvSpPr>
          <p:cNvPr id="38" name="Text 25"/>
          <p:cNvSpPr/>
          <p:nvPr/>
        </p:nvSpPr>
        <p:spPr>
          <a:xfrm>
            <a:off x="6815170" y="50200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415 n. Chr.</a:t>
            </a:r>
            <a:endParaRPr lang="en-US" sz="1050" dirty="0"/>
          </a:p>
        </p:txBody>
      </p:sp>
      <p:sp>
        <p:nvSpPr>
          <p:cNvPr id="39" name="Text 26"/>
          <p:cNvSpPr/>
          <p:nvPr/>
        </p:nvSpPr>
        <p:spPr>
          <a:xfrm>
            <a:off x="8333074" y="5020056"/>
            <a:ext cx="356601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Hypatia, erste weibliche Philosophin, in Alexandria getötet.</a:t>
            </a:r>
            <a:endParaRPr lang="en-US" sz="11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12834" y="5916168"/>
            <a:ext cx="310896" cy="310896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815170" y="5888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529 n. Chr.</a:t>
            </a:r>
            <a:endParaRPr lang="en-US" sz="1050" dirty="0"/>
          </a:p>
        </p:txBody>
      </p:sp>
      <p:sp>
        <p:nvSpPr>
          <p:cNvPr id="42" name="Text 28"/>
          <p:cNvSpPr/>
          <p:nvPr/>
        </p:nvSpPr>
        <p:spPr>
          <a:xfrm>
            <a:off x="8333074" y="5888736"/>
            <a:ext cx="356601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 schließt Platons Akademie. Ende der antiken Philosophie.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3/great_wall_erb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18408" y="228600"/>
            <a:ext cx="4754880" cy="246888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320" y="621792"/>
            <a:ext cx="11643055" cy="18288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274320" y="713232"/>
            <a:ext cx="2865044" cy="1207008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30000"/>
              </a:srgbClr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274320" y="713232"/>
            <a:ext cx="286504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0" name="Shape 3"/>
          <p:cNvSpPr/>
          <p:nvPr/>
        </p:nvSpPr>
        <p:spPr>
          <a:xfrm>
            <a:off x="274320" y="713232"/>
            <a:ext cx="2865044" cy="36576"/>
          </a:xfrm>
          <a:prstGeom prst="rect">
            <a:avLst/>
          </a:prstGeom>
          <a:solidFill>
            <a:srgbClr val="D9A441">
              <a:alpha val="70000"/>
            </a:srgbClr>
          </a:solidFill>
          <a:ln/>
        </p:spPr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60538" y="786384"/>
            <a:ext cx="292608" cy="29260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329184" y="1170432"/>
            <a:ext cx="27553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SONNTAG</a:t>
            </a:r>
            <a:endParaRPr lang="en-US" sz="950" dirty="0"/>
          </a:p>
        </p:txBody>
      </p:sp>
      <p:sp>
        <p:nvSpPr>
          <p:cNvPr id="13" name="Text 5"/>
          <p:cNvSpPr/>
          <p:nvPr/>
        </p:nvSpPr>
        <p:spPr>
          <a:xfrm>
            <a:off x="329184" y="1426464"/>
            <a:ext cx="27553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Konstantin 321 n.Chr. — vorher normaler Arbeitstag</a:t>
            </a:r>
            <a:endParaRPr lang="en-US" sz="1000" dirty="0"/>
          </a:p>
        </p:txBody>
      </p:sp>
      <p:sp>
        <p:nvSpPr>
          <p:cNvPr id="14" name="Shape 6"/>
          <p:cNvSpPr/>
          <p:nvPr/>
        </p:nvSpPr>
        <p:spPr>
          <a:xfrm>
            <a:off x="3200629" y="713232"/>
            <a:ext cx="2865044" cy="1207008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30000"/>
              </a:srgbClr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3200629" y="713232"/>
            <a:ext cx="286504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6" name="Shape 8"/>
          <p:cNvSpPr/>
          <p:nvPr/>
        </p:nvSpPr>
        <p:spPr>
          <a:xfrm>
            <a:off x="3200629" y="713232"/>
            <a:ext cx="2865044" cy="36576"/>
          </a:xfrm>
          <a:prstGeom prst="rect">
            <a:avLst/>
          </a:prstGeom>
          <a:solidFill>
            <a:srgbClr val="D9A441">
              <a:alpha val="70000"/>
            </a:srgbClr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86846" y="786384"/>
            <a:ext cx="292608" cy="29260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255493" y="1170432"/>
            <a:ext cx="27553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KRANKENHAUS</a:t>
            </a:r>
            <a:endParaRPr lang="en-US" sz="950" dirty="0"/>
          </a:p>
        </p:txBody>
      </p:sp>
      <p:sp>
        <p:nvSpPr>
          <p:cNvPr id="19" name="Text 10"/>
          <p:cNvSpPr/>
          <p:nvPr/>
        </p:nvSpPr>
        <p:spPr>
          <a:xfrm>
            <a:off x="3255493" y="1426464"/>
            <a:ext cx="27553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Basilius von Cäsarea, ~370 n.Chr. — erste Klinik der Geschichte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6126937" y="713232"/>
            <a:ext cx="2865044" cy="1207008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30000"/>
              </a:srgbClr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6126937" y="713232"/>
            <a:ext cx="286504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2" name="Shape 13"/>
          <p:cNvSpPr/>
          <p:nvPr/>
        </p:nvSpPr>
        <p:spPr>
          <a:xfrm>
            <a:off x="6126937" y="713232"/>
            <a:ext cx="2865044" cy="36576"/>
          </a:xfrm>
          <a:prstGeom prst="rect">
            <a:avLst/>
          </a:prstGeom>
          <a:solidFill>
            <a:srgbClr val="D9A441">
              <a:alpha val="70000"/>
            </a:srgbClr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13155" y="786384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181801" y="1170432"/>
            <a:ext cx="27553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MENSCHENWÜRDE</a:t>
            </a:r>
            <a:endParaRPr lang="en-US" sz="950" dirty="0"/>
          </a:p>
        </p:txBody>
      </p:sp>
      <p:sp>
        <p:nvSpPr>
          <p:cNvPr id="25" name="Text 15"/>
          <p:cNvSpPr/>
          <p:nvPr/>
        </p:nvSpPr>
        <p:spPr>
          <a:xfrm>
            <a:off x="6181801" y="1426464"/>
            <a:ext cx="27553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Paulus, Gal 3,28: "Weder Sklave noch Freier" — für alle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9053246" y="713232"/>
            <a:ext cx="2865044" cy="1207008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30000"/>
              </a:srgbClr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9053246" y="713232"/>
            <a:ext cx="286504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8" name="Shape 18"/>
          <p:cNvSpPr/>
          <p:nvPr/>
        </p:nvSpPr>
        <p:spPr>
          <a:xfrm>
            <a:off x="9053246" y="713232"/>
            <a:ext cx="2865044" cy="36576"/>
          </a:xfrm>
          <a:prstGeom prst="rect">
            <a:avLst/>
          </a:prstGeom>
          <a:solidFill>
            <a:srgbClr val="D9A441">
              <a:alpha val="70000"/>
            </a:srgbClr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339464" y="786384"/>
            <a:ext cx="292608" cy="29260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108110" y="1170432"/>
            <a:ext cx="27553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KALENDER</a:t>
            </a:r>
            <a:endParaRPr lang="en-US" sz="950" dirty="0"/>
          </a:p>
        </p:txBody>
      </p:sp>
      <p:sp>
        <p:nvSpPr>
          <p:cNvPr id="31" name="Text 20"/>
          <p:cNvSpPr/>
          <p:nvPr/>
        </p:nvSpPr>
        <p:spPr>
          <a:xfrm>
            <a:off x="9108110" y="1426464"/>
            <a:ext cx="27553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Chr. / n. Chr. — unser Zeitmaß, weltweit</a:t>
            </a:r>
            <a:endParaRPr lang="en-US" sz="10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4320" y="2011680"/>
            <a:ext cx="11643055" cy="1828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0" y="2139696"/>
            <a:ext cx="121916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6B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ABSCHLUSSFRAGE —</a:t>
            </a:r>
            <a:endParaRPr lang="en-US" sz="1100" dirty="0"/>
          </a:p>
        </p:txBody>
      </p:sp>
      <p:sp>
        <p:nvSpPr>
          <p:cNvPr id="34" name="Text 22"/>
          <p:cNvSpPr/>
          <p:nvPr/>
        </p:nvSpPr>
        <p:spPr>
          <a:xfrm>
            <a:off x="731502" y="2487168"/>
            <a:ext cx="10728692" cy="2011680"/>
          </a:xfrm>
          <a:prstGeom prst="rect">
            <a:avLst/>
          </a:prstGeom>
          <a:noFill/>
          <a:ln/>
          <a:effectLst>
            <a:outerShdw sx="100000" sy="100000" kx="0" ky="0" algn="bl" rotWithShape="0" blurRad="330200" dist="50800" dir="16200000">
              <a:srgbClr val="C8820A">
                <a:alpha val="6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Wofür würdet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ihr heute sterben?</a:t>
            </a:r>
            <a:endParaRPr lang="en-US" sz="50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169841" y="4553712"/>
            <a:ext cx="5852014" cy="201168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975336" y="4809744"/>
            <a:ext cx="10241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C4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ersten Christen taten es — ohne Aussicht auf Belohnung in diesem Leben.</a:t>
            </a:r>
            <a:endParaRPr lang="en-US" sz="1550" dirty="0"/>
          </a:p>
        </p:txBody>
      </p:sp>
      <p:sp>
        <p:nvSpPr>
          <p:cNvPr id="37" name="Text 24"/>
          <p:cNvSpPr/>
          <p:nvPr/>
        </p:nvSpPr>
        <p:spPr>
          <a:xfrm>
            <a:off x="1219170" y="5285232"/>
            <a:ext cx="97533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Welche Idee, welcher Mensch, welcher Glaube wäre es euch wert?</a:t>
            </a:r>
            <a:endParaRPr lang="en-US" sz="1350" dirty="0"/>
          </a:p>
        </p:txBody>
      </p:sp>
      <p:sp>
        <p:nvSpPr>
          <p:cNvPr id="38" name="Text 25"/>
          <p:cNvSpPr/>
          <p:nvPr/>
        </p:nvSpPr>
        <p:spPr>
          <a:xfrm>
            <a:off x="1828754" y="5705856"/>
            <a:ext cx="853418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4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wenn nichts — was sagt das über unsere Zeit?</a:t>
            </a:r>
            <a:endParaRPr lang="en-US" sz="1200" dirty="0"/>
          </a:p>
        </p:txBody>
      </p:sp>
      <p:sp>
        <p:nvSpPr>
          <p:cNvPr id="39" name="Text 26"/>
          <p:cNvSpPr/>
          <p:nvPr/>
        </p:nvSpPr>
        <p:spPr>
          <a:xfrm>
            <a:off x="0" y="6565392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SCHULPRÄSENTATION • OBERSTUFE •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Anfänge der Kirche in der Antike</dc:title>
  <dc:subject>Geschichte • Religion • Antike</dc:subject>
  <dc:creator>Schulpräsentation Oberstufe 2026</dc:creator>
  <cp:lastModifiedBy>Schulpräsentation Oberstufe 2026</cp:lastModifiedBy>
  <cp:revision>1</cp:revision>
  <dcterms:created xsi:type="dcterms:W3CDTF">2026-05-28T05:43:01Z</dcterms:created>
  <dcterms:modified xsi:type="dcterms:W3CDTF">2026-05-28T05:43:01Z</dcterms:modified>
</cp:coreProperties>
</file>