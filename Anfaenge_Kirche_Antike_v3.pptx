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 (2–3 Min.)
• Einstiegsfrage: "Was wisst ihr über das frühe Christentum?" — Antworten sammeln.
• Kontext: 30 n. Chr. = winzige jüdische Randgruppe. 350 Jahre später = Staatsreligion.
• Die drei Daten (30 / 313 / 380) = die drei Akte — Folie für Folie werden wir sie durchgehen.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KONTEXT + GRIECHEN (4–5 Min.)
• Linke Seite: Polytheismus war NORMAL. Es waren die Christen, die als seltsam galten.
• GRIECHEN als bekanntestes Beispiel — das Bild im Hintergrund (Parthenon) sofort zeigen.
• Kernbotschaft: "Ohne die Griechen hätte Paulus in Athen einen Dolmetscher gebraucht."
• Koine-Griechisch: Das NT ist auf Griechisch — nicht auf Aramäisch (Jesu Muttersprache) oder Hebräisch.
• Septuaginta: Das theologische Fundament existiert 300 Jahre vor Christus — auf Griechisch.
• Frage an Klasse: "Kennt ihr moderne Beispiele von Staatsreligion?" (Iran, Israel, historisch England).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GEBURT (4 Min.)
• Historischer Kern: Kreuzigung ist gut belegt (Tacitus, Josephus). Auferstehung ist Glaubensfrage.
• Als Historiker sagen wir nur: etwas hat die Jünger so überzeugt, dass sie dafür ihr Leben riskierten.
• Diskussionsfrage: "Was würde euch so überzeugen, dass ihr alles aufgebt?"
• Gütergemeinschaft = radikales soziales Experiment — betonen!
• Apostelkonzil 48/49: Die Schicksalsfrage. Ohne Paulus wäre Christentum eine jüdische Sekte geblieben.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PAULUS (3–4 Min.)
• Pointe: Er hat Jesus nie persönlich getroffen — trotzdem schrieb er ~50% des NT.
• Areopag-Rede: Musterstück der Inkulturation. Er zitiert griechische Dichter, nicht jüdische Schriften.
• Warum bedeutsam: Vor Paulus = Judäa. Nach Paulus = Mittelmeerraum. Das ist eine Revolution.
• Frage: "Kann man überzeugend für etwas eintreten, das man nicht aus eigener Erfahrung kennt?"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VERFOLGUNG (3–4 Min.)
• Tertullian-Zitat: Märtyrer wirkten als lebende Werbung. Wer stirbt ohne zu widerrufen, muss etwas Echtes glauben.
• Diokletian-Verfolgung (303): Die härteste — NUR 10 Jahre vor Konstantins Wende.
• Frage: "Warum kann man eine Idee nicht mit Gewalt töten?"
• Historiographische Debatte: Wie viele starben wirklich? Zahlen sehr umstritten (früher übertrieben).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KONSTANTIN (4 Min.)
• Ob Konstantin wirklich Christ wurde oder es politisches Kalkül war — bis heute umstritten.
• Argument für echt: Ließ sich kurz vor dem Tod taufen. Hielt am Glauben bis zum Ende.
• Argument für politisch: Christentum wuchs am schnellsten — gute Wette für einen Kaiser.
• Konzil von Nicäa: Nizänisches Glaubensbekenntnis — bis heute in Gottesdiensten.
• BRÜCKE: "Konstantin öffnet die Tür — was passiert, wenn die Kirche hindurchtritt?"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WENDE (4 Min.)
• Die unbequeme Wahrheit der Kirchengeschichte.
• Hypatia (415): Erste bekannte weibliche Mathematikerin der Antike, von christlichem Mob getötet.
• Olympische Spiele: 393 verboten wegen Zeus-Kult — 1896 wiederbelebt.
• Diskussionsfrage: "Liegt es in der Natur jeder Macht, andere zu unterdrücken? Hätte es anders gehen können?"
• Verbindung zu heute: Religionsfreiheit als Grundrecht ist DIREKTE Reaktion auf diese Geschichte.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ERBE &amp; ABSCHLUSSDISKUSSION (5–10 Min.)
• Erbe-Punkte kurz interaktiv abfragen: "Wusstet ihr, dass...?" — Schüler oft überrascht vom Sonntag und Krankenhaus.
• STILLE LASSEN. Die große Frage mindestens 5 Sekunden wirken lassen.
• Einstieg: "Gibt es heute Menschen, die für ihre Überzeugungen sterben?" (Whistleblower, Aktivisten)
• "Was unterscheidet 'Wofür man stirbt' von 'Wofür man lebt'?"
• Keine richtigen/falschen Antworten. Ziel: reflektiertes Denken über Werte und Überzeugungen.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4" Type="http://schemas.openxmlformats.org/officeDocument/2006/relationships/image" Target="../media/image-1-4.png"/><Relationship Id="rId5" Type="http://schemas.openxmlformats.org/officeDocument/2006/relationships/image" Target="../media/image-1-5.svg"/><Relationship Id="rId6" Type="http://schemas.openxmlformats.org/officeDocument/2006/relationships/image" Target="../media/image-1-6.png"/><Relationship Id="rId7" Type="http://schemas.openxmlformats.org/officeDocument/2006/relationships/image" Target="../media/image-1-7.svg"/><Relationship Id="rId8" Type="http://schemas.openxmlformats.org/officeDocument/2006/relationships/image" Target="../media/image-1-8.png"/><Relationship Id="rId9" Type="http://schemas.openxmlformats.org/officeDocument/2006/relationships/image" Target="../media/image-1-9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svg"/><Relationship Id="rId4" Type="http://schemas.openxmlformats.org/officeDocument/2006/relationships/image" Target="../media/image-2-4.png"/><Relationship Id="rId5" Type="http://schemas.openxmlformats.org/officeDocument/2006/relationships/image" Target="../media/image-2-5.svg"/><Relationship Id="rId6" Type="http://schemas.openxmlformats.org/officeDocument/2006/relationships/image" Target="../media/image-2-6.png"/><Relationship Id="rId7" Type="http://schemas.openxmlformats.org/officeDocument/2006/relationships/image" Target="../media/image-2-7.svg"/><Relationship Id="rId8" Type="http://schemas.openxmlformats.org/officeDocument/2006/relationships/image" Target="../media/image-2-8.png"/><Relationship Id="rId9" Type="http://schemas.openxmlformats.org/officeDocument/2006/relationships/image" Target="../media/image-2-9.svg"/><Relationship Id="rId10" Type="http://schemas.openxmlformats.org/officeDocument/2006/relationships/image" Target="../media/image-2-10.png"/><Relationship Id="rId11" Type="http://schemas.openxmlformats.org/officeDocument/2006/relationships/image" Target="../media/image-2-11.svg"/><Relationship Id="rId12" Type="http://schemas.openxmlformats.org/officeDocument/2006/relationships/image" Target="../media/image-2-12.png"/><Relationship Id="rId13" Type="http://schemas.openxmlformats.org/officeDocument/2006/relationships/image" Target="../media/image-2-13.svg"/><Relationship Id="rId14" Type="http://schemas.openxmlformats.org/officeDocument/2006/relationships/image" Target="../media/image-2-14.png"/><Relationship Id="rId15" Type="http://schemas.openxmlformats.org/officeDocument/2006/relationships/image" Target="../media/image-2-15.svg"/><Relationship Id="rId16" Type="http://schemas.openxmlformats.org/officeDocument/2006/relationships/image" Target="../media/image-2-16.png"/><Relationship Id="rId17" Type="http://schemas.openxmlformats.org/officeDocument/2006/relationships/image" Target="../media/image-2-17.svg"/><Relationship Id="rId18" Type="http://schemas.openxmlformats.org/officeDocument/2006/relationships/image" Target="../media/image-2-18.png"/><Relationship Id="rId19" Type="http://schemas.openxmlformats.org/officeDocument/2006/relationships/image" Target="../media/image-2-19.svg"/><Relationship Id="rId20" Type="http://schemas.openxmlformats.org/officeDocument/2006/relationships/image" Target="../media/image-2-20.png"/><Relationship Id="rId21" Type="http://schemas.openxmlformats.org/officeDocument/2006/relationships/image" Target="../media/image-2-21.svg"/><Relationship Id="rId22" Type="http://schemas.openxmlformats.org/officeDocument/2006/relationships/image" Target="../media/image-2-22.png"/><Relationship Id="rId23" Type="http://schemas.openxmlformats.org/officeDocument/2006/relationships/image" Target="../media/image-2-23.svg"/><Relationship Id="rId24" Type="http://schemas.openxmlformats.org/officeDocument/2006/relationships/image" Target="../media/image-2-24.png"/><Relationship Id="rId25" Type="http://schemas.openxmlformats.org/officeDocument/2006/relationships/image" Target="../media/image-2-25.svg"/><Relationship Id="rId26" Type="http://schemas.openxmlformats.org/officeDocument/2006/relationships/image" Target="../media/image-2-26.png"/><Relationship Id="rId27" Type="http://schemas.openxmlformats.org/officeDocument/2006/relationships/image" Target="../media/image-2-27.svg"/><Relationship Id="rId28" Type="http://schemas.openxmlformats.org/officeDocument/2006/relationships/image" Target="../media/image-2-28.png"/><Relationship Id="rId29" Type="http://schemas.openxmlformats.org/officeDocument/2006/relationships/image" Target="../media/image-2-29.svg"/><Relationship Id="rId30" Type="http://schemas.openxmlformats.org/officeDocument/2006/relationships/image" Target="../media/image-2-30.png"/><Relationship Id="rId31" Type="http://schemas.openxmlformats.org/officeDocument/2006/relationships/image" Target="../media/image-2-31.svg"/><Relationship Id="rId32" Type="http://schemas.openxmlformats.org/officeDocument/2006/relationships/image" Target="../media/image-2-32.png"/><Relationship Id="rId33" Type="http://schemas.openxmlformats.org/officeDocument/2006/relationships/image" Target="../media/image-2-33.svg"/><Relationship Id="rId34" Type="http://schemas.openxmlformats.org/officeDocument/2006/relationships/image" Target="../media/image-2-34.png"/><Relationship Id="rId35" Type="http://schemas.openxmlformats.org/officeDocument/2006/relationships/image" Target="../media/image-2-35.svg"/><Relationship Id="rId36" Type="http://schemas.openxmlformats.org/officeDocument/2006/relationships/image" Target="../media/image-2-36.png"/><Relationship Id="rId37" Type="http://schemas.openxmlformats.org/officeDocument/2006/relationships/image" Target="../media/image-2-37.svg"/><Relationship Id="rId38" Type="http://schemas.openxmlformats.org/officeDocument/2006/relationships/slideLayout" Target="../slideLayouts/slideLayout1.xml"/><Relationship Id="rId3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svg"/><Relationship Id="rId4" Type="http://schemas.openxmlformats.org/officeDocument/2006/relationships/image" Target="../media/image-3-4.png"/><Relationship Id="rId5" Type="http://schemas.openxmlformats.org/officeDocument/2006/relationships/image" Target="../media/image-3-5.svg"/><Relationship Id="rId6" Type="http://schemas.openxmlformats.org/officeDocument/2006/relationships/image" Target="../media/image-3-6.png"/><Relationship Id="rId7" Type="http://schemas.openxmlformats.org/officeDocument/2006/relationships/image" Target="../media/image-3-7.svg"/><Relationship Id="rId8" Type="http://schemas.openxmlformats.org/officeDocument/2006/relationships/image" Target="../media/image-3-8.png"/><Relationship Id="rId9" Type="http://schemas.openxmlformats.org/officeDocument/2006/relationships/image" Target="../media/image-3-9.svg"/><Relationship Id="rId10" Type="http://schemas.openxmlformats.org/officeDocument/2006/relationships/image" Target="../media/image-3-10.png"/><Relationship Id="rId11" Type="http://schemas.openxmlformats.org/officeDocument/2006/relationships/image" Target="../media/image-3-11.svg"/><Relationship Id="rId12" Type="http://schemas.openxmlformats.org/officeDocument/2006/relationships/image" Target="../media/image-3-12.png"/><Relationship Id="rId13" Type="http://schemas.openxmlformats.org/officeDocument/2006/relationships/image" Target="../media/image-3-13.svg"/><Relationship Id="rId14" Type="http://schemas.openxmlformats.org/officeDocument/2006/relationships/image" Target="../media/image-3-14.png"/><Relationship Id="rId15" Type="http://schemas.openxmlformats.org/officeDocument/2006/relationships/image" Target="../media/image-3-15.svg"/><Relationship Id="rId16" Type="http://schemas.openxmlformats.org/officeDocument/2006/relationships/image" Target="../media/image-3-16.png"/><Relationship Id="rId17" Type="http://schemas.openxmlformats.org/officeDocument/2006/relationships/image" Target="../media/image-3-17.sv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svg"/><Relationship Id="rId4" Type="http://schemas.openxmlformats.org/officeDocument/2006/relationships/image" Target="../media/image-4-4.png"/><Relationship Id="rId5" Type="http://schemas.openxmlformats.org/officeDocument/2006/relationships/image" Target="../media/image-4-5.svg"/><Relationship Id="rId6" Type="http://schemas.openxmlformats.org/officeDocument/2006/relationships/image" Target="../media/image-4-6.png"/><Relationship Id="rId7" Type="http://schemas.openxmlformats.org/officeDocument/2006/relationships/image" Target="../media/image-4-7.svg"/><Relationship Id="rId8" Type="http://schemas.openxmlformats.org/officeDocument/2006/relationships/image" Target="../media/image-4-8.png"/><Relationship Id="rId9" Type="http://schemas.openxmlformats.org/officeDocument/2006/relationships/image" Target="../media/image-4-9.svg"/><Relationship Id="rId10" Type="http://schemas.openxmlformats.org/officeDocument/2006/relationships/image" Target="../media/image-4-10.png"/><Relationship Id="rId11" Type="http://schemas.openxmlformats.org/officeDocument/2006/relationships/image" Target="../media/image-4-11.svg"/><Relationship Id="rId12" Type="http://schemas.openxmlformats.org/officeDocument/2006/relationships/image" Target="../media/image-4-12.png"/><Relationship Id="rId13" Type="http://schemas.openxmlformats.org/officeDocument/2006/relationships/image" Target="../media/image-4-13.sv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svg"/><Relationship Id="rId4" Type="http://schemas.openxmlformats.org/officeDocument/2006/relationships/image" Target="../media/image-5-4.png"/><Relationship Id="rId5" Type="http://schemas.openxmlformats.org/officeDocument/2006/relationships/image" Target="../media/image-5-5.svg"/><Relationship Id="rId6" Type="http://schemas.openxmlformats.org/officeDocument/2006/relationships/image" Target="../media/image-5-6.png"/><Relationship Id="rId7" Type="http://schemas.openxmlformats.org/officeDocument/2006/relationships/image" Target="../media/image-5-7.svg"/><Relationship Id="rId8" Type="http://schemas.openxmlformats.org/officeDocument/2006/relationships/image" Target="../media/image-5-8.png"/><Relationship Id="rId9" Type="http://schemas.openxmlformats.org/officeDocument/2006/relationships/image" Target="../media/image-5-9.svg"/><Relationship Id="rId10" Type="http://schemas.openxmlformats.org/officeDocument/2006/relationships/image" Target="../media/image-5-10.png"/><Relationship Id="rId11" Type="http://schemas.openxmlformats.org/officeDocument/2006/relationships/image" Target="../media/image-5-11.svg"/><Relationship Id="rId12" Type="http://schemas.openxmlformats.org/officeDocument/2006/relationships/image" Target="../media/image-5-12.png"/><Relationship Id="rId13" Type="http://schemas.openxmlformats.org/officeDocument/2006/relationships/image" Target="../media/image-5-13.svg"/><Relationship Id="rId14" Type="http://schemas.openxmlformats.org/officeDocument/2006/relationships/image" Target="../media/image-5-14.png"/><Relationship Id="rId15" Type="http://schemas.openxmlformats.org/officeDocument/2006/relationships/image" Target="../media/image-5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svg"/><Relationship Id="rId4" Type="http://schemas.openxmlformats.org/officeDocument/2006/relationships/image" Target="../media/image-6-4.png"/><Relationship Id="rId5" Type="http://schemas.openxmlformats.org/officeDocument/2006/relationships/image" Target="../media/image-6-5.svg"/><Relationship Id="rId6" Type="http://schemas.openxmlformats.org/officeDocument/2006/relationships/image" Target="../media/image-6-6.png"/><Relationship Id="rId7" Type="http://schemas.openxmlformats.org/officeDocument/2006/relationships/image" Target="../media/image-6-7.svg"/><Relationship Id="rId8" Type="http://schemas.openxmlformats.org/officeDocument/2006/relationships/image" Target="../media/image-6-8.png"/><Relationship Id="rId9" Type="http://schemas.openxmlformats.org/officeDocument/2006/relationships/image" Target="../media/image-6-9.svg"/><Relationship Id="rId10" Type="http://schemas.openxmlformats.org/officeDocument/2006/relationships/image" Target="../media/image-6-10.png"/><Relationship Id="rId11" Type="http://schemas.openxmlformats.org/officeDocument/2006/relationships/image" Target="../media/image-6-11.svg"/><Relationship Id="rId12" Type="http://schemas.openxmlformats.org/officeDocument/2006/relationships/image" Target="../media/image-6-12.png"/><Relationship Id="rId13" Type="http://schemas.openxmlformats.org/officeDocument/2006/relationships/image" Target="../media/image-6-13.svg"/><Relationship Id="rId14" Type="http://schemas.openxmlformats.org/officeDocument/2006/relationships/image" Target="../media/image-6-14.png"/><Relationship Id="rId15" Type="http://schemas.openxmlformats.org/officeDocument/2006/relationships/image" Target="../media/image-6-15.sv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svg"/><Relationship Id="rId4" Type="http://schemas.openxmlformats.org/officeDocument/2006/relationships/image" Target="../media/image-7-4.png"/><Relationship Id="rId5" Type="http://schemas.openxmlformats.org/officeDocument/2006/relationships/image" Target="../media/image-7-5.svg"/><Relationship Id="rId6" Type="http://schemas.openxmlformats.org/officeDocument/2006/relationships/image" Target="../media/image-7-6.png"/><Relationship Id="rId7" Type="http://schemas.openxmlformats.org/officeDocument/2006/relationships/image" Target="../media/image-7-7.svg"/><Relationship Id="rId8" Type="http://schemas.openxmlformats.org/officeDocument/2006/relationships/image" Target="../media/image-7-8.png"/><Relationship Id="rId9" Type="http://schemas.openxmlformats.org/officeDocument/2006/relationships/image" Target="../media/image-7-9.svg"/><Relationship Id="rId10" Type="http://schemas.openxmlformats.org/officeDocument/2006/relationships/image" Target="../media/image-7-10.png"/><Relationship Id="rId11" Type="http://schemas.openxmlformats.org/officeDocument/2006/relationships/image" Target="../media/image-7-11.svg"/><Relationship Id="rId12" Type="http://schemas.openxmlformats.org/officeDocument/2006/relationships/image" Target="../media/image-7-12.png"/><Relationship Id="rId13" Type="http://schemas.openxmlformats.org/officeDocument/2006/relationships/image" Target="../media/image-7-13.svg"/><Relationship Id="rId14" Type="http://schemas.openxmlformats.org/officeDocument/2006/relationships/image" Target="../media/image-7-14.png"/><Relationship Id="rId15" Type="http://schemas.openxmlformats.org/officeDocument/2006/relationships/image" Target="../media/image-7-15.svg"/><Relationship Id="rId16" Type="http://schemas.openxmlformats.org/officeDocument/2006/relationships/image" Target="../media/image-7-16.png"/><Relationship Id="rId17" Type="http://schemas.openxmlformats.org/officeDocument/2006/relationships/image" Target="../media/image-7-17.svg"/><Relationship Id="rId18" Type="http://schemas.openxmlformats.org/officeDocument/2006/relationships/image" Target="../media/image-7-18.png"/><Relationship Id="rId19" Type="http://schemas.openxmlformats.org/officeDocument/2006/relationships/image" Target="../media/image-7-19.svg"/><Relationship Id="rId20" Type="http://schemas.openxmlformats.org/officeDocument/2006/relationships/image" Target="../media/image-7-20.png"/><Relationship Id="rId21" Type="http://schemas.openxmlformats.org/officeDocument/2006/relationships/image" Target="../media/image-7-21.svg"/><Relationship Id="rId22" Type="http://schemas.openxmlformats.org/officeDocument/2006/relationships/image" Target="../media/image-7-22.png"/><Relationship Id="rId23" Type="http://schemas.openxmlformats.org/officeDocument/2006/relationships/image" Target="../media/image-7-23.svg"/><Relationship Id="rId24" Type="http://schemas.openxmlformats.org/officeDocument/2006/relationships/slideLayout" Target="../slideLayouts/slideLayout1.xml"/><Relationship Id="rId2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6" Type="http://schemas.openxmlformats.org/officeDocument/2006/relationships/image" Target="../media/image-8-6.png"/><Relationship Id="rId7" Type="http://schemas.openxmlformats.org/officeDocument/2006/relationships/image" Target="../media/image-8-7.svg"/><Relationship Id="rId8" Type="http://schemas.openxmlformats.org/officeDocument/2006/relationships/image" Target="../media/image-8-8.png"/><Relationship Id="rId9" Type="http://schemas.openxmlformats.org/officeDocument/2006/relationships/image" Target="../media/image-8-9.svg"/><Relationship Id="rId10" Type="http://schemas.openxmlformats.org/officeDocument/2006/relationships/image" Target="../media/image-8-10.png"/><Relationship Id="rId11" Type="http://schemas.openxmlformats.org/officeDocument/2006/relationships/image" Target="../media/image-8-11.svg"/><Relationship Id="rId12" Type="http://schemas.openxmlformats.org/officeDocument/2006/relationships/image" Target="../media/image-8-12.png"/><Relationship Id="rId13" Type="http://schemas.openxmlformats.org/officeDocument/2006/relationships/image" Target="../media/image-8-13.svg"/><Relationship Id="rId14" Type="http://schemas.openxmlformats.org/officeDocument/2006/relationships/image" Target="../media/image-8-14.png"/><Relationship Id="rId15" Type="http://schemas.openxmlformats.org/officeDocument/2006/relationships/image" Target="../media/image-8-15.svg"/><Relationship Id="rId16" Type="http://schemas.openxmlformats.org/officeDocument/2006/relationships/image" Target="../media/image-8-16.png"/><Relationship Id="rId17" Type="http://schemas.openxmlformats.org/officeDocument/2006/relationships/image" Target="../media/image-8-17.svg"/><Relationship Id="rId18" Type="http://schemas.openxmlformats.org/officeDocument/2006/relationships/image" Target="../media/image-8-18.png"/><Relationship Id="rId19" Type="http://schemas.openxmlformats.org/officeDocument/2006/relationships/image" Target="../media/image-8-19.svg"/><Relationship Id="rId20" Type="http://schemas.openxmlformats.org/officeDocument/2006/relationships/image" Target="../media/image-8-20.png"/><Relationship Id="rId21" Type="http://schemas.openxmlformats.org/officeDocument/2006/relationships/image" Target="../media/image-8-21.sv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0" y="822960"/>
            <a:ext cx="12191695" cy="100584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50800" dir="16200000">
              <a:srgbClr val="C8820A">
                <a:alpha val="5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spc="10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ANFÄNGE</a:t>
            </a:r>
            <a:endParaRPr lang="en-US" sz="6800" dirty="0"/>
          </a:p>
        </p:txBody>
      </p:sp>
      <p:sp>
        <p:nvSpPr>
          <p:cNvPr id="6" name="Text 1"/>
          <p:cNvSpPr/>
          <p:nvPr/>
        </p:nvSpPr>
        <p:spPr>
          <a:xfrm>
            <a:off x="0" y="1783080"/>
            <a:ext cx="12191695" cy="685800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spc="8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KIRCHE IN DER ANTIKE</a:t>
            </a:r>
            <a:endParaRPr lang="en-US" sz="26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28754" y="2578608"/>
            <a:ext cx="8534187" cy="32004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463003" y="2788920"/>
            <a:ext cx="9265688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12 Fischer aus Galiläa in 300 Jahren die größte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 der Welt begründeten — und dabei das Römische</a:t>
            </a:r>
            <a:endParaRPr lang="en-US" sz="15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Reich überlebten.</a:t>
            </a:r>
            <a:endParaRPr lang="en-US" sz="15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828754" y="3886200"/>
            <a:ext cx="8534187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828754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800" dirty="0"/>
          </a:p>
        </p:txBody>
      </p:sp>
      <p:sp>
        <p:nvSpPr>
          <p:cNvPr id="11" name="Text 4"/>
          <p:cNvSpPr/>
          <p:nvPr/>
        </p:nvSpPr>
        <p:spPr>
          <a:xfrm>
            <a:off x="1828754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 in Jerusalem</a:t>
            </a:r>
            <a:endParaRPr lang="en-US" sz="1100" dirty="0"/>
          </a:p>
        </p:txBody>
      </p:sp>
      <p:sp>
        <p:nvSpPr>
          <p:cNvPr id="12" name="Text 5"/>
          <p:cNvSpPr/>
          <p:nvPr/>
        </p:nvSpPr>
        <p:spPr>
          <a:xfrm>
            <a:off x="4673483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4673483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7518212" y="4023360"/>
            <a:ext cx="2844729" cy="41148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3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7518212" y="4434840"/>
            <a:ext cx="284472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1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Staatsreligion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0" y="6492240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SCHULPRÄSENTATION — KLASSE 11/12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parthenon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37744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74320" y="594360"/>
            <a:ext cx="5242429" cy="594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welcher Welt entstand das Christentum?</a:t>
            </a:r>
            <a:endParaRPr lang="en-US" sz="2000" dirty="0"/>
          </a:p>
        </p:txBody>
      </p:sp>
      <p:sp>
        <p:nvSpPr>
          <p:cNvPr id="8" name="Text 2"/>
          <p:cNvSpPr/>
          <p:nvPr/>
        </p:nvSpPr>
        <p:spPr>
          <a:xfrm>
            <a:off x="274320" y="1207008"/>
            <a:ext cx="524242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2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Millionen Menschen, tausende Götter — und kein Platz für persönlichen Glauben. Das Christentum betrat eine Welt voller religiöser Pflicht, nicht religiöser Freiheit.</a:t>
            </a:r>
            <a:endParaRPr lang="en-US" sz="1250" dirty="0"/>
          </a:p>
        </p:txBody>
      </p:sp>
      <p:sp>
        <p:nvSpPr>
          <p:cNvPr id="9" name="Shape 3"/>
          <p:cNvSpPr/>
          <p:nvPr/>
        </p:nvSpPr>
        <p:spPr>
          <a:xfrm>
            <a:off x="274320" y="2084832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274320" y="2084832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2336" y="2212848"/>
            <a:ext cx="475488" cy="21945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950976" y="2194560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POLYTHEISMUS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02336" y="2505456"/>
            <a:ext cx="4986397" cy="2011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402336" y="2615184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 Götter — für jeden Bach, Beruf und jede Stadt. Glaube war öffentliche Pflicht, keine persönliche Wahl.</a:t>
            </a:r>
            <a:endParaRPr lang="en-US" sz="1150" dirty="0"/>
          </a:p>
        </p:txBody>
      </p:sp>
      <p:sp>
        <p:nvSpPr>
          <p:cNvPr id="15" name="Shape 7"/>
          <p:cNvSpPr/>
          <p:nvPr/>
        </p:nvSpPr>
        <p:spPr>
          <a:xfrm>
            <a:off x="274320" y="3474720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274320" y="3474720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336" y="3602736"/>
            <a:ext cx="475488" cy="219456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950976" y="3584448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KAISERKULT</a:t>
            </a:r>
            <a:endParaRPr lang="en-US" sz="1050" dirty="0"/>
          </a:p>
        </p:txBody>
      </p:sp>
      <p:pic>
        <p:nvPicPr>
          <p:cNvPr id="1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02336" y="3895344"/>
            <a:ext cx="4986397" cy="20117"/>
          </a:xfrm>
          <a:prstGeom prst="rect">
            <a:avLst/>
          </a:prstGeom>
        </p:spPr>
      </p:pic>
      <p:sp>
        <p:nvSpPr>
          <p:cNvPr id="20" name="Text 10"/>
          <p:cNvSpPr/>
          <p:nvPr/>
        </p:nvSpPr>
        <p:spPr>
          <a:xfrm>
            <a:off x="402336" y="4005072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 Kaiser als Gott zu verehren war Gesetz. Pontifex Maximus — oberster Priester und Herrscher in einem.</a:t>
            </a:r>
            <a:endParaRPr lang="en-US" sz="1150" dirty="0"/>
          </a:p>
        </p:txBody>
      </p:sp>
      <p:sp>
        <p:nvSpPr>
          <p:cNvPr id="21" name="Shape 11"/>
          <p:cNvSpPr/>
          <p:nvPr/>
        </p:nvSpPr>
        <p:spPr>
          <a:xfrm>
            <a:off x="274320" y="4864608"/>
            <a:ext cx="5242429" cy="1243584"/>
          </a:xfrm>
          <a:prstGeom prst="rect">
            <a:avLst/>
          </a:prstGeom>
          <a:solidFill>
            <a:srgbClr val="0F0B07">
              <a:alpha val="88000"/>
            </a:srgbClr>
          </a:solidFill>
          <a:ln w="10160">
            <a:solidFill>
              <a:srgbClr val="C8820A">
                <a:alpha val="32000"/>
              </a:srgbClr>
            </a:solidFill>
            <a:prstDash val="solid"/>
          </a:ln>
        </p:spPr>
      </p:sp>
      <p:sp>
        <p:nvSpPr>
          <p:cNvPr id="22" name="Shape 12"/>
          <p:cNvSpPr/>
          <p:nvPr/>
        </p:nvSpPr>
        <p:spPr>
          <a:xfrm>
            <a:off x="274320" y="4864608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02336" y="4992624"/>
            <a:ext cx="475488" cy="219456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950976" y="4974336"/>
            <a:ext cx="416343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PAX ROMANA &amp; INFRASTRUKTUR</a:t>
            </a:r>
            <a:endParaRPr lang="en-US" sz="105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02336" y="5285232"/>
            <a:ext cx="4986397" cy="20117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402336" y="5394960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km Straßen, eine Amtssprache, offene Grenzen. Was für Legionen gebaut wurde, nutzten Missionare.</a:t>
            </a:r>
            <a:endParaRPr lang="en-US" sz="1150" dirty="0"/>
          </a:p>
        </p:txBody>
      </p:sp>
      <p:sp>
        <p:nvSpPr>
          <p:cNvPr id="27" name="Shape 15"/>
          <p:cNvSpPr/>
          <p:nvPr/>
        </p:nvSpPr>
        <p:spPr>
          <a:xfrm>
            <a:off x="5547221" y="237744"/>
            <a:ext cx="0" cy="6382512"/>
          </a:xfrm>
          <a:prstGeom prst="line">
            <a:avLst/>
          </a:prstGeom>
          <a:noFill/>
          <a:ln w="10160">
            <a:solidFill>
              <a:srgbClr val="6B4A0F">
                <a:alpha val="60000"/>
              </a:srgbClr>
            </a:solidFill>
            <a:prstDash val="solid"/>
          </a:ln>
        </p:spPr>
      </p:sp>
      <p:sp>
        <p:nvSpPr>
          <p:cNvPr id="28" name="Shape 16"/>
          <p:cNvSpPr/>
          <p:nvPr/>
        </p:nvSpPr>
        <p:spPr>
          <a:xfrm>
            <a:off x="5754480" y="237744"/>
            <a:ext cx="6181183" cy="365760"/>
          </a:xfrm>
          <a:prstGeom prst="rect">
            <a:avLst/>
          </a:prstGeom>
          <a:solidFill>
            <a:srgbClr val="C8820A">
              <a:alpha val="28000"/>
            </a:srgbClr>
          </a:solidFill>
          <a:ln w="10160">
            <a:solidFill>
              <a:srgbClr val="C8820A">
                <a:alpha val="65000"/>
              </a:srgbClr>
            </a:solidFill>
            <a:prstDash val="solid"/>
          </a:ln>
        </p:spPr>
      </p:sp>
      <p:sp>
        <p:nvSpPr>
          <p:cNvPr id="29" name="Text 17"/>
          <p:cNvSpPr/>
          <p:nvPr/>
        </p:nvSpPr>
        <p:spPr>
          <a:xfrm>
            <a:off x="5845920" y="256032"/>
            <a:ext cx="599830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GRIECHEN — DAS BEKANNTESTE BEISPIEL</a:t>
            </a:r>
            <a:endParaRPr lang="en-US" sz="1050" dirty="0"/>
          </a:p>
        </p:txBody>
      </p:sp>
      <p:sp>
        <p:nvSpPr>
          <p:cNvPr id="30" name="Text 18"/>
          <p:cNvSpPr/>
          <p:nvPr/>
        </p:nvSpPr>
        <p:spPr>
          <a:xfrm>
            <a:off x="5754480" y="694944"/>
            <a:ext cx="6181183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"Ohne Alexander den Großen hätte Paulus in Athen</a:t>
            </a:r>
            <a:endParaRPr lang="en-US" sz="140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einen Dolmetscher gebraucht."</a:t>
            </a:r>
            <a:endParaRPr lang="en-US" sz="1400" dirty="0"/>
          </a:p>
        </p:txBody>
      </p:sp>
      <p:pic>
        <p:nvPicPr>
          <p:cNvPr id="31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754480" y="1572768"/>
            <a:ext cx="6181183" cy="32004"/>
          </a:xfrm>
          <a:prstGeom prst="rect">
            <a:avLst/>
          </a:prstGeom>
        </p:spPr>
      </p:pic>
      <p:sp>
        <p:nvSpPr>
          <p:cNvPr id="32" name="Shape 19"/>
          <p:cNvSpPr/>
          <p:nvPr/>
        </p:nvSpPr>
        <p:spPr>
          <a:xfrm>
            <a:off x="5754480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3" name="Shape 20"/>
          <p:cNvSpPr/>
          <p:nvPr/>
        </p:nvSpPr>
        <p:spPr>
          <a:xfrm>
            <a:off x="5754480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4" name="Shape 21"/>
          <p:cNvSpPr/>
          <p:nvPr/>
        </p:nvSpPr>
        <p:spPr>
          <a:xfrm>
            <a:off x="5754480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35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089464" y="1847088"/>
            <a:ext cx="347472" cy="347472"/>
          </a:xfrm>
          <a:prstGeom prst="rect">
            <a:avLst/>
          </a:prstGeom>
        </p:spPr>
      </p:pic>
      <p:sp>
        <p:nvSpPr>
          <p:cNvPr id="36" name="Text 22"/>
          <p:cNvSpPr/>
          <p:nvPr/>
        </p:nvSpPr>
        <p:spPr>
          <a:xfrm>
            <a:off x="5827632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KOINE-GRIECHISCH</a:t>
            </a:r>
            <a:endParaRPr lang="en-US" sz="950" dirty="0"/>
          </a:p>
        </p:txBody>
      </p:sp>
      <p:pic>
        <p:nvPicPr>
          <p:cNvPr id="37" name="Image 12" descr="preencoded.png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882496" y="2670048"/>
            <a:ext cx="2761408" cy="18288"/>
          </a:xfrm>
          <a:prstGeom prst="rect">
            <a:avLst/>
          </a:prstGeom>
        </p:spPr>
      </p:pic>
      <p:sp>
        <p:nvSpPr>
          <p:cNvPr id="38" name="Text 23"/>
          <p:cNvSpPr/>
          <p:nvPr/>
        </p:nvSpPr>
        <p:spPr>
          <a:xfrm>
            <a:off x="5845920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 (323 v.Chr.) hinterlässt eine Weltsprache. Das NT wird auf Griechisch verfasst — nicht auf Jesu Aramäisch.</a:t>
            </a:r>
            <a:endParaRPr lang="en-US" sz="1100" dirty="0"/>
          </a:p>
        </p:txBody>
      </p:sp>
      <p:sp>
        <p:nvSpPr>
          <p:cNvPr id="39" name="Shape 24"/>
          <p:cNvSpPr/>
          <p:nvPr/>
        </p:nvSpPr>
        <p:spPr>
          <a:xfrm>
            <a:off x="8918224" y="1737360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0" name="Shape 25"/>
          <p:cNvSpPr/>
          <p:nvPr/>
        </p:nvSpPr>
        <p:spPr>
          <a:xfrm>
            <a:off x="8918224" y="1737360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1" name="Shape 26"/>
          <p:cNvSpPr/>
          <p:nvPr/>
        </p:nvSpPr>
        <p:spPr>
          <a:xfrm>
            <a:off x="8918224" y="1737360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2" name="Image 13" descr="preencoded.png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253207" y="1847088"/>
            <a:ext cx="347472" cy="34747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8991376" y="2286000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SEPTUAGINTA</a:t>
            </a:r>
            <a:endParaRPr lang="en-US" sz="950" dirty="0"/>
          </a:p>
        </p:txBody>
      </p:sp>
      <p:pic>
        <p:nvPicPr>
          <p:cNvPr id="44" name="Image 14" descr="preencoded.png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9046240" y="2670048"/>
            <a:ext cx="2761408" cy="18288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9009664" y="2779776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~250 v.Chr.: Das AT auf Griechisch. Das theologische Fundament des NT existiert schon Jahrhunderte vor Christus.</a:t>
            </a:r>
            <a:endParaRPr lang="en-US" sz="1100" dirty="0"/>
          </a:p>
        </p:txBody>
      </p:sp>
      <p:sp>
        <p:nvSpPr>
          <p:cNvPr id="46" name="Shape 29"/>
          <p:cNvSpPr/>
          <p:nvPr/>
        </p:nvSpPr>
        <p:spPr>
          <a:xfrm>
            <a:off x="5754480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7" name="Shape 30"/>
          <p:cNvSpPr/>
          <p:nvPr/>
        </p:nvSpPr>
        <p:spPr>
          <a:xfrm>
            <a:off x="5754480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8" name="Shape 31"/>
          <p:cNvSpPr/>
          <p:nvPr/>
        </p:nvSpPr>
        <p:spPr>
          <a:xfrm>
            <a:off x="5754480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49" name="Image 15" descr="preencoded.png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089464" y="4078224"/>
            <a:ext cx="347472" cy="347472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5827632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STÄDTENETZ</a:t>
            </a:r>
            <a:endParaRPr lang="en-US" sz="950" dirty="0"/>
          </a:p>
        </p:txBody>
      </p:sp>
      <p:pic>
        <p:nvPicPr>
          <p:cNvPr id="51" name="Image 16" descr="preencoded.png">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882496" y="4901184"/>
            <a:ext cx="2761408" cy="18288"/>
          </a:xfrm>
          <a:prstGeom prst="rect">
            <a:avLst/>
          </a:prstGeom>
        </p:spPr>
      </p:pic>
      <p:sp>
        <p:nvSpPr>
          <p:cNvPr id="52" name="Text 33"/>
          <p:cNvSpPr/>
          <p:nvPr/>
        </p:nvSpPr>
        <p:spPr>
          <a:xfrm>
            <a:off x="5845920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Antiochia · Ephesus · Alexandria. Alexanders Handelsstädte werden Paulus' Missionsstützpunkte.</a:t>
            </a:r>
            <a:endParaRPr lang="en-US" sz="1100" dirty="0"/>
          </a:p>
        </p:txBody>
      </p:sp>
      <p:sp>
        <p:nvSpPr>
          <p:cNvPr id="53" name="Shape 34"/>
          <p:cNvSpPr/>
          <p:nvPr/>
        </p:nvSpPr>
        <p:spPr>
          <a:xfrm>
            <a:off x="8918224" y="3968496"/>
            <a:ext cx="3017440" cy="2084832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4" name="Shape 35"/>
          <p:cNvSpPr/>
          <p:nvPr/>
        </p:nvSpPr>
        <p:spPr>
          <a:xfrm>
            <a:off x="8918224" y="3968496"/>
            <a:ext cx="301744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5" name="Shape 36"/>
          <p:cNvSpPr/>
          <p:nvPr/>
        </p:nvSpPr>
        <p:spPr>
          <a:xfrm>
            <a:off x="8918224" y="3968496"/>
            <a:ext cx="3017440" cy="43891"/>
          </a:xfrm>
          <a:prstGeom prst="rect">
            <a:avLst/>
          </a:prstGeom>
          <a:solidFill>
            <a:srgbClr val="D9A441">
              <a:alpha val="75000"/>
            </a:srgbClr>
          </a:solidFill>
          <a:ln/>
        </p:spPr>
      </p:sp>
      <p:pic>
        <p:nvPicPr>
          <p:cNvPr id="56" name="Image 17" descr="preencoded.png">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0253207" y="4078224"/>
            <a:ext cx="347472" cy="347472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8991376" y="4517136"/>
            <a:ext cx="287113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LOGOS-BEGRIFF</a:t>
            </a:r>
            <a:endParaRPr lang="en-US" sz="950" dirty="0"/>
          </a:p>
        </p:txBody>
      </p:sp>
      <p:pic>
        <p:nvPicPr>
          <p:cNvPr id="58" name="Image 18" descr="preencoded.png">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9046240" y="4901184"/>
            <a:ext cx="2761408" cy="18288"/>
          </a:xfrm>
          <a:prstGeom prst="rect">
            <a:avLst/>
          </a:prstGeom>
        </p:spPr>
      </p:pic>
      <p:sp>
        <p:nvSpPr>
          <p:cNvPr id="59" name="Text 38"/>
          <p:cNvSpPr/>
          <p:nvPr/>
        </p:nvSpPr>
        <p:spPr>
          <a:xfrm>
            <a:off x="9009664" y="5010912"/>
            <a:ext cx="2834560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Platon &amp; die Stoa: "Logos" = göttliches Vernunftprinzip. Johannes übernimmt es: "Im Anfang war das Wort." (Joh 1,1)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ark_jesu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01168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40080"/>
            <a:ext cx="5730097" cy="47548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n. Chr.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292608" y="1115568"/>
            <a:ext cx="5852014" cy="132588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Wanderprediger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 Galiläa wird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hingerichtet.</a:t>
            </a:r>
            <a:endParaRPr lang="en-US" sz="30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578608"/>
            <a:ext cx="5364346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292608" y="2724912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Tage später behaupten seine Anhänger: Er ist zurück.</a:t>
            </a:r>
            <a:endParaRPr lang="en-US" sz="1350" dirty="0"/>
          </a:p>
          <a:p>
            <a:pPr indent="0" marL="0">
              <a:lnSpc>
                <a:spcPct val="142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 Behauptung verändert die Weltgeschichte.</a:t>
            </a:r>
            <a:endParaRPr lang="en-US" sz="1350" dirty="0"/>
          </a:p>
        </p:txBody>
      </p:sp>
      <p:sp>
        <p:nvSpPr>
          <p:cNvPr id="11" name="Shape 4"/>
          <p:cNvSpPr/>
          <p:nvPr/>
        </p:nvSpPr>
        <p:spPr>
          <a:xfrm>
            <a:off x="292608" y="3566160"/>
            <a:ext cx="5364346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</p:spPr>
      </p:sp>
      <p:sp>
        <p:nvSpPr>
          <p:cNvPr id="12" name="Shape 5"/>
          <p:cNvSpPr/>
          <p:nvPr/>
        </p:nvSpPr>
        <p:spPr>
          <a:xfrm>
            <a:off x="292608" y="356616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Text 6"/>
          <p:cNvSpPr/>
          <p:nvPr/>
        </p:nvSpPr>
        <p:spPr>
          <a:xfrm>
            <a:off x="420624" y="3630168"/>
            <a:ext cx="487667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HISTORISCH GESICHERT</a:t>
            </a:r>
            <a:endParaRPr lang="en-US" sz="950" dirty="0"/>
          </a:p>
        </p:txBody>
      </p:sp>
      <p:sp>
        <p:nvSpPr>
          <p:cNvPr id="14" name="Text 7"/>
          <p:cNvSpPr/>
          <p:nvPr/>
        </p:nvSpPr>
        <p:spPr>
          <a:xfrm>
            <a:off x="420624" y="3904488"/>
            <a:ext cx="487667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Kreuzigung ist historisch gut belegt (Tacitus Ann. 15,44 · Josephus Ant. 18,3). Die Auferstehung ist Glaubensfrage — historisch können wir nur sagen: etwas hat die Jünger so überzeugt, dass sie dafür ihr Leben riskierten.</a:t>
            </a:r>
            <a:endParaRPr lang="en-US" sz="1150" dirty="0"/>
          </a:p>
        </p:txBody>
      </p:sp>
      <p:sp>
        <p:nvSpPr>
          <p:cNvPr id="15" name="Text 8"/>
          <p:cNvSpPr/>
          <p:nvPr/>
        </p:nvSpPr>
        <p:spPr>
          <a:xfrm>
            <a:off x="6095848" y="256032"/>
            <a:ext cx="58215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ERSTE GEMEINDE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6095848" y="658368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7" name="Shape 10"/>
          <p:cNvSpPr/>
          <p:nvPr/>
        </p:nvSpPr>
        <p:spPr>
          <a:xfrm>
            <a:off x="6095848" y="658368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8" name="Text 11"/>
          <p:cNvSpPr/>
          <p:nvPr/>
        </p:nvSpPr>
        <p:spPr>
          <a:xfrm>
            <a:off x="6233008" y="749808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JERUSALEM, ca. 33–40 n. Chr.</a:t>
            </a:r>
            <a:endParaRPr lang="en-US" sz="105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233008" y="1060704"/>
            <a:ext cx="5638648" cy="1828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233008" y="1170432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Apostel als Zeugen. Gemeinschaft aus ~120 Anhängern (Apg 1,15). Gütergemeinschaft — ein radikales soziales Experiment.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6095848" y="2176272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6095848" y="2176272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3" name="Text 15"/>
          <p:cNvSpPr/>
          <p:nvPr/>
        </p:nvSpPr>
        <p:spPr>
          <a:xfrm>
            <a:off x="6233008" y="2267712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GRIECHISCHE DIASPORA</a:t>
            </a:r>
            <a:endParaRPr lang="en-US" sz="10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233008" y="2578608"/>
            <a:ext cx="5638648" cy="182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233008" y="2688336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Stephanus, der erste Märtyrer (Apg 7), gehört zur griechischsprachigen Gruppe. Spannungen entstehen — die Kirche ist von Anfang an divers.</a:t>
            </a:r>
            <a:endParaRPr lang="en-US" sz="1150" dirty="0"/>
          </a:p>
        </p:txBody>
      </p:sp>
      <p:sp>
        <p:nvSpPr>
          <p:cNvPr id="26" name="Shape 17"/>
          <p:cNvSpPr/>
          <p:nvPr/>
        </p:nvSpPr>
        <p:spPr>
          <a:xfrm>
            <a:off x="6095848" y="3694176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27" name="Shape 18"/>
          <p:cNvSpPr/>
          <p:nvPr/>
        </p:nvSpPr>
        <p:spPr>
          <a:xfrm>
            <a:off x="6095848" y="3694176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Text 19"/>
          <p:cNvSpPr/>
          <p:nvPr/>
        </p:nvSpPr>
        <p:spPr>
          <a:xfrm>
            <a:off x="6233008" y="3785616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ANTIOCHIEN, ca. 43 n. Chr.</a:t>
            </a:r>
            <a:endParaRPr lang="en-US" sz="105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33008" y="4096512"/>
            <a:ext cx="5638648" cy="18288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233008" y="4206240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die Anhänger Jesu erstmals "Christen" genannt. Der Name bleibt — und mit ihm die Mission.</a:t>
            </a:r>
            <a:endParaRPr lang="en-US" sz="1150" dirty="0"/>
          </a:p>
        </p:txBody>
      </p:sp>
      <p:sp>
        <p:nvSpPr>
          <p:cNvPr id="31" name="Shape 21"/>
          <p:cNvSpPr/>
          <p:nvPr/>
        </p:nvSpPr>
        <p:spPr>
          <a:xfrm>
            <a:off x="6095848" y="5212080"/>
            <a:ext cx="5821528" cy="138988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095848" y="5212080"/>
            <a:ext cx="582152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33" name="Text 23"/>
          <p:cNvSpPr/>
          <p:nvPr/>
        </p:nvSpPr>
        <p:spPr>
          <a:xfrm>
            <a:off x="6233008" y="5303520"/>
            <a:ext cx="56386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APOSTELKONZIL, 48/49 n. Chr.</a:t>
            </a:r>
            <a:endParaRPr lang="en-US" sz="105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33008" y="5614416"/>
            <a:ext cx="5638648" cy="18288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6233008" y="5724144"/>
            <a:ext cx="568436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Schicksalsfrage: Muss man erst Jude werden, um Christ sein zu können? Paulus setzt sich durch: Nein. Das Christentum öffnet sich der Welt.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desert_paulu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19456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74320" y="621792"/>
            <a:ext cx="5242429" cy="621792"/>
          </a:xfrm>
          <a:prstGeom prst="rect">
            <a:avLst/>
          </a:prstGeom>
          <a:noFill/>
          <a:ln/>
          <a:effectLst>
            <a:outerShdw sx="100000" sy="100000" kx="0" ky="0" algn="bl" rotWithShape="0" blurRad="2540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erste Missionar.</a:t>
            </a:r>
            <a:endParaRPr lang="en-US" sz="3200" dirty="0"/>
          </a:p>
        </p:txBody>
      </p:sp>
      <p:sp>
        <p:nvSpPr>
          <p:cNvPr id="8" name="Text 2"/>
          <p:cNvSpPr/>
          <p:nvPr/>
        </p:nvSpPr>
        <p:spPr>
          <a:xfrm>
            <a:off x="274320" y="1316736"/>
            <a:ext cx="5242429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Saulus von Tarsus (ca. 5–67 n. Chr.) — gebildeter Jude, römischer Bürger, zunächst Christenverfolger. Eine Vision auf dem Weg nach Damaskus verändert ihn und mit ihm die Welt.</a:t>
            </a:r>
            <a:endParaRPr lang="en-US" sz="125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2286000"/>
            <a:ext cx="5242429" cy="32004"/>
          </a:xfrm>
          <a:prstGeom prst="rect">
            <a:avLst/>
          </a:prstGeom>
        </p:spPr>
      </p:pic>
      <p:sp>
        <p:nvSpPr>
          <p:cNvPr id="10" name="Shape 3"/>
          <p:cNvSpPr/>
          <p:nvPr/>
        </p:nvSpPr>
        <p:spPr>
          <a:xfrm>
            <a:off x="274320" y="2423160"/>
            <a:ext cx="1710900" cy="1024128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1" name="Shape 4"/>
          <p:cNvSpPr/>
          <p:nvPr/>
        </p:nvSpPr>
        <p:spPr>
          <a:xfrm>
            <a:off x="274320" y="2423160"/>
            <a:ext cx="171090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2" name="Text 5"/>
          <p:cNvSpPr/>
          <p:nvPr/>
        </p:nvSpPr>
        <p:spPr>
          <a:xfrm>
            <a:off x="274320" y="2487168"/>
            <a:ext cx="1710900" cy="512064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2800" dirty="0"/>
          </a:p>
        </p:txBody>
      </p:sp>
      <p:sp>
        <p:nvSpPr>
          <p:cNvPr id="13" name="Text 6"/>
          <p:cNvSpPr/>
          <p:nvPr/>
        </p:nvSpPr>
        <p:spPr>
          <a:xfrm>
            <a:off x="274320" y="2999232"/>
            <a:ext cx="1710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5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NT-Bücher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2040084" y="2423160"/>
            <a:ext cx="1710900" cy="1024128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5" name="Shape 8"/>
          <p:cNvSpPr/>
          <p:nvPr/>
        </p:nvSpPr>
        <p:spPr>
          <a:xfrm>
            <a:off x="2040084" y="2423160"/>
            <a:ext cx="171090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6" name="Text 9"/>
          <p:cNvSpPr/>
          <p:nvPr/>
        </p:nvSpPr>
        <p:spPr>
          <a:xfrm>
            <a:off x="2040084" y="2487168"/>
            <a:ext cx="1710900" cy="512064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0"/>
          <p:cNvSpPr/>
          <p:nvPr/>
        </p:nvSpPr>
        <p:spPr>
          <a:xfrm>
            <a:off x="2040084" y="2999232"/>
            <a:ext cx="1710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5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Missionsreisen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3805849" y="2423160"/>
            <a:ext cx="1710900" cy="1024128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5000"/>
              </a:srgbClr>
            </a:solidFill>
            <a:prstDash val="solid"/>
          </a:ln>
        </p:spPr>
      </p:sp>
      <p:sp>
        <p:nvSpPr>
          <p:cNvPr id="19" name="Shape 12"/>
          <p:cNvSpPr/>
          <p:nvPr/>
        </p:nvSpPr>
        <p:spPr>
          <a:xfrm>
            <a:off x="3805849" y="2423160"/>
            <a:ext cx="1710900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0" name="Text 13"/>
          <p:cNvSpPr/>
          <p:nvPr/>
        </p:nvSpPr>
        <p:spPr>
          <a:xfrm>
            <a:off x="3805849" y="2487168"/>
            <a:ext cx="1710900" cy="512064"/>
          </a:xfrm>
          <a:prstGeom prst="rect">
            <a:avLst/>
          </a:prstGeom>
          <a:noFill/>
          <a:ln/>
          <a:effectLst>
            <a:outerShdw sx="100000" sy="100000" kx="0" ky="0" algn="bl" rotWithShape="0" blurRad="127000" dist="50800" dir="16200000">
              <a:srgbClr val="C8820A">
                <a:alpha val="5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 J.</a:t>
            </a:r>
            <a:endParaRPr lang="en-US" sz="2800" dirty="0"/>
          </a:p>
        </p:txBody>
      </p:sp>
      <p:sp>
        <p:nvSpPr>
          <p:cNvPr id="21" name="Text 14"/>
          <p:cNvSpPr/>
          <p:nvPr/>
        </p:nvSpPr>
        <p:spPr>
          <a:xfrm>
            <a:off x="3805849" y="2999232"/>
            <a:ext cx="17109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50" kern="0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 als Missionar</a:t>
            </a:r>
            <a:endParaRPr lang="en-US" sz="10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74320" y="3566160"/>
            <a:ext cx="5242429" cy="32004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274320" y="3694176"/>
            <a:ext cx="5242429" cy="2560320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38000"/>
              </a:srgbClr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274320" y="3694176"/>
            <a:ext cx="5242429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5" name="Text 17"/>
          <p:cNvSpPr/>
          <p:nvPr/>
        </p:nvSpPr>
        <p:spPr>
          <a:xfrm>
            <a:off x="402336" y="3767328"/>
            <a:ext cx="4986397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PAULUS VERÄNDERTE</a:t>
            </a:r>
            <a:endParaRPr lang="en-US" sz="95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02336" y="4041648"/>
            <a:ext cx="4986397" cy="182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02336" y="416966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Text 19"/>
          <p:cNvSpPr/>
          <p:nvPr/>
        </p:nvSpPr>
        <p:spPr>
          <a:xfrm>
            <a:off x="694944" y="4169664"/>
            <a:ext cx="22018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Jüdische Sekte in Judäa</a:t>
            </a:r>
            <a:endParaRPr lang="en-US" sz="1150" dirty="0"/>
          </a:p>
        </p:txBody>
      </p:sp>
      <p:sp>
        <p:nvSpPr>
          <p:cNvPr id="29" name="Text 20"/>
          <p:cNvSpPr/>
          <p:nvPr/>
        </p:nvSpPr>
        <p:spPr>
          <a:xfrm>
            <a:off x="3001613" y="4169664"/>
            <a:ext cx="230666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Weltweite Bewegung</a:t>
            </a:r>
            <a:endParaRPr lang="en-US" sz="1150" dirty="0"/>
          </a:p>
        </p:txBody>
      </p:sp>
      <p:sp>
        <p:nvSpPr>
          <p:cNvPr id="30" name="Text 21"/>
          <p:cNvSpPr/>
          <p:nvPr/>
        </p:nvSpPr>
        <p:spPr>
          <a:xfrm>
            <a:off x="402336" y="488289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694944" y="4882896"/>
            <a:ext cx="22018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für Beschnittene</a:t>
            </a:r>
            <a:endParaRPr lang="en-US" sz="1150" dirty="0"/>
          </a:p>
        </p:txBody>
      </p:sp>
      <p:sp>
        <p:nvSpPr>
          <p:cNvPr id="32" name="Text 23"/>
          <p:cNvSpPr/>
          <p:nvPr/>
        </p:nvSpPr>
        <p:spPr>
          <a:xfrm>
            <a:off x="3001613" y="4882896"/>
            <a:ext cx="230666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 für alle Völker</a:t>
            </a:r>
            <a:endParaRPr lang="en-US" sz="1150" dirty="0"/>
          </a:p>
        </p:txBody>
      </p:sp>
      <p:sp>
        <p:nvSpPr>
          <p:cNvPr id="33" name="Text 24"/>
          <p:cNvSpPr/>
          <p:nvPr/>
        </p:nvSpPr>
        <p:spPr>
          <a:xfrm>
            <a:off x="402336" y="5596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694944" y="5596128"/>
            <a:ext cx="22018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Aramäisch &amp; Hebräisch</a:t>
            </a:r>
            <a:endParaRPr lang="en-US" sz="1150" dirty="0"/>
          </a:p>
        </p:txBody>
      </p:sp>
      <p:sp>
        <p:nvSpPr>
          <p:cNvPr id="35" name="Text 26"/>
          <p:cNvSpPr/>
          <p:nvPr/>
        </p:nvSpPr>
        <p:spPr>
          <a:xfrm>
            <a:off x="3001613" y="5596128"/>
            <a:ext cx="230666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Griechisch als Missionssprache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402336" y="5431536"/>
            <a:ext cx="498639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"Ich bin allen alles geworden, damit ich auf jeden Fall einige rette." — 1 Kor 9,22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6034889" y="256032"/>
            <a:ext cx="590077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FÜNF STATIONEN SEINER REISE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6034889" y="658368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6034889" y="658368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0" name="Text 31"/>
          <p:cNvSpPr/>
          <p:nvPr/>
        </p:nvSpPr>
        <p:spPr>
          <a:xfrm>
            <a:off x="6162905" y="749808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ANTIOCHIA</a:t>
            </a:r>
            <a:endParaRPr lang="en-US" sz="1350" dirty="0"/>
          </a:p>
        </p:txBody>
      </p:sp>
      <p:sp>
        <p:nvSpPr>
          <p:cNvPr id="41" name="Text 32"/>
          <p:cNvSpPr/>
          <p:nvPr/>
        </p:nvSpPr>
        <p:spPr>
          <a:xfrm>
            <a:off x="6162905" y="111556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 n. Chr.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7900265" y="768096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8046569" y="749808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 werden Jesu-Anhänger erstmals „Christen" genannt. Ausgangspunkt aller Missionsreisen.</a:t>
            </a:r>
            <a:endParaRPr lang="en-US" sz="1150" dirty="0"/>
          </a:p>
        </p:txBody>
      </p:sp>
      <p:sp>
        <p:nvSpPr>
          <p:cNvPr id="44" name="Shape 35"/>
          <p:cNvSpPr/>
          <p:nvPr/>
        </p:nvSpPr>
        <p:spPr>
          <a:xfrm>
            <a:off x="6034889" y="1773936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6034889" y="1773936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46" name="Text 37"/>
          <p:cNvSpPr/>
          <p:nvPr/>
        </p:nvSpPr>
        <p:spPr>
          <a:xfrm>
            <a:off x="6162905" y="1865376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ATHEN</a:t>
            </a:r>
            <a:endParaRPr lang="en-US" sz="1350" dirty="0"/>
          </a:p>
        </p:txBody>
      </p:sp>
      <p:sp>
        <p:nvSpPr>
          <p:cNvPr id="47" name="Text 38"/>
          <p:cNvSpPr/>
          <p:nvPr/>
        </p:nvSpPr>
        <p:spPr>
          <a:xfrm>
            <a:off x="6162905" y="223113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n. Chr.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7900265" y="1883664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8046569" y="1865376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Areopag-Rede: Paulus zitiert griechische Dichter, nicht jüdische Schriften. Inkulturation als Methode.</a:t>
            </a:r>
            <a:endParaRPr lang="en-US" sz="1150" dirty="0"/>
          </a:p>
        </p:txBody>
      </p:sp>
      <p:sp>
        <p:nvSpPr>
          <p:cNvPr id="50" name="Shape 41"/>
          <p:cNvSpPr/>
          <p:nvPr/>
        </p:nvSpPr>
        <p:spPr>
          <a:xfrm>
            <a:off x="6034889" y="2889504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1" name="Shape 42"/>
          <p:cNvSpPr/>
          <p:nvPr/>
        </p:nvSpPr>
        <p:spPr>
          <a:xfrm>
            <a:off x="6034889" y="2889504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2" name="Text 43"/>
          <p:cNvSpPr/>
          <p:nvPr/>
        </p:nvSpPr>
        <p:spPr>
          <a:xfrm>
            <a:off x="6162905" y="2980944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KORINTH</a:t>
            </a:r>
            <a:endParaRPr lang="en-US" sz="1350" dirty="0"/>
          </a:p>
        </p:txBody>
      </p:sp>
      <p:sp>
        <p:nvSpPr>
          <p:cNvPr id="53" name="Text 44"/>
          <p:cNvSpPr/>
          <p:nvPr/>
        </p:nvSpPr>
        <p:spPr>
          <a:xfrm>
            <a:off x="6162905" y="334670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~51 n. Chr.</a:t>
            </a:r>
            <a:endParaRPr lang="en-US" sz="1000" dirty="0"/>
          </a:p>
        </p:txBody>
      </p:sp>
      <p:sp>
        <p:nvSpPr>
          <p:cNvPr id="54" name="Shape 45"/>
          <p:cNvSpPr/>
          <p:nvPr/>
        </p:nvSpPr>
        <p:spPr>
          <a:xfrm>
            <a:off x="7900265" y="2999232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55" name="Text 46"/>
          <p:cNvSpPr/>
          <p:nvPr/>
        </p:nvSpPr>
        <p:spPr>
          <a:xfrm>
            <a:off x="8046569" y="2980944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Monate in der größten Handelsstadt. Hier entsteht der 1. Korintherbrief.</a:t>
            </a:r>
            <a:endParaRPr lang="en-US" sz="1150" dirty="0"/>
          </a:p>
        </p:txBody>
      </p:sp>
      <p:sp>
        <p:nvSpPr>
          <p:cNvPr id="56" name="Shape 47"/>
          <p:cNvSpPr/>
          <p:nvPr/>
        </p:nvSpPr>
        <p:spPr>
          <a:xfrm>
            <a:off x="6034889" y="4005072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57" name="Shape 48"/>
          <p:cNvSpPr/>
          <p:nvPr/>
        </p:nvSpPr>
        <p:spPr>
          <a:xfrm>
            <a:off x="6034889" y="4005072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58" name="Text 49"/>
          <p:cNvSpPr/>
          <p:nvPr/>
        </p:nvSpPr>
        <p:spPr>
          <a:xfrm>
            <a:off x="6162905" y="409651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EPHESUS</a:t>
            </a:r>
            <a:endParaRPr lang="en-US" sz="1350" dirty="0"/>
          </a:p>
        </p:txBody>
      </p:sp>
      <p:sp>
        <p:nvSpPr>
          <p:cNvPr id="59" name="Text 50"/>
          <p:cNvSpPr/>
          <p:nvPr/>
        </p:nvSpPr>
        <p:spPr>
          <a:xfrm>
            <a:off x="6162905" y="4462272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~54 n. Chr.</a:t>
            </a:r>
            <a:endParaRPr lang="en-US" sz="1000" dirty="0"/>
          </a:p>
        </p:txBody>
      </p:sp>
      <p:sp>
        <p:nvSpPr>
          <p:cNvPr id="60" name="Shape 51"/>
          <p:cNvSpPr/>
          <p:nvPr/>
        </p:nvSpPr>
        <p:spPr>
          <a:xfrm>
            <a:off x="7900265" y="4114800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61" name="Text 52"/>
          <p:cNvSpPr/>
          <p:nvPr/>
        </p:nvSpPr>
        <p:spPr>
          <a:xfrm>
            <a:off x="8046569" y="4096512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Jahre Mission. Aufstand der Silberschmiede — der Artemis-Kult verliert Kundschaft.</a:t>
            </a:r>
            <a:endParaRPr lang="en-US" sz="1150" dirty="0"/>
          </a:p>
        </p:txBody>
      </p:sp>
      <p:sp>
        <p:nvSpPr>
          <p:cNvPr id="62" name="Shape 53"/>
          <p:cNvSpPr/>
          <p:nvPr/>
        </p:nvSpPr>
        <p:spPr>
          <a:xfrm>
            <a:off x="6034889" y="5120640"/>
            <a:ext cx="5900774" cy="1042416"/>
          </a:xfrm>
          <a:prstGeom prst="rect">
            <a:avLst/>
          </a:prstGeom>
          <a:solidFill>
            <a:srgbClr val="0F0B07">
              <a:alpha val="8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63" name="Shape 54"/>
          <p:cNvSpPr/>
          <p:nvPr/>
        </p:nvSpPr>
        <p:spPr>
          <a:xfrm>
            <a:off x="6034889" y="5120640"/>
            <a:ext cx="590077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64" name="Text 55"/>
          <p:cNvSpPr/>
          <p:nvPr/>
        </p:nvSpPr>
        <p:spPr>
          <a:xfrm>
            <a:off x="6162905" y="5212080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spc="100" kern="0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ROM</a:t>
            </a:r>
            <a:endParaRPr lang="en-US" sz="1350" dirty="0"/>
          </a:p>
        </p:txBody>
      </p:sp>
      <p:sp>
        <p:nvSpPr>
          <p:cNvPr id="65" name="Text 56"/>
          <p:cNvSpPr/>
          <p:nvPr/>
        </p:nvSpPr>
        <p:spPr>
          <a:xfrm>
            <a:off x="6162905" y="5577840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~67 n. Chr.</a:t>
            </a:r>
            <a:endParaRPr lang="en-US" sz="1000" dirty="0"/>
          </a:p>
        </p:txBody>
      </p:sp>
      <p:sp>
        <p:nvSpPr>
          <p:cNvPr id="66" name="Shape 57"/>
          <p:cNvSpPr/>
          <p:nvPr/>
        </p:nvSpPr>
        <p:spPr>
          <a:xfrm>
            <a:off x="7900265" y="5230368"/>
            <a:ext cx="0" cy="822960"/>
          </a:xfrm>
          <a:prstGeom prst="line">
            <a:avLst/>
          </a:prstGeom>
          <a:noFill/>
          <a:ln w="10160">
            <a:solidFill>
              <a:srgbClr val="6B4A0F">
                <a:alpha val="50000"/>
              </a:srgbClr>
            </a:solidFill>
            <a:prstDash val="solid"/>
          </a:ln>
        </p:spPr>
      </p:sp>
      <p:sp>
        <p:nvSpPr>
          <p:cNvPr id="67" name="Text 58"/>
          <p:cNvSpPr/>
          <p:nvPr/>
        </p:nvSpPr>
        <p:spPr>
          <a:xfrm>
            <a:off x="8046569" y="5212080"/>
            <a:ext cx="3724502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Martyrium unter Nero. Sein Grab liegt heute unter dem Hochaltar des Petersdoms.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forest_persecu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2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49928" y="256032"/>
            <a:ext cx="3291840" cy="246888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731502" y="530352"/>
            <a:ext cx="10728692" cy="1554480"/>
          </a:xfrm>
          <a:prstGeom prst="rect">
            <a:avLst/>
          </a:prstGeom>
          <a:solidFill>
            <a:srgbClr val="000000">
              <a:alpha val="3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Text 2"/>
          <p:cNvSpPr/>
          <p:nvPr/>
        </p:nvSpPr>
        <p:spPr>
          <a:xfrm>
            <a:off x="0" y="621792"/>
            <a:ext cx="12191695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279400" dist="50800" dir="16200000">
              <a:srgbClr val="C8820A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"Wie tötet man eine Religion?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Antwort: Man kann nicht."</a:t>
            </a:r>
            <a:endParaRPr lang="en-US" sz="28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463003" y="1920240"/>
            <a:ext cx="9265688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75336" y="2057400"/>
            <a:ext cx="10241024" cy="65836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000000">
                <a:alpha val="7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Christen weigerten sich, den Kaiser zu verehren. Das war politische Subversion.</a:t>
            </a:r>
            <a:endParaRPr lang="en-US" sz="135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3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Mal versuchte Rom, sie zu vernichten. Drei Mal scheiterte es.</a:t>
            </a:r>
            <a:endParaRPr lang="en-US" sz="1350" dirty="0"/>
          </a:p>
        </p:txBody>
      </p:sp>
      <p:sp>
        <p:nvSpPr>
          <p:cNvPr id="11" name="Shape 4"/>
          <p:cNvSpPr/>
          <p:nvPr/>
        </p:nvSpPr>
        <p:spPr>
          <a:xfrm>
            <a:off x="274320" y="2834640"/>
            <a:ext cx="3789578" cy="3419856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50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2" name="Shape 5"/>
          <p:cNvSpPr/>
          <p:nvPr/>
        </p:nvSpPr>
        <p:spPr>
          <a:xfrm>
            <a:off x="274320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3" name="Shape 6"/>
          <p:cNvSpPr/>
          <p:nvPr/>
        </p:nvSpPr>
        <p:spPr>
          <a:xfrm>
            <a:off x="274320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14" name="Text 7"/>
          <p:cNvSpPr/>
          <p:nvPr/>
        </p:nvSpPr>
        <p:spPr>
          <a:xfrm>
            <a:off x="411480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64 n. Chr.</a:t>
            </a:r>
            <a:endParaRPr lang="en-US" sz="2000" dirty="0"/>
          </a:p>
        </p:txBody>
      </p:sp>
      <p:sp>
        <p:nvSpPr>
          <p:cNvPr id="15" name="Text 8"/>
          <p:cNvSpPr/>
          <p:nvPr/>
        </p:nvSpPr>
        <p:spPr>
          <a:xfrm>
            <a:off x="411480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NERO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411480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erste Angriff</a:t>
            </a:r>
            <a:endParaRPr lang="en-US" sz="11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11480" y="3913632"/>
            <a:ext cx="3515258" cy="1828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411480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Brandstiftung als Vorwand. Christen im Kolosseum hingerichtet. Petrus und Paulus sterben in Rom.</a:t>
            </a:r>
            <a:endParaRPr lang="en-US" sz="1200" dirty="0"/>
          </a:p>
        </p:txBody>
      </p:sp>
      <p:sp>
        <p:nvSpPr>
          <p:cNvPr id="19" name="Shape 11"/>
          <p:cNvSpPr/>
          <p:nvPr/>
        </p:nvSpPr>
        <p:spPr>
          <a:xfrm>
            <a:off x="4201058" y="2834640"/>
            <a:ext cx="3789578" cy="3419856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50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4201058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1" name="Shape 13"/>
          <p:cNvSpPr/>
          <p:nvPr/>
        </p:nvSpPr>
        <p:spPr>
          <a:xfrm>
            <a:off x="4201058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22" name="Text 14"/>
          <p:cNvSpPr/>
          <p:nvPr/>
        </p:nvSpPr>
        <p:spPr>
          <a:xfrm>
            <a:off x="4338218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n. Chr.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4338218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DECIUS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4338218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Reichsverfolgung</a:t>
            </a:r>
            <a:endParaRPr lang="en-US" sz="11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338218" y="3913632"/>
            <a:ext cx="3515258" cy="1828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4338218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Bürger muss dem Kaiser opfern und einen Nachweis vorlegen. Wer sich weigert, stirbt.</a:t>
            </a:r>
            <a:endParaRPr lang="en-US" sz="1200" dirty="0"/>
          </a:p>
        </p:txBody>
      </p:sp>
      <p:sp>
        <p:nvSpPr>
          <p:cNvPr id="27" name="Shape 18"/>
          <p:cNvSpPr/>
          <p:nvPr/>
        </p:nvSpPr>
        <p:spPr>
          <a:xfrm>
            <a:off x="8127797" y="2834640"/>
            <a:ext cx="3789578" cy="3419856"/>
          </a:xfrm>
          <a:prstGeom prst="rect">
            <a:avLst/>
          </a:prstGeom>
          <a:solidFill>
            <a:srgbClr val="0F0B07">
              <a:alpha val="82000"/>
            </a:srgbClr>
          </a:solidFill>
          <a:ln w="10160">
            <a:solidFill>
              <a:srgbClr val="C8820A">
                <a:alpha val="50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8" name="Shape 19"/>
          <p:cNvSpPr/>
          <p:nvPr/>
        </p:nvSpPr>
        <p:spPr>
          <a:xfrm>
            <a:off x="8127797" y="2834640"/>
            <a:ext cx="3789578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9" name="Shape 20"/>
          <p:cNvSpPr/>
          <p:nvPr/>
        </p:nvSpPr>
        <p:spPr>
          <a:xfrm>
            <a:off x="8127797" y="2834640"/>
            <a:ext cx="3789578" cy="50292"/>
          </a:xfrm>
          <a:prstGeom prst="rect">
            <a:avLst/>
          </a:prstGeom>
          <a:solidFill>
            <a:srgbClr val="A0421A">
              <a:alpha val="80000"/>
            </a:srgbClr>
          </a:solidFill>
          <a:ln/>
        </p:spPr>
      </p:sp>
      <p:sp>
        <p:nvSpPr>
          <p:cNvPr id="30" name="Text 21"/>
          <p:cNvSpPr/>
          <p:nvPr/>
        </p:nvSpPr>
        <p:spPr>
          <a:xfrm>
            <a:off x="8264957" y="2962656"/>
            <a:ext cx="3515258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303 n. Chr.</a:t>
            </a:r>
            <a:endParaRPr lang="en-US" sz="2000" dirty="0"/>
          </a:p>
        </p:txBody>
      </p:sp>
      <p:sp>
        <p:nvSpPr>
          <p:cNvPr id="31" name="Text 22"/>
          <p:cNvSpPr/>
          <p:nvPr/>
        </p:nvSpPr>
        <p:spPr>
          <a:xfrm>
            <a:off x="8264957" y="3346704"/>
            <a:ext cx="35152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DIOKLETIAN</a:t>
            </a:r>
            <a:endParaRPr lang="en-US" sz="1400" dirty="0"/>
          </a:p>
        </p:txBody>
      </p:sp>
      <p:sp>
        <p:nvSpPr>
          <p:cNvPr id="32" name="Text 23"/>
          <p:cNvSpPr/>
          <p:nvPr/>
        </p:nvSpPr>
        <p:spPr>
          <a:xfrm>
            <a:off x="8264957" y="3621024"/>
            <a:ext cx="35152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70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schwerste Welle</a:t>
            </a:r>
            <a:endParaRPr lang="en-US" sz="110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264957" y="3913632"/>
            <a:ext cx="3515258" cy="1828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8264957" y="4023360"/>
            <a:ext cx="3515258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Kirchen zerstört, Schriften verbrannt, Tausende getötet — kurz bevor Konstantin alles ändert.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0" y="6510528"/>
            <a:ext cx="12191695" cy="27432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3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"Das Blut der Märtyrer ist Same der Kirche." — Tertullian, ~200 n. Chr.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olosseum_re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21792"/>
            <a:ext cx="5364346" cy="164592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Kaiser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hat einen Traum.</a:t>
            </a:r>
            <a:endParaRPr lang="en-US" sz="3000" dirty="0"/>
          </a:p>
        </p:txBody>
      </p:sp>
      <p:sp>
        <p:nvSpPr>
          <p:cNvPr id="8" name="Text 2"/>
          <p:cNvSpPr/>
          <p:nvPr/>
        </p:nvSpPr>
        <p:spPr>
          <a:xfrm>
            <a:off x="292608" y="2331720"/>
            <a:ext cx="536434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350 Jahre Christenverfolgung</a:t>
            </a:r>
            <a:endParaRPr lang="en-US" sz="15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enden innerhalb weniger Monate.</a:t>
            </a:r>
            <a:endParaRPr lang="en-US" sz="1500" dirty="0"/>
          </a:p>
        </p:txBody>
      </p:sp>
      <p:sp>
        <p:nvSpPr>
          <p:cNvPr id="9" name="Shape 3"/>
          <p:cNvSpPr/>
          <p:nvPr/>
        </p:nvSpPr>
        <p:spPr>
          <a:xfrm>
            <a:off x="292608" y="3154680"/>
            <a:ext cx="5364346" cy="1207008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292608" y="3154680"/>
            <a:ext cx="5364346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1" name="Text 5"/>
          <p:cNvSpPr/>
          <p:nvPr/>
        </p:nvSpPr>
        <p:spPr>
          <a:xfrm>
            <a:off x="411480" y="3218688"/>
            <a:ext cx="487667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GENAU PASSIERTE?</a:t>
            </a:r>
            <a:endParaRPr lang="en-US" sz="1000" dirty="0"/>
          </a:p>
        </p:txBody>
      </p:sp>
      <p:sp>
        <p:nvSpPr>
          <p:cNvPr id="12" name="Text 6"/>
          <p:cNvSpPr/>
          <p:nvPr/>
        </p:nvSpPr>
        <p:spPr>
          <a:xfrm>
            <a:off x="411480" y="3502152"/>
            <a:ext cx="512051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 der Milvischen Brücke (312) soll Konstantin ein Kreuz-Symbol am Himmel gesehen haben: "In diesem Zeichen wirst du siegen." Das Chi-Rho-Symbol (☧) auf die Schilder gemalt — und er gewann. Ob echte Vision oder politisches Kalkül: die Folgen waren real.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6339682" y="256032"/>
            <a:ext cx="55776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SCHLÜSSELEREIGNISSE (312–325)</a:t>
            </a:r>
            <a:endParaRPr lang="en-US" sz="1000" dirty="0"/>
          </a:p>
        </p:txBody>
      </p:sp>
      <p:sp>
        <p:nvSpPr>
          <p:cNvPr id="14" name="Shape 8"/>
          <p:cNvSpPr/>
          <p:nvPr/>
        </p:nvSpPr>
        <p:spPr>
          <a:xfrm>
            <a:off x="6339682" y="62179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6339682" y="62179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6" name="Text 10"/>
          <p:cNvSpPr/>
          <p:nvPr/>
        </p:nvSpPr>
        <p:spPr>
          <a:xfrm>
            <a:off x="6476842" y="73152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312 n. Chr.</a:t>
            </a:r>
            <a:endParaRPr lang="en-US" sz="1800" dirty="0"/>
          </a:p>
        </p:txBody>
      </p:sp>
      <p:sp>
        <p:nvSpPr>
          <p:cNvPr id="17" name="Text 11"/>
          <p:cNvSpPr/>
          <p:nvPr/>
        </p:nvSpPr>
        <p:spPr>
          <a:xfrm>
            <a:off x="6476842" y="107899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MILVISCHE BRÜCKE</a:t>
            </a:r>
            <a:endParaRPr lang="en-US" sz="11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76842" y="1371600"/>
            <a:ext cx="5394814" cy="182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476842" y="148132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siegt unter dem Chi-Rho. Er schreibt den Sieg dem christlichen Gott zu.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339682" y="254203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1" name="Shape 14"/>
          <p:cNvSpPr/>
          <p:nvPr/>
        </p:nvSpPr>
        <p:spPr>
          <a:xfrm>
            <a:off x="6339682" y="254203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2" name="Text 15"/>
          <p:cNvSpPr/>
          <p:nvPr/>
        </p:nvSpPr>
        <p:spPr>
          <a:xfrm>
            <a:off x="6476842" y="265176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6476842" y="299923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MAILÄNDER VEREINBARUNG</a:t>
            </a:r>
            <a:endParaRPr lang="en-US" sz="11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76842" y="3291840"/>
            <a:ext cx="5394814" cy="18288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476842" y="340156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für alle. Kirchen werden zurückgegeben. Christen dürfen offen leben.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6339682" y="4462272"/>
            <a:ext cx="5577694" cy="1755648"/>
          </a:xfrm>
          <a:prstGeom prst="rect">
            <a:avLst/>
          </a:prstGeom>
          <a:solidFill>
            <a:srgbClr val="0F0B07">
              <a:alpha val="92000"/>
            </a:srgbClr>
          </a:solidFill>
          <a:ln w="10160">
            <a:solidFill>
              <a:srgbClr val="C8820A">
                <a:alpha val="42000"/>
              </a:srgbClr>
            </a:solidFill>
            <a:prstDash val="solid"/>
          </a:ln>
          <a:effectLst>
            <a:outerShdw sx="100000" sy="100000" kx="0" ky="0" algn="bl" rotWithShape="0" blurRad="228600" dist="50800" dir="16200000">
              <a:srgbClr val="C8820A">
                <a:alpha val="1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339682" y="4462272"/>
            <a:ext cx="557769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Text 20"/>
          <p:cNvSpPr/>
          <p:nvPr/>
        </p:nvSpPr>
        <p:spPr>
          <a:xfrm>
            <a:off x="6476842" y="4572000"/>
            <a:ext cx="2011680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C8820A">
                <a:alpha val="4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C0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325 n. Chr.</a:t>
            </a:r>
            <a:endParaRPr lang="en-US" sz="1800" dirty="0"/>
          </a:p>
        </p:txBody>
      </p:sp>
      <p:sp>
        <p:nvSpPr>
          <p:cNvPr id="29" name="Text 21"/>
          <p:cNvSpPr/>
          <p:nvPr/>
        </p:nvSpPr>
        <p:spPr>
          <a:xfrm>
            <a:off x="6476842" y="4919472"/>
            <a:ext cx="539481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KONZIL VON NICÄA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76842" y="5212080"/>
            <a:ext cx="5394814" cy="18288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6476842" y="5321808"/>
            <a:ext cx="544053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 Reichssynode. Glaubensbekenntnis entsteht — bis heute in vielen Kirchen gesprochen.</a:t>
            </a:r>
            <a:endParaRPr lang="en-US" sz="12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4320" y="6382512"/>
            <a:ext cx="11643055" cy="18288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274320" y="6419088"/>
            <a:ext cx="11643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Verfolgten sitzen jetzt am Tisch des Kaisers. → Folie VI: Was passiert, wenn die Kirche die Macht bekommt?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cathedral_wen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74320" y="256032"/>
            <a:ext cx="2560320" cy="246888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292608" y="621792"/>
            <a:ext cx="5486263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152400" dist="50800" dir="16200000">
              <a:srgbClr val="C8820A">
                <a:alpha val="4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"Plötzlich ist es umgekehrt."</a:t>
            </a:r>
            <a:endParaRPr lang="en-US" sz="2800" dirty="0"/>
          </a:p>
        </p:txBody>
      </p:sp>
      <p:sp>
        <p:nvSpPr>
          <p:cNvPr id="8" name="Text 2"/>
          <p:cNvSpPr/>
          <p:nvPr/>
        </p:nvSpPr>
        <p:spPr>
          <a:xfrm>
            <a:off x="292608" y="1444752"/>
            <a:ext cx="5608180" cy="80467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A0421A">
                <a:alpha val="3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NICHT Christ ist,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wird jetzt verfolgt.</a:t>
            </a:r>
            <a:endParaRPr lang="en-US" sz="1800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2608" y="2331720"/>
            <a:ext cx="5608180" cy="3200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292608" y="2468880"/>
            <a:ext cx="56081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Kirche war selbst Opfer gewesen. Mit staatlicher Macht wurde ein Teil von ihr zum Täter. Eine historische Ironie — und eine Warnung, die bis heute gilt.</a:t>
            </a:r>
            <a:endParaRPr lang="en-US" sz="1300" dirty="0"/>
          </a:p>
        </p:txBody>
      </p:sp>
      <p:sp>
        <p:nvSpPr>
          <p:cNvPr id="11" name="Shape 4"/>
          <p:cNvSpPr/>
          <p:nvPr/>
        </p:nvSpPr>
        <p:spPr>
          <a:xfrm>
            <a:off x="292608" y="3337560"/>
            <a:ext cx="5608180" cy="1143000"/>
          </a:xfrm>
          <a:prstGeom prst="rect">
            <a:avLst/>
          </a:prstGeom>
          <a:solidFill>
            <a:srgbClr val="0F0B07">
              <a:alpha val="90000"/>
            </a:srgbClr>
          </a:solidFill>
          <a:ln w="10160">
            <a:solidFill>
              <a:srgbClr val="A0421A">
                <a:alpha val="42000"/>
              </a:srgbClr>
            </a:solidFill>
            <a:prstDash val="solid"/>
          </a:ln>
        </p:spPr>
      </p:sp>
      <p:sp>
        <p:nvSpPr>
          <p:cNvPr id="12" name="Shape 5"/>
          <p:cNvSpPr/>
          <p:nvPr/>
        </p:nvSpPr>
        <p:spPr>
          <a:xfrm>
            <a:off x="292608" y="3337560"/>
            <a:ext cx="5608180" cy="18288"/>
          </a:xfrm>
          <a:prstGeom prst="rect">
            <a:avLst/>
          </a:prstGeom>
          <a:solidFill>
            <a:srgbClr val="A0421A">
              <a:alpha val="50000"/>
            </a:srgbClr>
          </a:solidFill>
          <a:ln/>
        </p:spPr>
      </p:sp>
      <p:sp>
        <p:nvSpPr>
          <p:cNvPr id="13" name="Text 6"/>
          <p:cNvSpPr/>
          <p:nvPr/>
        </p:nvSpPr>
        <p:spPr>
          <a:xfrm>
            <a:off x="411480" y="3401568"/>
            <a:ext cx="5120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A04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 ZU VERSTEHEN</a:t>
            </a:r>
            <a:endParaRPr lang="en-US" sz="950" dirty="0"/>
          </a:p>
        </p:txBody>
      </p:sp>
      <p:sp>
        <p:nvSpPr>
          <p:cNvPr id="14" name="Text 7"/>
          <p:cNvSpPr/>
          <p:nvPr/>
        </p:nvSpPr>
        <p:spPr>
          <a:xfrm>
            <a:off x="411480" y="3694176"/>
            <a:ext cx="499859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Religionsfreiheit als Grundrecht ist eine direkte Reaktion auf diese Geschichte. Artikel 18 der UN-Menschenrechtserklärung existiert, weil Europa erlebt hat, was passiert, wenn der Staat Religion vorschreibt.</a:t>
            </a:r>
            <a:endParaRPr lang="en-US" sz="1150" dirty="0"/>
          </a:p>
        </p:txBody>
      </p:sp>
      <p:sp>
        <p:nvSpPr>
          <p:cNvPr id="15" name="Shape 8"/>
          <p:cNvSpPr/>
          <p:nvPr/>
        </p:nvSpPr>
        <p:spPr>
          <a:xfrm>
            <a:off x="6248242" y="182880"/>
            <a:ext cx="5925166" cy="6601968"/>
          </a:xfrm>
          <a:prstGeom prst="rect">
            <a:avLst/>
          </a:prstGeom>
          <a:solidFill>
            <a:srgbClr val="000000">
              <a:alpha val="3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Text 9"/>
          <p:cNvSpPr/>
          <p:nvPr/>
        </p:nvSpPr>
        <p:spPr>
          <a:xfrm>
            <a:off x="6339682" y="256032"/>
            <a:ext cx="56081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8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CHRONOLOGIE DER MACHTWENDE (313–529)</a:t>
            </a:r>
            <a:endParaRPr lang="en-US" sz="10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2834" y="704088"/>
            <a:ext cx="310896" cy="310896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6568282" y="101498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19" name="Text 11"/>
          <p:cNvSpPr/>
          <p:nvPr/>
        </p:nvSpPr>
        <p:spPr>
          <a:xfrm>
            <a:off x="6815170" y="67665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313 n. Chr.</a:t>
            </a:r>
            <a:endParaRPr lang="en-US" sz="1050" dirty="0"/>
          </a:p>
        </p:txBody>
      </p:sp>
      <p:sp>
        <p:nvSpPr>
          <p:cNvPr id="20" name="Text 12"/>
          <p:cNvSpPr/>
          <p:nvPr/>
        </p:nvSpPr>
        <p:spPr>
          <a:xfrm>
            <a:off x="8333074" y="67665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Mailand: Religionsfreiheit. Christen dürfen offen existieren.</a:t>
            </a:r>
            <a:endParaRPr lang="en-US" sz="110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412834" y="1572768"/>
            <a:ext cx="310896" cy="310896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6568282" y="1883664"/>
            <a:ext cx="0" cy="530352"/>
          </a:xfrm>
          <a:prstGeom prst="line">
            <a:avLst/>
          </a:prstGeom>
          <a:noFill/>
          <a:ln w="12700">
            <a:solidFill>
              <a:srgbClr val="6B4A0F"/>
            </a:solidFill>
            <a:prstDash val="dash"/>
          </a:ln>
        </p:spPr>
      </p:sp>
      <p:sp>
        <p:nvSpPr>
          <p:cNvPr id="23" name="Text 14"/>
          <p:cNvSpPr/>
          <p:nvPr/>
        </p:nvSpPr>
        <p:spPr>
          <a:xfrm>
            <a:off x="6815170" y="154533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321 n. Chr.</a:t>
            </a:r>
            <a:endParaRPr lang="en-US" sz="1050" dirty="0"/>
          </a:p>
        </p:txBody>
      </p:sp>
      <p:sp>
        <p:nvSpPr>
          <p:cNvPr id="24" name="Text 15"/>
          <p:cNvSpPr/>
          <p:nvPr/>
        </p:nvSpPr>
        <p:spPr>
          <a:xfrm>
            <a:off x="8333074" y="154533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Sonntag wird offizieller Ruhetag im Römischen Reich.</a:t>
            </a:r>
            <a:endParaRPr lang="en-US" sz="1100" dirty="0"/>
          </a:p>
        </p:txBody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412834" y="2441448"/>
            <a:ext cx="310896" cy="310896"/>
          </a:xfrm>
          <a:prstGeom prst="rect">
            <a:avLst/>
          </a:prstGeom>
        </p:spPr>
      </p:pic>
      <p:sp>
        <p:nvSpPr>
          <p:cNvPr id="26" name="Shape 16"/>
          <p:cNvSpPr/>
          <p:nvPr/>
        </p:nvSpPr>
        <p:spPr>
          <a:xfrm>
            <a:off x="6568282" y="275234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27" name="Text 17"/>
          <p:cNvSpPr/>
          <p:nvPr/>
        </p:nvSpPr>
        <p:spPr>
          <a:xfrm>
            <a:off x="6815170" y="241401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380 n. Chr.</a:t>
            </a:r>
            <a:endParaRPr lang="en-US" sz="1050" dirty="0"/>
          </a:p>
        </p:txBody>
      </p:sp>
      <p:sp>
        <p:nvSpPr>
          <p:cNvPr id="28" name="Text 18"/>
          <p:cNvSpPr/>
          <p:nvPr/>
        </p:nvSpPr>
        <p:spPr>
          <a:xfrm>
            <a:off x="8333074" y="241401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Theodosius: Christentum = Staatsreligion. Andere Kulte = Ketzerei.</a:t>
            </a:r>
            <a:endParaRPr lang="en-US" sz="1100" dirty="0"/>
          </a:p>
        </p:txBody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12834" y="3310128"/>
            <a:ext cx="310896" cy="310896"/>
          </a:xfrm>
          <a:prstGeom prst="rect">
            <a:avLst/>
          </a:prstGeom>
        </p:spPr>
      </p:pic>
      <p:sp>
        <p:nvSpPr>
          <p:cNvPr id="30" name="Shape 19"/>
          <p:cNvSpPr/>
          <p:nvPr/>
        </p:nvSpPr>
        <p:spPr>
          <a:xfrm>
            <a:off x="6568282" y="362102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1" name="Text 20"/>
          <p:cNvSpPr/>
          <p:nvPr/>
        </p:nvSpPr>
        <p:spPr>
          <a:xfrm>
            <a:off x="6815170" y="328269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391 n. Chr.</a:t>
            </a:r>
            <a:endParaRPr lang="en-US" sz="1050" dirty="0"/>
          </a:p>
        </p:txBody>
      </p:sp>
      <p:sp>
        <p:nvSpPr>
          <p:cNvPr id="32" name="Text 21"/>
          <p:cNvSpPr/>
          <p:nvPr/>
        </p:nvSpPr>
        <p:spPr>
          <a:xfrm>
            <a:off x="8333074" y="328269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Heidnische Kulte verboten. Opfer für andere Götter = Hochverrat.</a:t>
            </a:r>
            <a:endParaRPr lang="en-US" sz="1100" dirty="0"/>
          </a:p>
        </p:txBody>
      </p:sp>
      <p:pic>
        <p:nvPicPr>
          <p:cNvPr id="33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12834" y="4178808"/>
            <a:ext cx="310896" cy="310896"/>
          </a:xfrm>
          <a:prstGeom prst="rect">
            <a:avLst/>
          </a:prstGeom>
        </p:spPr>
      </p:pic>
      <p:sp>
        <p:nvSpPr>
          <p:cNvPr id="34" name="Shape 22"/>
          <p:cNvSpPr/>
          <p:nvPr/>
        </p:nvSpPr>
        <p:spPr>
          <a:xfrm>
            <a:off x="6568282" y="448970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5" name="Text 23"/>
          <p:cNvSpPr/>
          <p:nvPr/>
        </p:nvSpPr>
        <p:spPr>
          <a:xfrm>
            <a:off x="6815170" y="415137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393 n. Chr.</a:t>
            </a:r>
            <a:endParaRPr lang="en-US" sz="1050" dirty="0"/>
          </a:p>
        </p:txBody>
      </p:sp>
      <p:sp>
        <p:nvSpPr>
          <p:cNvPr id="36" name="Text 24"/>
          <p:cNvSpPr/>
          <p:nvPr/>
        </p:nvSpPr>
        <p:spPr>
          <a:xfrm>
            <a:off x="8333074" y="415137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Letzte antike Olympische Spiele. Zeus-gewidmet — daher verboten.</a:t>
            </a:r>
            <a:endParaRPr lang="en-US" sz="1100" dirty="0"/>
          </a:p>
        </p:txBody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412834" y="5047488"/>
            <a:ext cx="310896" cy="310896"/>
          </a:xfrm>
          <a:prstGeom prst="rect">
            <a:avLst/>
          </a:prstGeom>
        </p:spPr>
      </p:pic>
      <p:sp>
        <p:nvSpPr>
          <p:cNvPr id="38" name="Shape 25"/>
          <p:cNvSpPr/>
          <p:nvPr/>
        </p:nvSpPr>
        <p:spPr>
          <a:xfrm>
            <a:off x="6568282" y="5358384"/>
            <a:ext cx="0" cy="530352"/>
          </a:xfrm>
          <a:prstGeom prst="line">
            <a:avLst/>
          </a:prstGeom>
          <a:noFill/>
          <a:ln w="12700">
            <a:solidFill>
              <a:srgbClr val="8B3A10"/>
            </a:solidFill>
            <a:prstDash val="dash"/>
          </a:ln>
        </p:spPr>
      </p:sp>
      <p:sp>
        <p:nvSpPr>
          <p:cNvPr id="39" name="Text 26"/>
          <p:cNvSpPr/>
          <p:nvPr/>
        </p:nvSpPr>
        <p:spPr>
          <a:xfrm>
            <a:off x="6815170" y="502005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415 n. Chr.</a:t>
            </a:r>
            <a:endParaRPr lang="en-US" sz="1050" dirty="0"/>
          </a:p>
        </p:txBody>
      </p:sp>
      <p:sp>
        <p:nvSpPr>
          <p:cNvPr id="40" name="Text 27"/>
          <p:cNvSpPr/>
          <p:nvPr/>
        </p:nvSpPr>
        <p:spPr>
          <a:xfrm>
            <a:off x="8333074" y="502005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Hypatia, erste weibliche Philosophin, in Alexandria getötet.</a:t>
            </a:r>
            <a:endParaRPr lang="en-US" sz="11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12834" y="5916168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/>
          <p:nvPr/>
        </p:nvSpPr>
        <p:spPr>
          <a:xfrm>
            <a:off x="6815170" y="5888736"/>
            <a:ext cx="1463040" cy="256032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042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529 n. Chr.</a:t>
            </a:r>
            <a:endParaRPr lang="en-US" sz="1050" dirty="0"/>
          </a:p>
        </p:txBody>
      </p:sp>
      <p:sp>
        <p:nvSpPr>
          <p:cNvPr id="43" name="Text 29"/>
          <p:cNvSpPr/>
          <p:nvPr/>
        </p:nvSpPr>
        <p:spPr>
          <a:xfrm>
            <a:off x="8333074" y="5888736"/>
            <a:ext cx="3566014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7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Justinian schließt Platons Akademie. Ende der antiken Philosophie.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uwg_raesfeld_erle_website_repo/images_v3/great_wall_erb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6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6" name="Image 3" descr="preencoded.png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18408" y="228600"/>
            <a:ext cx="4754880" cy="246888"/>
          </a:xfrm>
          <a:prstGeom prst="rect">
            <a:avLst/>
          </a:prstGeom>
        </p:spPr>
      </p:pic>
      <p:pic>
        <p:nvPicPr>
          <p:cNvPr id="7" name="Image 4" descr="preencoded.png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4320" y="621792"/>
            <a:ext cx="11643055" cy="18288"/>
          </a:xfrm>
          <a:prstGeom prst="rect">
            <a:avLst/>
          </a:prstGeom>
        </p:spPr>
      </p:pic>
      <p:sp>
        <p:nvSpPr>
          <p:cNvPr id="8" name="Shape 1"/>
          <p:cNvSpPr/>
          <p:nvPr/>
        </p:nvSpPr>
        <p:spPr>
          <a:xfrm>
            <a:off x="274320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9" name="Shape 2"/>
          <p:cNvSpPr/>
          <p:nvPr/>
        </p:nvSpPr>
        <p:spPr>
          <a:xfrm>
            <a:off x="274320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0" name="Shape 3"/>
          <p:cNvSpPr/>
          <p:nvPr/>
        </p:nvSpPr>
        <p:spPr>
          <a:xfrm>
            <a:off x="274320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560538" y="786384"/>
            <a:ext cx="292608" cy="292608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329184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SONNTAG</a:t>
            </a:r>
            <a:endParaRPr lang="en-US" sz="950" dirty="0"/>
          </a:p>
        </p:txBody>
      </p:sp>
      <p:sp>
        <p:nvSpPr>
          <p:cNvPr id="13" name="Text 5"/>
          <p:cNvSpPr/>
          <p:nvPr/>
        </p:nvSpPr>
        <p:spPr>
          <a:xfrm>
            <a:off x="329184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Konstantin 321 n.Chr. — vorher normaler Arbeitstag</a:t>
            </a:r>
            <a:endParaRPr lang="en-US" sz="1000" dirty="0"/>
          </a:p>
        </p:txBody>
      </p:sp>
      <p:sp>
        <p:nvSpPr>
          <p:cNvPr id="14" name="Shape 6"/>
          <p:cNvSpPr/>
          <p:nvPr/>
        </p:nvSpPr>
        <p:spPr>
          <a:xfrm>
            <a:off x="3200629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3200629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16" name="Shape 8"/>
          <p:cNvSpPr/>
          <p:nvPr/>
        </p:nvSpPr>
        <p:spPr>
          <a:xfrm>
            <a:off x="3200629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17" name="Image 6" descr="preencoded.png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6846" y="786384"/>
            <a:ext cx="292608" cy="292608"/>
          </a:xfrm>
          <a:prstGeom prst="rect">
            <a:avLst/>
          </a:prstGeom>
        </p:spPr>
      </p:pic>
      <p:sp>
        <p:nvSpPr>
          <p:cNvPr id="18" name="Text 9"/>
          <p:cNvSpPr/>
          <p:nvPr/>
        </p:nvSpPr>
        <p:spPr>
          <a:xfrm>
            <a:off x="3255493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KRANKENHAUS</a:t>
            </a:r>
            <a:endParaRPr lang="en-US" sz="950" dirty="0"/>
          </a:p>
        </p:txBody>
      </p:sp>
      <p:sp>
        <p:nvSpPr>
          <p:cNvPr id="19" name="Text 10"/>
          <p:cNvSpPr/>
          <p:nvPr/>
        </p:nvSpPr>
        <p:spPr>
          <a:xfrm>
            <a:off x="3255493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Basilius von Cäsarea, ~370 n.Chr. — erste Klinik der Geschichte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6126937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21" name="Shape 12"/>
          <p:cNvSpPr/>
          <p:nvPr/>
        </p:nvSpPr>
        <p:spPr>
          <a:xfrm>
            <a:off x="6126937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2" name="Shape 13"/>
          <p:cNvSpPr/>
          <p:nvPr/>
        </p:nvSpPr>
        <p:spPr>
          <a:xfrm>
            <a:off x="6126937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413155" y="786384"/>
            <a:ext cx="292608" cy="292608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6181801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MENSCHENWÜRDE</a:t>
            </a:r>
            <a:endParaRPr lang="en-US" sz="950" dirty="0"/>
          </a:p>
        </p:txBody>
      </p:sp>
      <p:sp>
        <p:nvSpPr>
          <p:cNvPr id="25" name="Text 15"/>
          <p:cNvSpPr/>
          <p:nvPr/>
        </p:nvSpPr>
        <p:spPr>
          <a:xfrm>
            <a:off x="6181801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Paulus, Gal 3,28: "Weder Sklave noch Freier" — für alle</a:t>
            </a:r>
            <a:endParaRPr lang="en-US" sz="1000" dirty="0"/>
          </a:p>
        </p:txBody>
      </p:sp>
      <p:sp>
        <p:nvSpPr>
          <p:cNvPr id="26" name="Shape 16"/>
          <p:cNvSpPr/>
          <p:nvPr/>
        </p:nvSpPr>
        <p:spPr>
          <a:xfrm>
            <a:off x="9053246" y="713232"/>
            <a:ext cx="2865044" cy="1207008"/>
          </a:xfrm>
          <a:prstGeom prst="rect">
            <a:avLst/>
          </a:prstGeom>
          <a:solidFill>
            <a:srgbClr val="0F0B07">
              <a:alpha val="78000"/>
            </a:srgbClr>
          </a:solidFill>
          <a:ln w="10160">
            <a:solidFill>
              <a:srgbClr val="C8820A">
                <a:alpha val="40000"/>
              </a:srgbClr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9053246" y="713232"/>
            <a:ext cx="2865044" cy="18288"/>
          </a:xfrm>
          <a:prstGeom prst="rect">
            <a:avLst/>
          </a:prstGeom>
          <a:solidFill>
            <a:srgbClr val="C8820A">
              <a:alpha val="50000"/>
            </a:srgbClr>
          </a:solidFill>
          <a:ln/>
        </p:spPr>
      </p:sp>
      <p:sp>
        <p:nvSpPr>
          <p:cNvPr id="28" name="Shape 18"/>
          <p:cNvSpPr/>
          <p:nvPr/>
        </p:nvSpPr>
        <p:spPr>
          <a:xfrm>
            <a:off x="9053246" y="713232"/>
            <a:ext cx="2865044" cy="36576"/>
          </a:xfrm>
          <a:prstGeom prst="rect">
            <a:avLst/>
          </a:prstGeom>
          <a:solidFill>
            <a:srgbClr val="D9A441">
              <a:alpha val="70000"/>
            </a:srgbClr>
          </a:solidFill>
          <a:ln/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339464" y="786384"/>
            <a:ext cx="292608" cy="292608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9108110" y="1170432"/>
            <a:ext cx="27553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50" kern="0" dirty="0">
                <a:solidFill>
                  <a:srgbClr val="C882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KALENDER</a:t>
            </a:r>
            <a:endParaRPr lang="en-US" sz="950" dirty="0"/>
          </a:p>
        </p:txBody>
      </p:sp>
      <p:sp>
        <p:nvSpPr>
          <p:cNvPr id="31" name="Text 20"/>
          <p:cNvSpPr/>
          <p:nvPr/>
        </p:nvSpPr>
        <p:spPr>
          <a:xfrm>
            <a:off x="9108110" y="1426464"/>
            <a:ext cx="27553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C4A8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Chr. / n. Chr. — unser Zeitmaß, weltweit</a:t>
            </a:r>
            <a:endParaRPr lang="en-US" sz="10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74320" y="2011680"/>
            <a:ext cx="11643055" cy="1828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0" y="2139696"/>
            <a:ext cx="121916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6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ABSCHLUSSFRAGE —</a:t>
            </a:r>
            <a:endParaRPr lang="en-US" sz="1100" dirty="0"/>
          </a:p>
        </p:txBody>
      </p:sp>
      <p:sp>
        <p:nvSpPr>
          <p:cNvPr id="34" name="Shape 22"/>
          <p:cNvSpPr/>
          <p:nvPr/>
        </p:nvSpPr>
        <p:spPr>
          <a:xfrm>
            <a:off x="487668" y="2395728"/>
            <a:ext cx="11216360" cy="41148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731502" y="2487168"/>
            <a:ext cx="10728692" cy="2011680"/>
          </a:xfrm>
          <a:prstGeom prst="rect">
            <a:avLst/>
          </a:prstGeom>
          <a:noFill/>
          <a:ln/>
          <a:effectLst>
            <a:outerShdw sx="100000" sy="100000" kx="0" ky="0" algn="bl" rotWithShape="0" blurRad="355600" dist="50800" dir="16200000">
              <a:srgbClr val="C8820A">
                <a:alpha val="7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Wofür würdet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5EB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ihr heute sterben?</a:t>
            </a:r>
            <a:endParaRPr lang="en-US" sz="5000" dirty="0"/>
          </a:p>
        </p:txBody>
      </p:sp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3169841" y="4553712"/>
            <a:ext cx="5852014" cy="201168"/>
          </a:xfrm>
          <a:prstGeom prst="rect">
            <a:avLst/>
          </a:prstGeom>
        </p:spPr>
      </p:pic>
      <p:sp>
        <p:nvSpPr>
          <p:cNvPr id="37" name="Text 24"/>
          <p:cNvSpPr/>
          <p:nvPr/>
        </p:nvSpPr>
        <p:spPr>
          <a:xfrm>
            <a:off x="975336" y="4809744"/>
            <a:ext cx="10241024" cy="438912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50800" dir="16200000">
              <a:srgbClr val="000000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50" i="1" dirty="0">
                <a:solidFill>
                  <a:srgbClr val="C4A8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ersten Christen taten es — ohne Aussicht auf Belohnung in diesem Leben.</a:t>
            </a:r>
            <a:endParaRPr lang="en-US" sz="1550" dirty="0"/>
          </a:p>
        </p:txBody>
      </p:sp>
      <p:sp>
        <p:nvSpPr>
          <p:cNvPr id="38" name="Text 25"/>
          <p:cNvSpPr/>
          <p:nvPr/>
        </p:nvSpPr>
        <p:spPr>
          <a:xfrm>
            <a:off x="1219170" y="5285232"/>
            <a:ext cx="9753356" cy="384048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50800" dir="16200000">
              <a:srgbClr val="000000">
                <a:alpha val="65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 Idee, welcher Mensch, welcher Glaube wäre es euch wert?</a:t>
            </a:r>
            <a:endParaRPr lang="en-US" sz="1350" dirty="0"/>
          </a:p>
        </p:txBody>
      </p:sp>
      <p:sp>
        <p:nvSpPr>
          <p:cNvPr id="39" name="Text 26"/>
          <p:cNvSpPr/>
          <p:nvPr/>
        </p:nvSpPr>
        <p:spPr>
          <a:xfrm>
            <a:off x="1828754" y="5705856"/>
            <a:ext cx="8534187" cy="329184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50800" dir="16200000">
              <a:srgbClr val="000000">
                <a:alpha val="60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4A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Und wenn nichts — was sagt das über unsere Zeit?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0" y="6565392"/>
            <a:ext cx="121916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spc="300" kern="0" dirty="0">
                <a:solidFill>
                  <a:srgbClr val="6B4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SCHULPRÄSENTATION • OBERSTUFE •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Anfänge der Kirche in der Antike</dc:title>
  <dc:subject>Geschichte • Religion • Antike</dc:subject>
  <dc:creator>Schulpräsentation Oberstufe 2026</dc:creator>
  <cp:lastModifiedBy>Schulpräsentation Oberstufe 2026</cp:lastModifiedBy>
  <cp:revision>1</cp:revision>
  <dcterms:created xsi:type="dcterms:W3CDTF">2026-05-28T05:58:28Z</dcterms:created>
  <dcterms:modified xsi:type="dcterms:W3CDTF">2026-05-28T05:58:28Z</dcterms:modified>
</cp:coreProperties>
</file>